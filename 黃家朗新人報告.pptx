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91" r:id="rId14"/>
    <p:sldId id="292" r:id="rId15"/>
    <p:sldId id="272" r:id="rId16"/>
    <p:sldId id="273" r:id="rId17"/>
    <p:sldId id="274" r:id="rId18"/>
    <p:sldId id="275" r:id="rId19"/>
    <p:sldId id="276" r:id="rId20"/>
    <p:sldId id="279" r:id="rId21"/>
    <p:sldId id="281" r:id="rId22"/>
    <p:sldId id="282" r:id="rId23"/>
    <p:sldId id="287" r:id="rId24"/>
    <p:sldId id="297" r:id="rId37"/>
    <p:sldId id="296" r:id="rId36"/>
    <p:sldId id="289" r:id="rId29"/>
    <p:sldId id="29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152" autoAdjust="0"/>
  </p:normalViewPr>
  <p:slideViewPr>
    <p:cSldViewPr snapToGrid="0" snapToObjects="1">
      <p:cViewPr varScale="1">
        <p:scale>
          <a:sx n="105" d="100"/>
          <a:sy n="105" d="100"/>
        </p:scale>
        <p:origin x="7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8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各位主管、各位同事早安，我是創新研發部的產品工程師黃家朗。
今天要跟大家報告我到職這四個多月的工作內容與成果。
報告大概三十分鐘，中間如果有問題可以隨時打斷我，最後也會留 Q&amp;A 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今天分七個部分。
前面三段講我是誰、以及這四個多月我實際在做什麼；
第四段是重點，會花最多時間講工作成果，分成對外跟對內兩條線；
最後是心得、職涯規劃，還有幾個給公司的建議。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先簡單介紹我自己。
我是清華大學科技管理學院學士班畢業，主修管理跟經濟雙專長。
進程曦之前在台北數位廣告的產品企劃部擔任產品企劃專員。
我不是一畢業就做 AI 的，是工作幾年之後才轉進 AI 跟教育訓練這個領域。
這個轉職經驗對我現在的工作很有幫助，
因為我很知道一個沒有技術背景的上班族，第一次接觸 AI 工具的時候會卡在哪裡——
這剛好就是我現在在做的事：把 AI 工具教給不懂技術的人。
興趣的部分，我喜歡音樂、攝影、旅行，也會主持 TRPG 跟寫遊戲劇本。
最後一行想特別提一下：我在工作以外參與一個粉絲團體的營運，
在那裡我一樣是用 AI 在解決問題——用 AI 輔助數據分析寫市場洞察報告，
也建了客製化的術語庫來做字幕翻譯校對。
我講這個是想說明，用 AI 解決問題對我來說不是工作要求，是習慣。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這是我的工作歷程，四個節點。
2020 年我在攸你資訊當共同創辦人，負責一個叫 UniLife 的 APP，
從功能設計到使用者旅程都是我做的，帶五個人的團隊，
產品拿過 Appworks 加速器的投資，也入選教育部的 U-start。
2024 年五月我回攸你資訊，職稱變成 AI 提示工程師——
這是我第一次專職做 AI，用 Custom GPTs 幫同事做內部工具。
2024 年十月到台北數位廣告當產品企劃專員，
主要做前沿 AI 工具的調研跟內部培訓，測評過十幾款工具。
今年四月十號到職程曦，到今天大概四個多月。
各位可以看到這條線的方向：做產品、做 AI 工具、做 AI 培訓，
到現在對外做課程、對內做系統，兩件事同時做。
我現在的工作不是轉行，是這條線的延續。
下面這句是我當初應徵程曦時寫在履歷上的：
我想成為連結業務需求與工程開發的 AI 實踐者，
為下一個十年的「辦公室 AI 化」做準備。
這也是我這四個多月一直在做的事。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這是我給自己的五個特質。
我沒有用比例圖，因為我覺得給個性打百分比沒什麼意義，
所以每一個特質我都直接配一件我真的做過的事。
解決力：看到問題我的反應不是回報給主管就結束，是直接把工具做出來。
自學力：那些系統用到的東西有很多我原本不會，我是靠 AI 工具邊做邊學做完的。
到目前為止我摸過的生成式 AI 工具超過十款，現在還在自學 n8n 跟 Claude Skills。
換位思考：等一下講的 PRD 機器人，核心就是先搞懂對方要什麼。
系統思維跟交付到底，後面的成果會自己說明，這裡先不展開。
（如果被問到「這些是不是第一次做」，可以補：
在攸你資訊我就在訪談每位同事的工作流程、畫流程圖，
然後為他們客製指令集——PRD 機器人其實是把這件事自動化。
在台北數位我導入過 Notion 建自動化工作流，
把跨部門溝通耗時降了 35%，那跟神秘客系統是同一種思路。）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公司精神是「愛、新、勤、誠」，
合起來就是那句話：勤勞地用創新的方式，誠懇地愛人。
我不想只是把這四個字唸過去，所以下一頁我整理了這幾個月裡，
我自己覺得有實際對應到這四個字的四件事。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「新」的部分，神秘客系統我是全程用 replit 這類 AI 工具開發的，
這在部門裡算是比較新的做法。
「勤」的部分，我認為真正的勤勞不是每個月都認真重做一次，
而是想辦法讓它只需要做一次——這也是那套系統的核心。
「愛」的部分，我想講 PRD 機器人。
它不是替人把文件寫掉，是用反問幫人把自己的想法講清楚。
我覺得這個差別滿重要的，替人做跟幫人想是兩件事。
最後「誠」，等一下我會報一個效益數字，
我要先說那是我自己的推估，不是實測出來的，我會誠實標註清楚。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這四個多月我把它分成三個階段。
第一個月是熟悉期，主要是搞懂公司在做什麼、我們部門的產品線長什麼樣子，
同時就開始投入對外課程的教材製作。
第二到第三個月是產出期，教材開始有成品，我也開始上台試教。
第四個月到現在是落地期，重心轉到對內，
神秘客系統從需求訪談一路做到上線，PRD 機器人也在這段時間開發完成、
進入跨部門測試。
這三段有一個共同點：都是在做「把 AI 變成別人真的用得到的東西」。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接下來進入重點，工作成果。
先說明一下編排：這一章我是依「性質」分類，不是依時間順序——
先講對外的四門課，再講對內的兩套系統。
實際的時間順序是對內系統做得比較早，剛才那一頁有寫。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對外這條線總共四門課，我在裡面有兩種角色。
第一、二門是我負責寫教材，從課程架構、內容到範例都是我做的。
第三、四門教材是同事寫的，我負責上台講。
這裡我要先把狀態講清楚，避免誤會：
這四門課目前都只完成了內部試教，還沒有對外開課，
教材也還在持續修正，還沒有定稿。
下一頁之後講的內容，都是在這個前提下。
我覺得這個組合對新人來說滿好的——
寫教材讓我必須把一個主題徹底搞懂才寫得出來，
上台試教則讓我馬上知道學員會在哪裡卡住。這兩件事是互相回饋的。
另外補充一下，這不是我第一次做 AI 培訓。
我在台北數位廣告的時候就在策劃 AI 工具選用的內部課程，
做過主流 AGI 工具的對比分析，也教過 Lovable 這類 prompt-driven 的開發工具。
所以四門課的教材我不是從零摸索，是把做過的方法帶過來用。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第二門是 AI 圖片生成課，一樣是我寫教材。
這門課最難處理的地方是，圖片生成的結果不穩定，
同樣一句提示詞，這次跟下次出來的東西可能差很多。
所以我在教材裡花了不少篇幅在講「怎麼描述」跟「怎麼修正」，
而不是只給一堆可以複製貼上的提示詞範本——
因為範本會過期，方法不會。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81AF-3E88-73A9-5C6F-53E351BA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F6354-D611-62D5-6483-3BCEE7F8F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8E08B-2E19-FD5E-A276-C4ABE8803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35B70-E91E-0DA1-909E-559AD751A6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676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42140-1D1B-F97A-E505-87D843F3C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0459B-4A05-A173-51FF-B734F76A1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3F3F0-618B-4966-2605-FB33F867A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F312A-0CE3-A373-F05B-2BC0B0AFD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第四門是 AI 輔助 vibe-coding 程式開發。
這門課我負責現場教學、案例講解跟簡報內容製作。
主題是零基礎的人怎麼用 GPT 這類線上大語言模型，開發網頁的前後端。
規模是四門課裡最大的：預計十六小時，教材四百多頁，
涵蓋 Codex、Claude Code、VS Code、GitHub 這些工具的混合實戰操作。
左邊這張是教材裡的一個實際案例，比較地端跟雲端架構的差異——
因為學員要真的把東西部署出去，這一段不能跳過。
這門課對我個人的意義，等一下講困難的時候會提到：
我自己開發神秘客系統跟 PRD 機器人，用的就是這套方法。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852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接下來是對內這條線。
這裡有兩套完整的系統，還有一些零星的支援，我一個一個講。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先說明業務背景，因為不是每個部門都熟悉這件事。
程曦是承接客服外包的公司，所以服務品質必須被檢核。
做法是各個專案組之間每個月隨機互相打電話，
用腳本上的常見問題去問對方，
檢驗接聽的同仁有沒有用符合禮儀、符合標準起手台詞的方式，說出正確的答案。
這種電話我們叫做神秘客訪問電話。
打完之後，各組要寫抽查成果跟分數交給主管，
主管再彙整出報表、還有未達滿分的經緯報告，
然後把分數向下發給各專案組、向上呈報給高級主管。
這整套流程是每個月都要跑一次的。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這套流程原本是這樣跑的。
第一，資料是散的。做同一件事，要開五份甚至更多份的 Excel 表單。
第二，每個月都要重來一次。每到月底就要重開所有報表，
還要重新設定一份 Google 表單發給大家填。
第三，收回來之後要手動算分數，
然後一直複製貼上到要給不同對象的 Excel 裡面——
給專案組一份、給主管一份、給高級主管又一份。
這裡面最花時間的其實不是判斷，是搬資料。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我的解法核心只有一句話：東西都放在同一個後台，用權限決定誰看得到什麼。
這樣做的好處是，資料不需要再搬移了。
過去要複製貼上到三份不同的 Excel，是因為三個對象要看不同的東西；
現在資料只有一份，我只要針對不同對象改變「顯示的內容」就好。
而且這個設定不是每個月都要改，是設定一次就一直適用，
直到當事人轉職或離職才需要動。
開發的部分，我是全程用 replit 這類 AI 工具做的。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權限的部分，我依照會涉及神秘客電訪的人的層級，分成三種等級，
不同的登入帳號會開放不同的功能。
這件事聽起來只是技術設定，但它其實是整套系統能成立的關鍵。
因為過去要拆成好幾份 Excel，本來就是為了讓不同的人看到不同的東西；
如果我只是把五份表單合成一份而沒有權限控制，那反而會出事。
所以是先有權限分層，才有辦法把資料集中。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這頁是前後對比，我覺得最能說明這套系統的價值。
左邊是舊流程，右邊是現在。
各位可以看到，改變的重點不是把工作做得更快，
而是把「每個月都要重做一次」的工作，變成「設定一次就好」。
尤其最下面那一列，人事異動——
過去有人離職，那些表單就要重新整理一次；
現在管理者自己在後台移轉就結束了。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接下來是第二套系統，PRD 機器人。
它要解決的問題是：想法很抽象，但開發需要規格。
從「我想做一個什麼」到一份能真正動工的 PRD，中間那一段是最卡的。
過去這件事怎麼做？靠有經驗的人一次次開會追問，
或是新人自己對著一份空白文件硬寫。
前者很花時間，後者品質完全看人。
我的解法是做一個會反問的機器人。
你丟一個抽象的概念進去，它產出一份 PRD 初稿跟技術文件。
其實這件事跟神秘客系統是同一個主題：
把原本「靠人」的流程，變成「靠系統」也做得到。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講一下它怎麼運作，關鍵在「反問」這兩個字。
一般的文件工具是你先把需求寫好，它幫你排版整理；
這個是反過來的——你只要有一個模糊的想法就可以開始。
它會大量反問，你回答、它再問，一路把你沒想到的地方問出來，
問到夠了，再收斂成一份 PRD 初稿跟技術文件。
為什麼這樣有效？
因為我發現使用者常常不是不願意寫，是不知道該寫什麼。
面對一份空白文件很痛苦，但回答問題容易多了。
這個設計其實也回到我前面講的換位思考——
我沒有假設使用者應該要會寫規格，而是設計成他不會也沒關係。
補充一件事：這個「反問」的做法不是我憑空想的。
我在攸你資訊當 AI 提示工程師的時候，
工作就是一個一個去訪談同事的工作流程、畫成流程圖，
再為每個人客製他專用的指令集。
那時候是我用人力在做這件事，一次只能服務一個人。
PRD 機器人等於是把當年那套訪談流程自動化，
讓它可以同時服務很多人，而且不需要我在場。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接下來這一章，我用 4F 的架構回顧這四個多月。
Facts 是實際發生了什麼，Feelings 是過程中的感受，
Findings 是我從中發現了什麼，Future 是接下來要怎麼做。
先說結論：這四個多月最大的意義，是我第一次完整走完從需求到上線的流程。
前面講的都是「做到了什麼」，這一章我想講的是「我自己變成什麼樣子」。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最後是給公司的三個建議，主題是新人入職跟知識傳承。
第一個，新人報告的目標建議由主管跟新人一起確認。
我理解目前的十二週目標表是為了讓新人有依循，
但它是所有新人共用的版本，跟實際派的工作常常會有落差。
我的建議是到職第一週由主管跟新人一起確認個人化的目標，中間再對一次，
這樣新人會更清楚自己被期待什麼。
第二個，建議各部門列一份自己每月重複作業的清單。
神秘客這套流程本來不在任何待辦清單上，老實說是碰巧發現的。
如果有這樣一份清單，我們部門就可以有系統地評估哪些該先做，而不是等人來說。
這個做法我在前公司實際跑過——
我在台北數位廣告導入 Notion 的時候，就是先盤點各部門重複的作業，
再依需求建自動化工作流，最後把跨部門溝通耗時降了大約 35%。
所以這不是我隨口提的想法，是驗證過會有效的做法。
第三個，內部工具做完之後要有交接跟維護機制。
我自己做完這兩套系統之後最擔心的就是這件事——
系統上線只是開始，如果沒有指定的維護窗口跟使用說明，
它遲早會變成只有我看得懂的黑箱。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以上就是我這四個多月的報告，謝謝各位的聆聽。
有任何問題都歡迎提出。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 Facts，就是實際發生的事。
神秘客評分系統，把原本散在五份以上 Excel 的流程整併進單一後台，
完成三層權限、評分、報表匯出、檢討與申覆、帳號移轉這些機制，已經正式上線在用。
PRD 機器人用大量反問把模糊想法收斂成 PRD 初稿跟技術文件，
現在大約十位跨部門同事在測試。
對外四門 AI 應用課，我寫了兩門教材、講了兩門，都完成內部試教。
但我覺得比這些條列更重要的是最後一行：
這是我第一次完整走完需求訪談、開發、版本協作、排錯、驗證，到正式交付。
（Feelings 這段請放慢講，這是全篇唯一講感受的地方）
Feelings 的部分我想誠實說。
一開始最強烈的感受是失控感——東西能跑，但不是我掌控的。
我看得出 AI 給的結果很差，卻講不出為什麼差；
改不動就只能反覆重新生成，說白了是在碰運氣。
功能會動，但我說不出它為什麼會動，那種感覺其實不太好。
轉折點是我不再只想著把眼前的錯誤修掉，
而是回頭去補模型本身的原理。
當我能說出「是這一段描述不夠具體」，而不是「感覺怪怪的」，
主導權才回到我手上。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Findings 我整理成三個。
第一，交付不等於寫完功能。
還包含需求釐清、版本協作、環境設定、問題排查，以及對最終結果負責。
第二，用 AI 的門檻不是會不會下指令，是能不能判斷它給的東西對不對。
這個發現後來直接變成我教材的核心——
AI 圖片生成課我刻意不給一堆可以複製的提示詞範本，只教怎麼描述、怎麼修正。
因為範本會過期，方法不會。
第三，需求文件是結果，不是起點。
神秘客的申覆功能不在任何一份文件上，是我走過整個流程才發現非做不可的。
如果我只照文件做，那個功能就不會存在。
右邊 Future 是我接下來的規劃。
半年內，把兩套系統從「能用」推到「穩定」——權限、資料、錯誤處理、維運；
對外課程開賣之後擔任主力講師，並且把教材推到定稿。
一年內，希望能獨立負責一條完整的產品線，從題目發想、需求訪談到上線維運。
三到五年，成為能同時掌握對外課程產品跟對內系統落地的產品負責人，
讓 AI 導入在公司裡變成可複製的標準做法。
最後這句話是我對下一階段的定位：
下一階段，我要把個人的解題經驗，沉澱成團隊可以複製的產品交付方式。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　｜　到職日 2026.04.10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1B74EDA-D121-4361-8E8B-275236126FED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fld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98448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我是誰、從哪裡來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公司精神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愛、新、勤、誠與我的實踐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這四個多月實際在做什麼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4928616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8448" y="5312664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對外四門課｜對內兩套系統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324448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2816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學習心得與展望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82816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4F 回顧：事實・感受・發現・未來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24448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324448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82816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2816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新人入職與知識傳承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5703702-E623-4DEA-A7D6-FA8E0BEF01D3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fld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3200" dirty="0"/>
          </a:p>
        </p:txBody>
      </p:sp>
      <p:pic>
        <p:nvPicPr>
          <p:cNvPr id="4" name="Image 0" descr="/home/user/freshman-report/report/assets/profi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70671" y="1874520"/>
            <a:ext cx="2980944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3"/>
          <p:cNvSpPr/>
          <p:nvPr/>
        </p:nvSpPr>
        <p:spPr>
          <a:xfrm>
            <a:off x="932688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學歷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32688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國立清華大學 科技管理學院學士班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管理＋經濟雙專長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2018.09 – 2023.06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82516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4875124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到職前經歷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875124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產品企劃部｜產品企劃專員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 – 2026.03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932688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現職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32688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 –</a:t>
            </a:r>
            <a:r>
              <a:rPr lang="zh-TW" alt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今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82516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2"/>
          <p:cNvSpPr/>
          <p:nvPr/>
        </p:nvSpPr>
        <p:spPr>
          <a:xfrm>
            <a:off x="4875124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興趣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75124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音樂（龐克搖滾／重金屬）、攝影、旅行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TRPG 主持與劇本創作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工作之外也用 AI 做數據分析與翻譯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F05E947-076C-47F6-BF5E-DCB69AF1B1D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fld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工作歷程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2816352"/>
            <a:ext cx="10271455" cy="41148"/>
          </a:xfrm>
          <a:prstGeom prst="rect">
            <a:avLst/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857718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2020.05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共同創辦人／PM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APP 產品從 0 到 1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領導 5 人團隊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85602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367964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2024.05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67964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59404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PM／AI 提示工程師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59404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Custom GPTs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做內部工具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3486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095848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5848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87288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產品企劃專員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87288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工具調研</a:t>
            </a:r>
            <a:endParaRPr lang="en-US" sz="11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與內部培訓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41369" y="2688336"/>
            <a:ext cx="301752" cy="301752"/>
          </a:xfrm>
          <a:prstGeom prst="ellipse">
            <a:avLst/>
          </a:prstGeom>
          <a:solidFill>
            <a:srgbClr val="D95F2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8823731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23731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171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 產品工程師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15171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altLang="zh-TW" sz="1150" b="1" dirty="0"/>
              <a:t>AI</a:t>
            </a:r>
            <a:r>
              <a:rPr lang="zh-TW" altLang="en-US" sz="1150" b="1" dirty="0"/>
              <a:t> 課程教材設計與主講</a:t>
            </a:r>
            <a:endParaRPr lang="en-US" altLang="zh-TW" sz="1150" b="1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zh-TW" altLang="en-US" sz="1150" b="1" dirty="0"/>
              <a:t>內部工作流賦能優化</a:t>
            </a:r>
            <a:endParaRPr lang="en-US" sz="1150" b="1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10911535" cy="713232"/>
          </a:xfrm>
          <a:prstGeom prst="roundRect">
            <a:avLst>
              <a:gd name="adj" fmla="val 10256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轉職動機：成為連結業務需求與工程開發的 AI 實踐者，為下一個十年的「辦公室 AI 化」做準備。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1CA1D35-7E78-4164-AD9A-1D3D065C260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fld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個人特質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解決力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不只回報問題，直接把工具做出來。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0" y="1828800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神秘客系統：把五份以上 Excel 整併成單一後台。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914400" y="26700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自學力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26700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沒學過的東西，用 AI 工具邊做邊學做完。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0" y="2670048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replit 開發整套神秘客系統。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51129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換位思考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35112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先搞懂對方要什麼，再動手。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40880" y="3511296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機器人：用大量反問把抽象概念逼成規格。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35254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系統思維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3525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看見五份 Excel 背後其實是同一件事。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040880" y="4352544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先做權限分層，資料才有辦法集中。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914400" y="519379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交付到底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06040" y="51937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做到有人真的在用，不是 demo。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40880" y="5193792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神秘客已上線；PRD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</a:t>
            </a:r>
            <a:r>
              <a:rPr lang="en-US" sz="1250" dirty="0" err="1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機器人測試</a:t>
            </a:r>
            <a:r>
              <a:rPr lang="zh-TW" alt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</a:t>
            </a: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3D1D3DD-5235-4AFD-BEA9-750C842C3D1A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fld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愛自己、愛同事、愛家人</a:t>
            </a:r>
            <a:endParaRPr lang="en-US" sz="12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愛客戶、愛公司、愛競爭對手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026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345026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5142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求新、創新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044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26044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6160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勤勞、勤儉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70619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070619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271787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誠實、忠誠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勤勞地用創新的方式，誠懇地愛人。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B8443D6-2126-4C7B-B2A4-F9314A240B37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fld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我的實踐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6589624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589624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696048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積極接下不同領域的挑戰工作</a:t>
            </a:r>
            <a:endParaRPr lang="en-US" sz="14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385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951281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951281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057705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下班後保持每日閱讀紙本書的習慣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385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951281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51281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057705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組成「韭菜吃飯小隊」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陪孤寡興煜外出吃午餐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6589624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589624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696048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誠實彙報任務進度不灌水，做好小螺絲釘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D317919-69B4-4465-AECC-ABCC5CAF61E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fld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212945"/>
              </p:ext>
            </p:extLst>
          </p:nvPr>
        </p:nvGraphicFramePr>
        <p:xfrm>
          <a:off x="640080" y="1920240"/>
          <a:ext cx="10911535" cy="3474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階段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期間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主軸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具體工作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一、熟悉與投入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1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熟悉公司業務與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解題小組職責</a:t>
                      </a:r>
                      <a:endParaRPr lang="en-US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教育訓練產品線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參與解題，交流 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應用思路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協助履歷分析、數字人面試官等專案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主責神秘客評分系統專案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二、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開發與</a:t>
                      </a:r>
                      <a:r>
                        <a:rPr lang="en-US" sz="1250" b="1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2～3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對內流程數位化，從需求訪談到系統上線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評分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開發並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正式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上線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使用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PRD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機器人開發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持續迭代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三、</a:t>
                      </a:r>
                      <a:r>
                        <a:rPr lang="zh-TW" alt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教學與講授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4 個月至今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r>
                        <a:rPr lang="zh-TW" alt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設計、教材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產出與內部試教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門課教材撰寫；擔任</a:t>
                      </a:r>
                      <a:r>
                        <a:rPr lang="en-US" altLang="zh-TW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 2 </a:t>
                      </a:r>
                      <a:r>
                        <a:rPr lang="en-US" altLang="zh-TW" sz="1250" dirty="0" err="1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門課講師並完成內部試教</a:t>
                      </a:r>
                      <a:endParaRPr lang="en-US" altLang="zh-TW" sz="1250" dirty="0">
                        <a:solidFill>
                          <a:srgbClr val="2B2D5C"/>
                        </a:solidFill>
                        <a:latin typeface="微軟正黑體" pitchFamily="34" charset="0"/>
                        <a:ea typeface="微軟正黑體" pitchFamily="34" charset="-122"/>
                        <a:cs typeface="微軟正黑體" pitchFamily="34" charset="-12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擔任八月底的微醺 </a:t>
                      </a:r>
                      <a:r>
                        <a:rPr lang="en-US" altLang="zh-TW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70% </a:t>
                      </a:r>
                      <a:r>
                        <a:rPr lang="zh-TW" altLang="en-US" sz="1250" dirty="0">
                          <a:latin typeface="微軟正黑體" charset="0"/>
                          <a:ea typeface="微軟正黑體" charset="0"/>
                          <a:cs typeface="微軟正黑體" charset="0"/>
                        </a:rPr>
                        <a:t>講師</a:t>
                      </a:r>
                      <a:endParaRPr lang="en-US" altLang="zh-TW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三段的共同點：都是在做「把 AI </a:t>
            </a:r>
            <a:r>
              <a:rPr lang="zh-TW" alt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的知識變現，成為</a:t>
            </a:r>
            <a:r>
              <a:rPr lang="en-US" sz="15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別人真的用得到的東西</a:t>
            </a: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89B06CE-CE99-4FEE-AA49-ECA2EBD05D94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fld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CAFD515-2BC9-4234-81AD-5FE68C21B3F9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</a:t>
            </a:fld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對外線：四門 AI 應用課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29184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3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我的角色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目前狀態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AI 時代的商業企劃思維與簡報製作工具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AI 圖片生成課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AI 輔助 UI/UX 與原型設計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AI 輔助 vibe-coding 程式開發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四門課皆已完成內部試教，尚未對外開課；教材依講師風格持續修正中，尚未定稿。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寫教材要把主題徹底搞懂才寫得出來；上台試教才知道學員會卡在哪裡——這兩件事互相回饋。　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3825F19-CD1E-4D1A-96A8-4C56DEDC94EB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fld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教材撰寫①　AI 時代的商業企劃思維與簡報製作工具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輔助商業企劃的思考流程，並產出簡報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434839"/>
            <a:ext cx="4045131" cy="1042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153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3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款創業工具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款簡報製作工具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10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款不同案例數</a:t>
            </a:r>
            <a:endParaRPr lang="en-US" altLang="zh-TW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173EF71-9D84-4780-BF70-1210E5CA620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fld>
            <a:endParaRPr lang="en-US" sz="1100" dirty="0"/>
          </a:p>
        </p:txBody>
      </p:sp>
      <p:pic>
        <p:nvPicPr>
          <p:cNvPr id="17" name="圖片 16" descr="The image appears to be a webpage or document layout for a travel itinerary, specifically a 5-night trip in Saga Prefecture, Japan, featuring various locations and activities such as temples, hot springs, and dining experiences.&#10;&#10;AI 產生的內容可能不正確。">
            <a:extLst>
              <a:ext uri="{FF2B5EF4-FFF2-40B4-BE49-F238E27FC236}">
                <a16:creationId xmlns:a16="http://schemas.microsoft.com/office/drawing/2014/main" id="{93A179FF-F9D4-B97E-1E35-063F142A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28" y="1645920"/>
            <a:ext cx="7152967" cy="40094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教材撰寫②　AI 圖片生成課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圖片生成的原理、提示詞撰寫與實務應用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4434839"/>
            <a:ext cx="5013655" cy="98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219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5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款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AI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生圖工具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+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40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個以上的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prompt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模板與範例</a:t>
            </a:r>
            <a:endParaRPr lang="en-US" altLang="zh-TW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5526895"/>
            <a:ext cx="5013655" cy="1051560"/>
          </a:xfrm>
          <a:prstGeom prst="roundRect">
            <a:avLst>
              <a:gd name="adj" fmla="val 6957"/>
            </a:avLst>
          </a:prstGeom>
          <a:solidFill>
            <a:srgbClr val="D6D9F0"/>
          </a:solidFill>
          <a:ln/>
        </p:spPr>
        <p:txBody>
          <a:bodyPr wrap="square" lIns="127000" tIns="177800" rIns="177800" bIns="12700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圖片生成結果不穩定，所以教材重點放在「怎麼描述」與「怎麼修正」，而不是給一堆可複製的提示詞——範本會過期，方法不會。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E6AEB-D3F4-438D-8F0C-AFC5F5C56CC4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fld>
            <a:endParaRPr lang="en-US" sz="1100" dirty="0"/>
          </a:p>
        </p:txBody>
      </p:sp>
      <p:pic>
        <p:nvPicPr>
          <p:cNvPr id="17" name="圖片 16" descr="A stylish young woman in casual chic outfit, taking a selfie with a coffee in hand, in a modern cafￃﾩ with soft natural lighting and high-resolution, balanced composition.&#10;&#10;AI 產生的內容可能不正確。">
            <a:extLst>
              <a:ext uri="{FF2B5EF4-FFF2-40B4-BE49-F238E27FC236}">
                <a16:creationId xmlns:a16="http://schemas.microsoft.com/office/drawing/2014/main" id="{29F75808-1AEF-073C-4956-D6F32B46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90802"/>
            <a:ext cx="5386251" cy="30273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3D37-1845-7E6E-9B4E-E192D5848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E09F49-B741-3322-14F1-0B369202C165}"/>
              </a:ext>
            </a:extLst>
          </p:cNvPr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6FF1E2-D82A-E7E3-2548-FA6A5ECFED6D}"/>
              </a:ext>
            </a:extLst>
          </p:cNvPr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課程講授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③ 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　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AI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UI/UX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與原型設計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AA266-6D1E-09B3-341E-D7BB4F337105}"/>
              </a:ext>
            </a:extLst>
          </p:cNvPr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9AB741-ADA7-2075-C016-44A451BB401A}"/>
              </a:ext>
            </a:extLst>
          </p:cNvPr>
          <p:cNvSpPr/>
          <p:nvPr/>
        </p:nvSpPr>
        <p:spPr>
          <a:xfrm>
            <a:off x="640080" y="2240280"/>
            <a:ext cx="38448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現場教學、案例講解</a:t>
            </a:r>
            <a:endParaRPr lang="en-US" sz="14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4A2471C-3EA3-81BA-16DB-79366DFB9E94}"/>
              </a:ext>
            </a:extLst>
          </p:cNvPr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7F9B745-0555-3F23-A957-375749B3B9D2}"/>
              </a:ext>
            </a:extLst>
          </p:cNvPr>
          <p:cNvSpPr/>
          <p:nvPr/>
        </p:nvSpPr>
        <p:spPr>
          <a:xfrm>
            <a:off x="640080" y="2971800"/>
            <a:ext cx="38448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</a:t>
            </a:r>
            <a:r>
              <a:rPr lang="en-US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UI/UX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設計流程的產能加速</a:t>
            </a:r>
            <a:endParaRPr lang="en-US" sz="14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44047A-0FF4-9D10-AEF1-AC0CCED91158}"/>
              </a:ext>
            </a:extLst>
          </p:cNvPr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DC0201F-C04B-4527-C06C-940EBEDB3385}"/>
              </a:ext>
            </a:extLst>
          </p:cNvPr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111FD5C-AD13-1ECD-4D96-E9AFDB63BBAC}"/>
              </a:ext>
            </a:extLst>
          </p:cNvPr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7FD21ED-815E-F005-1CEF-7CE913A676CB}"/>
              </a:ext>
            </a:extLst>
          </p:cNvPr>
          <p:cNvSpPr/>
          <p:nvPr/>
        </p:nvSpPr>
        <p:spPr>
          <a:xfrm>
            <a:off x="640080" y="4434839"/>
            <a:ext cx="4045131" cy="1042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100+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包含基礎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UI/UX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設計教學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&amp;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Figma Make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演練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30096CD-B829-D051-1A89-8D26D8F85BB5}"/>
              </a:ext>
            </a:extLst>
          </p:cNvPr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D894148-126C-457B-BA54-C5CEF0754B93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fld>
            <a:endParaRPr lang="en-US" sz="1100" dirty="0"/>
          </a:p>
        </p:txBody>
      </p:sp>
      <p:pic>
        <p:nvPicPr>
          <p:cNvPr id="13" name="圖片 12" descr="UX&#10;&#10;AI 產生的內容可能不正確。">
            <a:extLst>
              <a:ext uri="{FF2B5EF4-FFF2-40B4-BE49-F238E27FC236}">
                <a16:creationId xmlns:a16="http://schemas.microsoft.com/office/drawing/2014/main" id="{078D3209-BFCC-CED9-0867-6FB2AD7DE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262" y="1755648"/>
            <a:ext cx="6887233" cy="383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823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B128-DAE4-0760-9A2E-57707206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10B1296-A380-6E80-1FD1-76E77CD679C9}"/>
              </a:ext>
            </a:extLst>
          </p:cNvPr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1F7695-5CAE-BB52-8D84-32A183A4DBE6}"/>
              </a:ext>
            </a:extLst>
          </p:cNvPr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④ 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　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AI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輔助</a:t>
            </a:r>
            <a:r>
              <a:rPr lang="en-US" altLang="zh-TW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vibe-coding </a:t>
            </a:r>
            <a:r>
              <a:rPr lang="en-US" altLang="zh-TW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程式開發</a:t>
            </a:r>
            <a:endParaRPr lang="en-US" sz="3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C2319D1-E62B-C63C-8177-D9419045ACA4}"/>
              </a:ext>
            </a:extLst>
          </p:cNvPr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54726E4-DDCB-B052-4F20-9CD653EBA945}"/>
              </a:ext>
            </a:extLst>
          </p:cNvPr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現場教學、案例講解、簡報內容製作</a:t>
            </a:r>
            <a:endParaRPr lang="en-US" altLang="zh-TW" sz="14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55E71A-5D3C-FA95-045B-A396BE2DA8BF}"/>
              </a:ext>
            </a:extLst>
          </p:cNvPr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5DECE4-86D6-BDD7-1289-4915B9BD2D67}"/>
              </a:ext>
            </a:extLst>
          </p:cNvPr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零基礎如何使用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GPT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等線上大語言模型開發網頁前後端</a:t>
            </a:r>
            <a:endParaRPr lang="en-US" sz="14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4E79C0D-4EFE-0782-00EB-743C2CDE06A2}"/>
              </a:ext>
            </a:extLst>
          </p:cNvPr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117B084-3A63-9845-779B-AA261C6EF2CE}"/>
              </a:ext>
            </a:extLst>
          </p:cNvPr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要開設鍋貼店作為期末成發的學生們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CDB3CE6-E817-B72D-208D-BA33D039F244}"/>
              </a:ext>
            </a:extLst>
          </p:cNvPr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98014B6-59A6-DF67-BEE3-023DC19E82F2}"/>
              </a:ext>
            </a:extLst>
          </p:cNvPr>
          <p:cNvSpPr/>
          <p:nvPr/>
        </p:nvSpPr>
        <p:spPr>
          <a:xfrm>
            <a:off x="6537960" y="4434839"/>
            <a:ext cx="5013655" cy="98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預計教學時數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小時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  <a:cs typeface="微軟正黑體" pitchFamily="34" charset="-120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教材頁數共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400+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頁</a:t>
            </a:r>
            <a:endParaRPr lang="en-US" altLang="zh-TW" sz="1450" dirty="0">
              <a:solidFill>
                <a:srgbClr val="2B2D5C"/>
              </a:solidFill>
              <a:latin typeface="微軟正黑體" pitchFamily="34" charset="0"/>
              <a:ea typeface="微軟正黑體" pitchFamily="34" charset="-122"/>
            </a:endParaRPr>
          </a:p>
          <a:p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包含 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Codex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Claude code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vscode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、</a:t>
            </a:r>
            <a:r>
              <a:rPr lang="en-US" altLang="zh-TW" sz="1450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github</a:t>
            </a:r>
            <a:r>
              <a:rPr lang="en-US" altLang="zh-TW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 </a:t>
            </a:r>
            <a:r>
              <a:rPr lang="zh-TW" alt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等多工具混合實戰操作</a:t>
            </a:r>
            <a:endParaRPr lang="en-US" altLang="zh-TW" sz="14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331F3EF-D9E6-A480-79CA-ACDB3B29B710}"/>
              </a:ext>
            </a:extLst>
          </p:cNvPr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E895048-BA93-4CC0-9E28-6BD378F0645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fld>
            <a:endParaRPr lang="en-US" sz="1100" dirty="0"/>
          </a:p>
        </p:txBody>
      </p:sp>
      <p:pic>
        <p:nvPicPr>
          <p:cNvPr id="5" name="圖片 4" descr="The document compares on-premise (locally managed infrastructure) with cloud services (AWS/GCP/Azure) in terms of infrastructure management, scalability, cost structure, security, and network dependency.&#10;&#10;AI 產生的內容可能不正確。">
            <a:extLst>
              <a:ext uri="{FF2B5EF4-FFF2-40B4-BE49-F238E27FC236}">
                <a16:creationId xmlns:a16="http://schemas.microsoft.com/office/drawing/2014/main" id="{51D6AEF0-E4F1-E6D6-7C25-5203404C4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9751"/>
            <a:ext cx="5721732" cy="31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8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內部工具與系統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8FE45CF-9781-4EE0-ACE7-6C701E8B2F45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</a:t>
            </a:fld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神秘客訪問電話是什麼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622260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622260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互打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各專案組每月隨機撥打電話給其他專案組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5400000">
            <a:off x="3203372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3445688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427868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427868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8568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檢核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74288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以腳本上的常見 FAQ，檢驗接聽同仁是否合乎禮儀、使用標準起手台詞、答案正確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08980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251296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233476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7233476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4176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彙整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79896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各組寫抽查成果與分數給主管，主管彙整報表與未達滿分的經緯報告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14587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9056903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0039083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0039083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39783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85503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分數向下發給各專案組、向上呈報高級主管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這整套流程每個月都要跑一次。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E337FBB-4715-4642-80F3-2F84FECA0F5E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</a:t>
            </a:fld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舊流程的痛點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五份以上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 Excel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同一件事的資料散在五份以上的表單裡，一份工作要開一堆檔案。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627778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每個月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27778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都要重來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73498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每到月底就要重開報表、重設一次 Google 表單給人填。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8277" y="1920240"/>
            <a:ext cx="3393338" cy="228981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blurRad="101600" dist="25400" dir="5400000" algn="bl" rotWithShape="0">
              <a:srgbClr val="9AA0BF">
                <a:alpha val="2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386877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手動算分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86877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反覆貼上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432597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收回來的資料要手動計算分數，再一直複製貼上到給不同對象的 Excel。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874514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最花時間的不是判斷，是搬資料。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F13AD20-BECF-49DD-8EC7-A4E26BEE11B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</a:t>
            </a:fld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我的解法：單一後台 × 三層權限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40280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把散在五份以上 Excel 的流程，整併進同一個網站、同一個後台。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410712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410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不搬資料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6393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資料不需要再搬移，只針對不同對象切換顯示內容。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5455920" cy="1024128"/>
          </a:xfrm>
          <a:prstGeom prst="roundRect">
            <a:avLst>
              <a:gd name="adj" fmla="val 5357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58114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0974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設定一次就長期適用，不必每月重做，直到當事人轉職或離職。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開發方式：全程使用 replit 等 AI 工具開發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55CCA70-AE23-4232-919A-AD498174380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</a:t>
            </a:fld>
            <a:endParaRPr lang="en-US" sz="1100" dirty="0"/>
          </a:p>
        </p:txBody>
      </p:sp>
      <p:pic>
        <p:nvPicPr>
          <p:cNvPr id="24" name="圖片 23" descr="The image displays a user interface of a system management platform with various sections for managing projects, user accounts, and performance reviews, all in Chinese characters.&#10;&#10;AI 產生的內容可能不正確。">
            <a:extLst>
              <a:ext uri="{FF2B5EF4-FFF2-40B4-BE49-F238E27FC236}">
                <a16:creationId xmlns:a16="http://schemas.microsoft.com/office/drawing/2014/main" id="{AE3B4862-3A10-A5DF-EDD6-668352C45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69438"/>
            <a:ext cx="5908301" cy="31975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權限設計：三種角色，三種畫面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依涉入神秘客電訪的人員層級分為三種權限等級，不同帳號開放不同功能。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82755"/>
              </p:ext>
            </p:extLst>
          </p:nvPr>
        </p:nvGraphicFramePr>
        <p:xfrm>
          <a:off x="640080" y="3291841"/>
          <a:ext cx="10911535" cy="263347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層級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大致角色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開放範圍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執行電訪與被檢核的專案組同仁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執行與提交相關功能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第二層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管理神秘客電訪的管理者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出題、派發、評分、報表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第三層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需要看結果的高級主管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彙總報表與結果檢視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CC13B8C-6C72-43A1-9998-1760B00EB9AA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19</a:t>
            </a:fld>
            <a:endParaRPr lang="en-US" sz="1100" dirty="0"/>
          </a:p>
        </p:txBody>
      </p:sp>
      <p:pic>
        <p:nvPicPr>
          <p:cNvPr id="12" name="圖片 11" descr="￧ﾥﾞ￧ﾧﾘ￥ﾮﾢ&#10;&#10;AI 產生的內容可能不正確。">
            <a:extLst>
              <a:ext uri="{FF2B5EF4-FFF2-40B4-BE49-F238E27FC236}">
                <a16:creationId xmlns:a16="http://schemas.microsoft.com/office/drawing/2014/main" id="{BFB66B0E-6C56-A10D-08E0-1F00FE9BF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212" y="1111299"/>
            <a:ext cx="2940283" cy="21116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前後對比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37124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舊流程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資料位置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分散在 5 份以上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集中在單一後台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每月作業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重開報表、重設 Google 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設定一次長期適用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手動計算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系統評鑑介面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給不同對象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複製貼上到不同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依權限切換顯示內容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檢討與申覆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另外處理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系統內提交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人事異動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需重新整理表單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帳號／身分組移轉機制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改變的重點不是把工作做得更快，而是把「每個月都要重做一次」變成「設定一次就好」。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BCF581B-6A88-496B-BDCE-8105E7B41799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</a:t>
            </a:fld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機器人：解決什麼問題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想法很抽象，但開發需要規格。從「我想做一個 X」到一份能動工的 PRD，中間那段最卡。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F2E2D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靠有經驗的人一次次開會追問，或是自己對著空白文件硬寫——品質看人，也很花時間。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6DCFA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75908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5908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一個會反問的機器人，把抽象的概念一路問到能寫成規格為止。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14400" y="4407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一個抽象的概念或想法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526280" y="4818888"/>
            <a:ext cx="219456" cy="274320"/>
          </a:xfrm>
          <a:prstGeom prst="triangle">
            <a:avLst/>
          </a:prstGeom>
          <a:solidFill>
            <a:srgbClr val="AEB4E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4983480" y="4251960"/>
            <a:ext cx="6568135" cy="1371600"/>
          </a:xfrm>
          <a:prstGeom prst="roundRect">
            <a:avLst>
              <a:gd name="adj" fmla="val 4000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257800" y="4407408"/>
            <a:ext cx="6019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輸出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4754880"/>
            <a:ext cx="6019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一份 PRD 初稿與技術文件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這件事跟神秘客系統其實是同一個主題：把「靠人」的流程，變成「靠系統」也做得到。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6D2FC4C-8CB7-47FC-B368-7141AEBC2376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21</a:t>
            </a:fld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怎麼運作</a:t>
            </a: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：</a:t>
            </a:r>
            <a:r>
              <a:rPr lang="zh-TW" alt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使用腳本跑完指定的問卷，獲得所有答覆再撰寫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896112" y="2258568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96112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48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不等你講清楚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231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一般工具是你把需求寫好，它幫你排版；這個是反過來——你只要有個模糊的想法就可以開始。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896112" y="3557016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96112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大量反問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216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反問 → 你補完 → 再反問，一路把沒想到的地方問出來。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96112" y="485546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96112" y="4855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收斂成文件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502005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問到夠了，直接產出 PRD 初稿與技術文件。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為什麼有效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5852160"/>
            <a:ext cx="9357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使用者常常不是不願意寫，是不知道該寫什麼——回答問題永遠比面對空白頁容易。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9619731-5E7E-4D94-80FE-04B4FC619DB5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22</a:t>
            </a:fld>
            <a:endParaRPr lang="en-US" sz="1100" dirty="0"/>
          </a:p>
        </p:txBody>
      </p:sp>
      <p:pic>
        <p:nvPicPr>
          <p:cNvPr id="25" name="圖片 24" descr="The image is a structured questionnaire for a new product, asking for details like project title, product type, target user, key issues, and whether to proceed with the process.&#10;&#10;AI 產生的內容可能不正確。">
            <a:extLst>
              <a:ext uri="{FF2B5EF4-FFF2-40B4-BE49-F238E27FC236}">
                <a16:creationId xmlns:a16="http://schemas.microsoft.com/office/drawing/2014/main" id="{4FA05D93-04BA-B34A-2AE9-EE3B0F0AD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1920240"/>
            <a:ext cx="4742400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02" name="s102"/>
          <p:cNvSpPr/>
          <p:nvPr/>
        </p:nvSpPr>
        <p:spPr>
          <a:xfrm>
            <a:off x="640080" y="896112"/>
            <a:ext cx="1091153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這四個多月，我第一次完整走完從需求到上線</a:t>
            </a:r>
          </a:p>
        </p:txBody>
      </p:sp>
      <p:sp>
        <p:nvSpPr>
          <p:cNvPr id="103" name="s103"/>
          <p:cNvSpPr/>
          <p:nvPr/>
        </p:nvSpPr>
        <p:spPr>
          <a:xfrm>
            <a:off x="640080" y="1536192"/>
            <a:ext cx="1091153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用 4F 回顧這段過程</a:t>
            </a:r>
          </a:p>
        </p:txBody>
      </p:sp>
      <p:sp>
        <p:nvSpPr>
          <p:cNvPr id="104" name="s104"/>
          <p:cNvSpPr/>
          <p:nvPr/>
        </p:nvSpPr>
        <p:spPr>
          <a:xfrm>
            <a:off x="640080" y="2057400"/>
            <a:ext cx="2480996" cy="2487168"/>
          </a:xfrm>
          <a:prstGeom prst="roundRect">
            <a:avLst>
              <a:gd name="adj" fmla="val 7000"/>
            </a:avLst>
          </a:prstGeom>
          <a:solidFill>
            <a:srgbClr val="ECEEF8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05" name="s105"/>
          <p:cNvSpPr/>
          <p:nvPr/>
        </p:nvSpPr>
        <p:spPr>
          <a:xfrm>
            <a:off x="841248" y="2249424"/>
            <a:ext cx="20786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Facts</a:t>
            </a:r>
          </a:p>
        </p:txBody>
      </p:sp>
      <p:sp>
        <p:nvSpPr>
          <p:cNvPr id="106" name="s106"/>
          <p:cNvSpPr/>
          <p:nvPr/>
        </p:nvSpPr>
        <p:spPr>
          <a:xfrm>
            <a:off x="841248" y="2779776"/>
            <a:ext cx="2078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事實</a:t>
            </a:r>
          </a:p>
        </p:txBody>
      </p:sp>
      <p:sp>
        <p:nvSpPr>
          <p:cNvPr id="107" name="s107"/>
          <p:cNvSpPr/>
          <p:nvPr/>
        </p:nvSpPr>
        <p:spPr>
          <a:xfrm>
            <a:off x="877824" y="3200400"/>
            <a:ext cx="2005508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神秘客評分系統上線、PRD 機器人進入跨部門測試、四門 AI 課完成內部試教。</a:t>
            </a:r>
          </a:p>
        </p:txBody>
      </p:sp>
      <p:sp>
        <p:nvSpPr>
          <p:cNvPr id="108" name="s108"/>
          <p:cNvSpPr/>
          <p:nvPr/>
        </p:nvSpPr>
        <p:spPr>
          <a:xfrm>
            <a:off x="3450260" y="2057400"/>
            <a:ext cx="2480996" cy="2487168"/>
          </a:xfrm>
          <a:prstGeom prst="roundRect">
            <a:avLst>
              <a:gd name="adj" fmla="val 7000"/>
            </a:avLst>
          </a:prstGeom>
          <a:solidFill>
            <a:srgbClr val="F2E2DA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09" name="s109"/>
          <p:cNvSpPr/>
          <p:nvPr/>
        </p:nvSpPr>
        <p:spPr>
          <a:xfrm>
            <a:off x="3651428" y="2249424"/>
            <a:ext cx="20786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Feelings</a:t>
            </a:r>
          </a:p>
        </p:txBody>
      </p:sp>
      <p:sp>
        <p:nvSpPr>
          <p:cNvPr id="110" name="s110"/>
          <p:cNvSpPr/>
          <p:nvPr/>
        </p:nvSpPr>
        <p:spPr>
          <a:xfrm>
            <a:off x="3651428" y="2779776"/>
            <a:ext cx="2078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感受</a:t>
            </a:r>
          </a:p>
        </p:txBody>
      </p:sp>
      <p:sp>
        <p:nvSpPr>
          <p:cNvPr id="111" name="s111"/>
          <p:cNvSpPr/>
          <p:nvPr/>
        </p:nvSpPr>
        <p:spPr>
          <a:xfrm>
            <a:off x="3688004" y="3200400"/>
            <a:ext cx="2005508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一開始是失控感——東西能跑，但不是我掌控的。</a:t>
            </a:r>
          </a:p>
        </p:txBody>
      </p:sp>
      <p:sp>
        <p:nvSpPr>
          <p:cNvPr id="112" name="s112"/>
          <p:cNvSpPr/>
          <p:nvPr/>
        </p:nvSpPr>
        <p:spPr>
          <a:xfrm>
            <a:off x="6260440" y="2057400"/>
            <a:ext cx="2480996" cy="2487168"/>
          </a:xfrm>
          <a:prstGeom prst="roundRect">
            <a:avLst>
              <a:gd name="adj" fmla="val 7000"/>
            </a:avLst>
          </a:prstGeom>
          <a:solidFill>
            <a:srgbClr val="F7F1CE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13" name="s113"/>
          <p:cNvSpPr/>
          <p:nvPr/>
        </p:nvSpPr>
        <p:spPr>
          <a:xfrm>
            <a:off x="6461608" y="2249424"/>
            <a:ext cx="20786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Findings</a:t>
            </a:r>
          </a:p>
        </p:txBody>
      </p:sp>
      <p:sp>
        <p:nvSpPr>
          <p:cNvPr id="114" name="s114"/>
          <p:cNvSpPr/>
          <p:nvPr/>
        </p:nvSpPr>
        <p:spPr>
          <a:xfrm>
            <a:off x="6461608" y="2779776"/>
            <a:ext cx="2078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發現</a:t>
            </a:r>
          </a:p>
        </p:txBody>
      </p:sp>
      <p:sp>
        <p:nvSpPr>
          <p:cNvPr id="115" name="s115"/>
          <p:cNvSpPr/>
          <p:nvPr/>
        </p:nvSpPr>
        <p:spPr>
          <a:xfrm>
            <a:off x="6498184" y="3200400"/>
            <a:ext cx="2005508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交付不只是寫功能；判斷力比下指令重要；需求文件是結果不是起點。</a:t>
            </a:r>
          </a:p>
        </p:txBody>
      </p:sp>
      <p:sp>
        <p:nvSpPr>
          <p:cNvPr id="116" name="s116"/>
          <p:cNvSpPr/>
          <p:nvPr/>
        </p:nvSpPr>
        <p:spPr>
          <a:xfrm>
            <a:off x="9070619" y="2057400"/>
            <a:ext cx="2480996" cy="2487168"/>
          </a:xfrm>
          <a:prstGeom prst="roundRect">
            <a:avLst>
              <a:gd name="adj" fmla="val 7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17" name="s117"/>
          <p:cNvSpPr/>
          <p:nvPr/>
        </p:nvSpPr>
        <p:spPr>
          <a:xfrm>
            <a:off x="9271787" y="2249424"/>
            <a:ext cx="20786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Future</a:t>
            </a:r>
          </a:p>
        </p:txBody>
      </p:sp>
      <p:sp>
        <p:nvSpPr>
          <p:cNvPr id="118" name="s118"/>
          <p:cNvSpPr/>
          <p:nvPr/>
        </p:nvSpPr>
        <p:spPr>
          <a:xfrm>
            <a:off x="9271787" y="2779776"/>
            <a:ext cx="2078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未來</a:t>
            </a:r>
          </a:p>
        </p:txBody>
      </p:sp>
      <p:sp>
        <p:nvSpPr>
          <p:cNvPr id="119" name="s119"/>
          <p:cNvSpPr/>
          <p:nvPr/>
        </p:nvSpPr>
        <p:spPr>
          <a:xfrm>
            <a:off x="9308363" y="3200400"/>
            <a:ext cx="2005508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把個人的解題經驗，沉澱成團隊可以複製的交付方式。</a:t>
            </a:r>
          </a:p>
        </p:txBody>
      </p:sp>
      <p:sp>
        <p:nvSpPr>
          <p:cNvPr id="120" name="s120"/>
          <p:cNvSpPr/>
          <p:nvPr/>
        </p:nvSpPr>
        <p:spPr>
          <a:xfrm>
            <a:off x="640080" y="4983480"/>
            <a:ext cx="10911535" cy="777240"/>
          </a:xfrm>
          <a:prstGeom prst="roundRect">
            <a:avLst>
              <a:gd name="adj" fmla="val 8000"/>
            </a:avLst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前面講的是我做到了什麼；這一章講的是我自己變成什麼樣子。</a:t>
            </a:r>
          </a:p>
        </p:txBody>
      </p:sp>
      <p:sp>
        <p:nvSpPr>
          <p:cNvPr id="121" name="s121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A6D2639-37E4-451F-9B37-33120E13EBCA}" type="slidenum">
              <a:rPr lang="zh-TW" altLang="en-US" sz="1100" b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六、對公司的建議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對公司的建議｜新人入職與知識傳承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D6D9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新人報告的目標，建議由主管與新人共同確認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目前的十二週目標表是所有新人共用版本，與實際派工內容常有落差。建議到職第一週由主管與新人一起確認個人化目標，中間再對一次。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F7F1C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932688" y="36118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932688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4015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把各部門的重複性作業做成一份「待數位化清單」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8221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神秘客這套流程原本不在任何待辦清單上，是碰巧發現的。若各部門能列出自己每月重複的作業，創新研發部就能有系統地評估導入順序。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932688" y="49834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932688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內部工具做完後，建立交接與維護機制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51937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系統上線只是開始。建議每套內部工具都要有指定的維護窗口與使用說明，避免變成只有開發者才懂的黑箱。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B0F951F-3E97-4CFE-9071-943F0603D1C2}" type="slidenum"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</a:t>
            </a:fld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0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謝謝您的聆聽！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　｜　創新研發部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314AE80-3932-4880-B705-C1BF99200391}" type="slidenum"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</a:t>
            </a:fld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139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40" name="s140"/>
          <p:cNvSpPr/>
          <p:nvPr/>
        </p:nvSpPr>
        <p:spPr>
          <a:xfrm>
            <a:off x="640080" y="896112"/>
            <a:ext cx="1091153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Findings ＋ Future</a:t>
            </a:r>
          </a:p>
        </p:txBody>
      </p:sp>
      <p:sp>
        <p:nvSpPr>
          <p:cNvPr id="141" name="s141"/>
          <p:cNvSpPr/>
          <p:nvPr/>
        </p:nvSpPr>
        <p:spPr>
          <a:xfrm>
            <a:off x="640080" y="1536192"/>
            <a:ext cx="1091153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我補的不只是工具，是一套完整交付的方法</a:t>
            </a:r>
          </a:p>
        </p:txBody>
      </p:sp>
      <p:sp>
        <p:nvSpPr>
          <p:cNvPr id="142" name="s142"/>
          <p:cNvSpPr/>
          <p:nvPr/>
        </p:nvSpPr>
        <p:spPr>
          <a:xfrm>
            <a:off x="640080" y="1874520"/>
            <a:ext cx="5272888" cy="3429000"/>
          </a:xfrm>
          <a:prstGeom prst="roundRect">
            <a:avLst>
              <a:gd name="adj" fmla="val 4000"/>
            </a:avLst>
          </a:prstGeom>
          <a:solidFill>
            <a:srgbClr val="F7F1CE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43" name="s143"/>
          <p:cNvSpPr/>
          <p:nvPr/>
        </p:nvSpPr>
        <p:spPr>
          <a:xfrm>
            <a:off x="914400" y="2029968"/>
            <a:ext cx="4724248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Findings｜三個關鍵發現</a:t>
            </a:r>
          </a:p>
        </p:txBody>
      </p:sp>
      <p:sp>
        <p:nvSpPr>
          <p:cNvPr id="144" name="s144"/>
          <p:cNvSpPr/>
          <p:nvPr/>
        </p:nvSpPr>
        <p:spPr>
          <a:xfrm>
            <a:off x="914400" y="2450592"/>
            <a:ext cx="310896" cy="310896"/>
          </a:xfrm>
          <a:prstGeom prst="ellipse">
            <a:avLst/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1</a:t>
            </a:r>
          </a:p>
        </p:txBody>
      </p:sp>
      <p:sp>
        <p:nvSpPr>
          <p:cNvPr id="145" name="s145"/>
          <p:cNvSpPr/>
          <p:nvPr/>
        </p:nvSpPr>
        <p:spPr>
          <a:xfrm>
            <a:off x="1298448" y="2423160"/>
            <a:ext cx="4340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交付不等於寫完功能</a:t>
            </a:r>
          </a:p>
        </p:txBody>
      </p:sp>
      <p:sp>
        <p:nvSpPr>
          <p:cNvPr id="146" name="s146"/>
          <p:cNvSpPr/>
          <p:nvPr/>
        </p:nvSpPr>
        <p:spPr>
          <a:xfrm>
            <a:off x="1298448" y="2752344"/>
            <a:ext cx="434020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還包含需求釐清、版本協作、環境設定、問題排查，以及對最終結果負責。</a:t>
            </a:r>
          </a:p>
        </p:txBody>
      </p:sp>
      <p:sp>
        <p:nvSpPr>
          <p:cNvPr id="147" name="s147"/>
          <p:cNvSpPr/>
          <p:nvPr/>
        </p:nvSpPr>
        <p:spPr>
          <a:xfrm>
            <a:off x="914400" y="3493008"/>
            <a:ext cx="310896" cy="310896"/>
          </a:xfrm>
          <a:prstGeom prst="ellipse">
            <a:avLst/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2</a:t>
            </a:r>
          </a:p>
        </p:txBody>
      </p:sp>
      <p:sp>
        <p:nvSpPr>
          <p:cNvPr id="148" name="s148"/>
          <p:cNvSpPr/>
          <p:nvPr/>
        </p:nvSpPr>
        <p:spPr>
          <a:xfrm>
            <a:off x="1298448" y="3465576"/>
            <a:ext cx="4340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用 AI 的門檻不是會不會下指令</a:t>
            </a:r>
          </a:p>
        </p:txBody>
      </p:sp>
      <p:sp>
        <p:nvSpPr>
          <p:cNvPr id="149" name="s149"/>
          <p:cNvSpPr/>
          <p:nvPr/>
        </p:nvSpPr>
        <p:spPr>
          <a:xfrm>
            <a:off x="1298448" y="3794760"/>
            <a:ext cx="434020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是能不能判斷它給的東西對不對。這後來成為我教材的核心：不給可複製的提示詞範本，只教怎麼描述與修正。</a:t>
            </a:r>
          </a:p>
        </p:txBody>
      </p:sp>
      <p:sp>
        <p:nvSpPr>
          <p:cNvPr id="150" name="s150"/>
          <p:cNvSpPr/>
          <p:nvPr/>
        </p:nvSpPr>
        <p:spPr>
          <a:xfrm>
            <a:off x="914400" y="4535424"/>
            <a:ext cx="310896" cy="310896"/>
          </a:xfrm>
          <a:prstGeom prst="ellipse">
            <a:avLst/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3</a:t>
            </a:r>
          </a:p>
        </p:txBody>
      </p:sp>
      <p:sp>
        <p:nvSpPr>
          <p:cNvPr id="151" name="s151"/>
          <p:cNvSpPr/>
          <p:nvPr/>
        </p:nvSpPr>
        <p:spPr>
          <a:xfrm>
            <a:off x="1298448" y="4507992"/>
            <a:ext cx="4340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需求文件是結果，不是起點</a:t>
            </a:r>
          </a:p>
        </p:txBody>
      </p:sp>
      <p:sp>
        <p:nvSpPr>
          <p:cNvPr id="152" name="s152"/>
          <p:cNvSpPr/>
          <p:nvPr/>
        </p:nvSpPr>
        <p:spPr>
          <a:xfrm>
            <a:off x="1298448" y="4837176"/>
            <a:ext cx="4340200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</a:rPr>
              <a:t>神秘客的申覆功能不在任何一份文件上，是我走過整個流程才發現非做不可。</a:t>
            </a:r>
          </a:p>
        </p:txBody>
      </p:sp>
      <p:sp>
        <p:nvSpPr>
          <p:cNvPr id="153" name="s153"/>
          <p:cNvSpPr/>
          <p:nvPr/>
        </p:nvSpPr>
        <p:spPr>
          <a:xfrm>
            <a:off x="6278728" y="1874520"/>
            <a:ext cx="5272888" cy="34290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54" name="s154"/>
          <p:cNvSpPr/>
          <p:nvPr/>
        </p:nvSpPr>
        <p:spPr>
          <a:xfrm>
            <a:off x="6553048" y="2029968"/>
            <a:ext cx="4724248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Future｜把學習轉成下一階段行動</a:t>
            </a:r>
          </a:p>
        </p:txBody>
      </p:sp>
      <p:sp>
        <p:nvSpPr>
          <p:cNvPr id="155" name="s155"/>
          <p:cNvSpPr/>
          <p:nvPr/>
        </p:nvSpPr>
        <p:spPr>
          <a:xfrm>
            <a:off x="6553048" y="2423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半年內</a:t>
            </a:r>
          </a:p>
        </p:txBody>
      </p:sp>
      <p:sp>
        <p:nvSpPr>
          <p:cNvPr id="156" name="s156"/>
          <p:cNvSpPr/>
          <p:nvPr/>
        </p:nvSpPr>
        <p:spPr>
          <a:xfrm>
            <a:off x="6553048" y="2752344"/>
            <a:ext cx="4724248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兩套系統從「能用」推到「穩定」——權限、資料、錯誤處理與維運；對外課程開賣後擔任主力講師，並推動教材定稿。</a:t>
            </a:r>
          </a:p>
        </p:txBody>
      </p:sp>
      <p:sp>
        <p:nvSpPr>
          <p:cNvPr id="157" name="s157"/>
          <p:cNvSpPr/>
          <p:nvPr/>
        </p:nvSpPr>
        <p:spPr>
          <a:xfrm>
            <a:off x="6553048" y="34655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一年內</a:t>
            </a:r>
          </a:p>
        </p:txBody>
      </p:sp>
      <p:sp>
        <p:nvSpPr>
          <p:cNvPr id="158" name="s158"/>
          <p:cNvSpPr/>
          <p:nvPr/>
        </p:nvSpPr>
        <p:spPr>
          <a:xfrm>
            <a:off x="6553048" y="3794760"/>
            <a:ext cx="4724248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獨立負責一條完整產品線，從題目發想、需求訪談到上線維運。</a:t>
            </a:r>
          </a:p>
        </p:txBody>
      </p:sp>
      <p:sp>
        <p:nvSpPr>
          <p:cNvPr id="159" name="s159"/>
          <p:cNvSpPr/>
          <p:nvPr/>
        </p:nvSpPr>
        <p:spPr>
          <a:xfrm>
            <a:off x="6553048" y="45079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三至五年</a:t>
            </a:r>
          </a:p>
        </p:txBody>
      </p:sp>
      <p:sp>
        <p:nvSpPr>
          <p:cNvPr id="160" name="s160"/>
          <p:cNvSpPr/>
          <p:nvPr/>
        </p:nvSpPr>
        <p:spPr>
          <a:xfrm>
            <a:off x="6553048" y="4837176"/>
            <a:ext cx="4724248" cy="6949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成為能同時掌握對外課程產品與對內系統落地的產品負責人，讓 AI 導入成為公司可複製的標準做法。</a:t>
            </a:r>
          </a:p>
        </p:txBody>
      </p:sp>
      <p:sp>
        <p:nvSpPr>
          <p:cNvPr id="161" name="s161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00"/>
            </a:avLst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下一階段，我要把個人的解題經驗，沉澱成團隊可以複製的產品交付方式。</a:t>
            </a:r>
          </a:p>
        </p:txBody>
      </p:sp>
      <p:sp>
        <p:nvSpPr>
          <p:cNvPr id="162" name="s162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815893A-3285-493A-8F9B-AA87048707E6}" type="slidenum">
              <a:rPr lang="zh-TW" altLang="en-US" sz="1100" b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122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000"/>
            </a:avLst>
          </a:prstGeom>
          <a:solidFill>
            <a:srgbClr val="D6D9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五、學習心得</a:t>
            </a:r>
          </a:p>
        </p:txBody>
      </p:sp>
      <p:sp>
        <p:nvSpPr>
          <p:cNvPr id="123" name="s123"/>
          <p:cNvSpPr/>
          <p:nvPr/>
        </p:nvSpPr>
        <p:spPr>
          <a:xfrm>
            <a:off x="640080" y="896112"/>
            <a:ext cx="1091153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Facts ＋ Feelings：我做了什麼，以及過程中的感受</a:t>
            </a:r>
          </a:p>
        </p:txBody>
      </p:sp>
      <p:sp>
        <p:nvSpPr>
          <p:cNvPr id="124" name="s124"/>
          <p:cNvSpPr/>
          <p:nvPr/>
        </p:nvSpPr>
        <p:spPr>
          <a:xfrm>
            <a:off x="640080" y="1572768"/>
            <a:ext cx="10911535" cy="2395728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25" name="s125"/>
          <p:cNvSpPr/>
          <p:nvPr/>
        </p:nvSpPr>
        <p:spPr>
          <a:xfrm>
            <a:off x="950976" y="1755648"/>
            <a:ext cx="10289743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4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Facts｜實際發生了什麼</a:t>
            </a:r>
          </a:p>
        </p:txBody>
      </p:sp>
      <p:sp>
        <p:nvSpPr>
          <p:cNvPr id="126" name="s126"/>
          <p:cNvSpPr/>
          <p:nvPr/>
        </p:nvSpPr>
        <p:spPr>
          <a:xfrm>
            <a:off x="950976" y="2157984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•</a:t>
            </a:r>
          </a:p>
        </p:txBody>
      </p:sp>
      <p:sp>
        <p:nvSpPr>
          <p:cNvPr id="127" name="s127"/>
          <p:cNvSpPr/>
          <p:nvPr/>
        </p:nvSpPr>
        <p:spPr>
          <a:xfrm>
            <a:off x="1207008" y="2157984"/>
            <a:ext cx="9997135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神秘客評分系統：把散在五份以上 Excel 的流程整併進單一後台，完成三層權限、評分、報表匯出、檢討與申覆、帳號／身分組移轉等機制，已正式上線使用。</a:t>
            </a:r>
          </a:p>
        </p:txBody>
      </p:sp>
      <p:sp>
        <p:nvSpPr>
          <p:cNvPr id="128" name="s128"/>
          <p:cNvSpPr/>
          <p:nvPr/>
        </p:nvSpPr>
        <p:spPr>
          <a:xfrm>
            <a:off x="950976" y="2587752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•</a:t>
            </a:r>
          </a:p>
        </p:txBody>
      </p:sp>
      <p:sp>
        <p:nvSpPr>
          <p:cNvPr id="129" name="s129"/>
          <p:cNvSpPr/>
          <p:nvPr/>
        </p:nvSpPr>
        <p:spPr>
          <a:xfrm>
            <a:off x="1207008" y="2587752"/>
            <a:ext cx="9997135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PRD 機器人：以大量反問把模糊想法收斂成 PRD 初稿與技術文件，目前約 10 位跨部門同事測試中。</a:t>
            </a:r>
          </a:p>
        </p:txBody>
      </p:sp>
      <p:sp>
        <p:nvSpPr>
          <p:cNvPr id="130" name="s130"/>
          <p:cNvSpPr/>
          <p:nvPr/>
        </p:nvSpPr>
        <p:spPr>
          <a:xfrm>
            <a:off x="950976" y="3017520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•</a:t>
            </a:r>
          </a:p>
        </p:txBody>
      </p:sp>
      <p:sp>
        <p:nvSpPr>
          <p:cNvPr id="131" name="s131"/>
          <p:cNvSpPr/>
          <p:nvPr/>
        </p:nvSpPr>
        <p:spPr>
          <a:xfrm>
            <a:off x="1207008" y="3017520"/>
            <a:ext cx="9997135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對外四門 AI 應用課：教材撰寫 2 門、擔任講師 2 門，皆完成內部試教。</a:t>
            </a:r>
          </a:p>
        </p:txBody>
      </p:sp>
      <p:sp>
        <p:nvSpPr>
          <p:cNvPr id="132" name="s132"/>
          <p:cNvSpPr/>
          <p:nvPr/>
        </p:nvSpPr>
        <p:spPr>
          <a:xfrm>
            <a:off x="950976" y="3447288"/>
            <a:ext cx="20116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</a:rPr>
              <a:t>•</a:t>
            </a:r>
          </a:p>
        </p:txBody>
      </p:sp>
      <p:sp>
        <p:nvSpPr>
          <p:cNvPr id="133" name="s133"/>
          <p:cNvSpPr/>
          <p:nvPr/>
        </p:nvSpPr>
        <p:spPr>
          <a:xfrm>
            <a:off x="1207008" y="3447288"/>
            <a:ext cx="9997135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250" b="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</a:rPr>
              <a:t>這是我第一次完整走完：需求訪談 → 開發 → 版本協作 → 排錯 → 驗證 → 正式交付。</a:t>
            </a:r>
          </a:p>
        </p:txBody>
      </p:sp>
      <p:sp>
        <p:nvSpPr>
          <p:cNvPr id="134" name="s134"/>
          <p:cNvSpPr/>
          <p:nvPr/>
        </p:nvSpPr>
        <p:spPr>
          <a:xfrm>
            <a:off x="640080" y="4114800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2B2D5C"/>
          </a:solidFill>
          <a:ln>
            <a:noFill/>
          </a:ln>
        </p:spPr>
        <p:txBody>
          <a:bodyPr wrap="square" lIns="0" tIns="0" rIns="0" bIns="0" rtlCol="0" anchor="t"/>
          <a:lstStyle/>
          <a:p/>
        </p:txBody>
      </p:sp>
      <p:sp>
        <p:nvSpPr>
          <p:cNvPr id="135" name="s135"/>
          <p:cNvSpPr/>
          <p:nvPr/>
        </p:nvSpPr>
        <p:spPr>
          <a:xfrm>
            <a:off x="969264" y="4279392"/>
            <a:ext cx="10253167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</a:rPr>
              <a:t>Feelings｜過程中的感受</a:t>
            </a:r>
          </a:p>
        </p:txBody>
      </p:sp>
      <p:sp>
        <p:nvSpPr>
          <p:cNvPr id="136" name="s136"/>
          <p:cNvSpPr/>
          <p:nvPr/>
        </p:nvSpPr>
        <p:spPr>
          <a:xfrm>
            <a:off x="969264" y="4626864"/>
            <a:ext cx="1025316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</a:rPr>
              <a:t>一開始最強烈的是失控感——東西能跑，但不是我掌控的。</a:t>
            </a:r>
          </a:p>
        </p:txBody>
      </p:sp>
      <p:sp>
        <p:nvSpPr>
          <p:cNvPr id="137" name="s137"/>
          <p:cNvSpPr/>
          <p:nvPr/>
        </p:nvSpPr>
        <p:spPr>
          <a:xfrm>
            <a:off x="969264" y="5029200"/>
            <a:ext cx="10253167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250" b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我看得出 AI 給的結果很差，卻講不出為什麼差；改不動就只能反覆重新生成，說白了是在碰運氣。功能會動，我卻說不出它為什麼會動。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zh-TW" altLang="en-US" sz="1250" b="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</a:rPr>
              <a:t>轉折點是我不再只想著把眼前的錯誤修掉，而是回頭去補模型本身的原理。當我能說出「是這一段描述不夠具體」，而不是「感覺怪怪的」，主導權才回到我手上。</a:t>
            </a:r>
          </a:p>
        </p:txBody>
      </p:sp>
      <p:sp>
        <p:nvSpPr>
          <p:cNvPr id="138" name="s138"/>
          <p:cNvSpPr/>
          <p:nvPr/>
        </p:nvSpPr>
        <p:spPr>
          <a:xfrm>
            <a:off x="11185855" y="6289243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6840F52-F811-40E0-B42C-1158464B3875}" type="slidenum">
              <a:rPr lang="zh-TW" altLang="en-US" sz="1100" b="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</a:rPr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1613</TotalTime>
  <Words>3350</Words>
  <Application>Microsoft Office PowerPoint</Application>
  <PresentationFormat>寬螢幕</PresentationFormat>
  <Paragraphs>458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2" baseType="lpstr">
      <vt:lpstr>微軟正黑體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新人報告</dc:title>
  <dc:subject>PptxGenJS Presentation</dc:subject>
  <dc:creator>黃家朗</dc:creator>
  <cp:lastModifiedBy>Kiri.Huang 黃家朗</cp:lastModifiedBy>
  <cp:revision>12</cp:revision>
  <dcterms:created xsi:type="dcterms:W3CDTF">2026-08-19T03:01:25Z</dcterms:created>
  <dcterms:modified xsi:type="dcterms:W3CDTF">2026-08-20T09:07:38Z</dcterms:modified>
</cp:coreProperties>
</file>