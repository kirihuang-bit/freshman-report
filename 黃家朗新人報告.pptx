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分佈</c:v>
                </c:pt>
              </c:strCache>
            </c:strRef>
          </c:tx>
          <c:spPr>
            <a:solidFill>
              <a:schemeClr val="accent1"/>
            </a:solidFill>
            <a:ln w="9525" cap="flat">
              <a:solidFill>
                <a:srgbClr val="F9F9F9"/>
              </a:solidFill>
              <a:prstDash val="solid"/>
              <a:round/>
            </a:ln>
            <a:effectLst/>
          </c:spPr>
          <c:dPt>
            <c:idx val="0"/>
            <c:bubble3D val="0"/>
            <c:spPr>
              <a:solidFill>
                <a:srgbClr val="2B2D5C"/>
              </a:solidFill>
              <a:effectLst/>
            </c:spPr>
          </c:dPt>
          <c:dPt>
            <c:idx val="1"/>
            <c:bubble3D val="0"/>
            <c:spPr>
              <a:solidFill>
                <a:srgbClr val="17A0A0"/>
              </a:solidFill>
              <a:effectLst/>
            </c:spPr>
          </c:dPt>
          <c:dPt>
            <c:idx val="2"/>
            <c:bubble3D val="0"/>
            <c:spPr>
              <a:solidFill>
                <a:srgbClr val="6DCFA5"/>
              </a:solidFill>
              <a:effectLst/>
            </c:spPr>
          </c:dPt>
          <c:dPt>
            <c:idx val="3"/>
            <c:bubble3D val="0"/>
            <c:spPr>
              <a:solidFill>
                <a:srgbClr val="35697F"/>
              </a:solidFill>
              <a:effectLst/>
            </c:spPr>
          </c:dPt>
          <c:dPt>
            <c:idx val="4"/>
            <c:bubble3D val="0"/>
            <c:spPr>
              <a:solidFill>
                <a:srgbClr val="AEB4E4"/>
              </a:solidFill>
              <a:effectLst/>
            </c:spPr>
          </c:dPt>
          <c:dLbls>
            <c:dLbl>
              <c:idx val="0"/>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Sheet1!$A$2:$A$6</c:f>
              <c:strCache>
                <c:ptCount val="5"/>
                <c:pt idx="0">
                  <c:v>解決力</c:v>
                </c:pt>
                <c:pt idx="1">
                  <c:v>自學力</c:v>
                </c:pt>
                <c:pt idx="2">
                  <c:v>系統思維</c:v>
                </c:pt>
                <c:pt idx="3">
                  <c:v>換位思考</c:v>
                </c:pt>
                <c:pt idx="4">
                  <c:v>交付到底</c:v>
                </c:pt>
              </c:strCache>
            </c:strRef>
          </c:cat>
          <c:val>
            <c:numRef>
              <c:f>Sheet1!$B$2:$B$6</c:f>
              <c:numCache>
                <c:ptCount val="5"/>
                <c:pt idx="0">
                  <c:v>25</c:v>
                </c:pt>
                <c:pt idx="1">
                  <c:v>25</c:v>
                </c:pt>
                <c:pt idx="2">
                  <c:v>20</c:v>
                </c:pt>
                <c:pt idx="3">
                  <c:v>15</c:v>
                </c:pt>
                <c:pt idx="4">
                  <c:v>15</c:v>
                </c:pt>
              </c:numCache>
            </c:numRef>
          </c:val>
        </c:ser>
        <c:firstSliceAng val="0"/>
      </c:pie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分佈</c:v>
                </c:pt>
              </c:strCache>
            </c:strRef>
          </c:tx>
          <c:spPr>
            <a:solidFill>
              <a:schemeClr val="accent1"/>
            </a:solidFill>
            <a:ln w="9525" cap="flat">
              <a:solidFill>
                <a:srgbClr val="F9F9F9"/>
              </a:solidFill>
              <a:prstDash val="solid"/>
              <a:round/>
            </a:ln>
            <a:effectLst/>
          </c:spPr>
          <c:dPt>
            <c:idx val="0"/>
            <c:bubble3D val="0"/>
            <c:spPr>
              <a:solidFill>
                <a:srgbClr val="2B2D5C"/>
              </a:solidFill>
              <a:effectLst/>
            </c:spPr>
          </c:dPt>
          <c:dPt>
            <c:idx val="1"/>
            <c:bubble3D val="0"/>
            <c:spPr>
              <a:solidFill>
                <a:srgbClr val="17A0A0"/>
              </a:solidFill>
              <a:effectLst/>
            </c:spPr>
          </c:dPt>
          <c:dPt>
            <c:idx val="2"/>
            <c:bubble3D val="0"/>
            <c:spPr>
              <a:solidFill>
                <a:srgbClr val="6DCFA5"/>
              </a:solidFill>
              <a:effectLst/>
            </c:spPr>
          </c:dPt>
          <c:dPt>
            <c:idx val="3"/>
            <c:bubble3D val="0"/>
            <c:spPr>
              <a:solidFill>
                <a:srgbClr val="AEB4E4"/>
              </a:solidFill>
              <a:effectLst/>
            </c:spPr>
          </c:dPt>
          <c:dLbls>
            <c:dLbl>
              <c:idx val="0"/>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微軟正黑體"/>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Sheet1!$A$2:$A$5</c:f>
              <c:strCache>
                <c:ptCount val="4"/>
                <c:pt idx="0">
                  <c:v>對外課程教材撰寫</c:v>
                </c:pt>
                <c:pt idx="1">
                  <c:v>對外課程授課與備課</c:v>
                </c:pt>
                <c:pt idx="2">
                  <c:v>神秘客系統開發</c:v>
                </c:pt>
                <c:pt idx="3">
                  <c:v>其他（會議、行政、學習）</c:v>
                </c:pt>
              </c:strCache>
            </c:strRef>
          </c:cat>
          <c:val>
            <c:numRef>
              <c:f>Sheet1!$B$2:$B$5</c:f>
              <c:numCache>
                <c:ptCount val="4"/>
                <c:pt idx="0">
                  <c:v>40</c:v>
                </c:pt>
                <c:pt idx="1">
                  <c:v>30</c:v>
                </c:pt>
                <c:pt idx="2">
                  <c:v>25</c:v>
                </c:pt>
                <c:pt idx="3">
                  <c:v>5</c:v>
                </c:pt>
              </c:numCache>
            </c:numRef>
          </c:val>
        </c:ser>
        <c:firstSliceAng val="0"/>
      </c:pie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各位主管、各位同事早安，我是創新研發部的產品工程師黃家朗。
今天要跟大家報告我到職這三個月的工作內容與成果。
報告大概三十分鐘，中間如果有問題可以隨時打斷我，最後也會留 Q&amp;A 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今天分七個部分。
前面三段講我是誰、以及這三個月我實際在做什麼；
第四段是重點，會花最多時間講工作成果，分成對外和對內兩條線；
最後是心得、職涯規劃，還有幾個給公司的建議。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先簡單介紹我自己。我是【待補：學校科系】畢業，
進程曦之前有一段工作經驗，在【待補：前職】。
我不是一畢業就做 AI 的，是工作一段時間之後才轉進 AI 跟教育訓練這個領域。
這個轉職經驗其實對我現在的工作滿有幫助的，
因為我很知道一個沒有技術背景的上班族，第一次接觸 AI 工具的時候會卡在哪裡——
這剛好就是我現在在做的事：把 AI 工具教給不懂技術的人。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這是我的工作歷程。
【待補：這裡補一句前職在做什麼】。
今年四月十號到職程曦，進創新研發部擔任產品工程師，到今天大概三個多月。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這是我給自己的五個特質，每一個後面我都有對應的實際例子，等一下都會講到。
佔比最高的是解決力跟自學力。
解決力的意思是，我看到問題的反應不是回報給主管就結束，而是直接把工具做出來——
等一下講的神秘客系統就是這樣來的。
自學力是說，那套系統用到的東西有很多我原本不會，我是靠 AI 工具邊做邊學把它做完的。
系統思維、換位思考、交付到底這三個，也都會在後面的內容裡出現，
這裡先不展開，各位看後面的成果就會知道我為什麼這樣寫。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公司精神是「愛、新、勤、誠」，
合起來就是那句話：勤勞地用創新的方式，誠懇地愛人。
我不想只是把這四個字唸過去，所以下一頁我整理了這三個月裡，
我自己覺得有實際對應到這四個字的四件事。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「新」的部分，神秘客系統我是全程用 replit 這類 AI 工具開發的，
這在部門裡算是比較新的做法。
「勤」的部分，我認為真正的勤勞不是每個月都認真重做一次，
而是想辦法讓它只需要做一次——這也是那套系統的核心。
「愛」的部分，那套系統分三種權限，
是因為我去理解了打電話的人、管理的人、看報表的主管，各自需要什麼、不需要看到什麼。
最後「誠」，等一下我會報一個效益數字，
我要先說那是我自己的推估，不是實測出來的，我會誠實標註清楚。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這三個月我把它分成三個階段。
前四週是熟悉期，主要是搞懂公司在做什麼、我們部門的產品線長什麼樣子，
同時就開始投入對外課程的教材製作。
第五到第八週是產出期，教材開始有成品，我也開始上台當講師。
第九到十二週是落地期，重心轉到對內，
從需求訪談一路做到神秘客系統實際上線。
這三段其實有一個共同點：都是在做「把 AI 變成別人真的用得到的東西」。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用比重來看的話，我的工作大概是對外七、對內三。
對外這條線佔大部分，就是我們部門的教育訓練產品線，四門 AI 應用課；
對內這條線雖然只佔三成，但它是一個完整的系統，
從訪談需求到寫完上線都是我做的，所以等一下我會花比較多時間講它。
一句話總結我這三個月：對外是把 AI 變成可以賣的課，對內是把 AI 變成可以用的系統。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接下來進入重點，工作成果。先講對外的四門課。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對外這條線總共四門課，我在裡面有兩種角色。
第一、二門是我負責寫教材，從課程架構、內容到範例都是我做的。
第三、四門教材是同事寫的，我負責上台授課。
我覺得這個組合對新人來說滿好的——
寫教材讓我必須把一個主題徹底搞懂才寫得出來，
上台授課則讓我馬上知道學員會在哪裡卡住、哪裡聽不懂。
這兩件事其實是互相回饋的。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第一門是「AI 時代的商業企劃思維與簡報製作工具」。
這門課的重點其實不在工具操作，而在思維——
很多人以為 AI 簡報工具就是把字丟進去讓它排版，
但真正的價值是在前面的企劃思考階段就讓 AI 參與。
所以我在寫教材的時候，是先把一個企劃案從無到有的流程拆開，
再去看每一段可以怎麼用 AI，而不是反過來從工具功能表開始教。
（時間不夠時本頁可略過）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第二門是 AI 圖片生成課，一樣是我寫教材。
這門課最難處理的地方是，圖片生成的結果不穩定，
同樣一句提示詞，這次跟下次出來的東西可能差很多。
所以我在教材裡花了不少篇幅在講「怎麼描述」跟「怎麼修正」，
而不是只給一堆可以複製貼上的提示詞範本——
因為範本會過期，方法不會。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第三、四門是我上台講的。
這兩門課對我來說有一個額外的意義：
vibe-coding 這門課教的方法，就是我後來開發神秘客系統實際用的方法。
我等於是先教了別人怎麼用 AI 寫程式，然後自己拿這套方法去做了一個真的上線的系統。
我覺得這件事讓我在台上講的時候比較有底氣，
因為我講的不是從教材上讀來的，是我真的做過的。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這幾張是教材的實際畫面，給大家看一下我們課程的呈現方式。
如果主管想看完整版本，我課後可以再單獨提供。
（時間不夠時本頁可略過）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對外這條線目前的狀態是：四門課的教材都已經完成，具備對外開課的條件，
接下來就是等對外開賣。
我自己覺得教材完成只是第一步，真正會讓課變好的是實際開課之後的學員回饋，
所以如果後續有招生跟開課，我希望能持續參與，
依照回饋去修教材、補案例，甚至往下做進階課。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接下來是對內這條線，也是我這三個月最想跟大家報告的一件事。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先說明業務背景，因為不是每個部門都熟悉這件事。
程曦是承接客服外包的公司，所以服務品質必須被檢核。
做法是各個專案組之間每個月隨機互相打電話，
用腳本上的常見問題去問對方，
檢驗接聽的同仁有沒有用符合禮儀、符合標準起手台詞的方式，說出正確的答案。
這種電話我們叫做神秘客訪問電話。
打完之後，各組要寫抽查成果跟分數交給主管，
主管再彙整出報表、還有未達滿分的經緯報告，
然後把分數向下發給各專案組、向上呈報給高級主管。
這整套流程是每個月都要跑一次的。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這套流程原本是這樣跑的。
第一，資料是散的。做同一件事，要開五份甚至更多份的 Excel 表單。
第二，每個月都要重來一次。每到月底就要重開所有報表，
還要重新設定一份 Google 表單發給大家填。
第三，收回來之後要手動算分數，
然後一直複製貼上到要給不同對象的 Excel 裡面——
給專案組一份、給主管一份、給高級主管又一份。
這裡面最花時間的其實不是判斷，是搬資料。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我的解法核心只有一句話：東西都放在同一個後台，用權限決定誰看得到什麼。
這樣做的好處是，資料不需要再搬移了。
過去要複製貼上到三份不同的 Excel，是因為三個對象要看不同的東西；
現在資料只有一份，我只要針對不同對象改變「顯示的內容」就好。
而且這個設定不是每個月都要改，是設定一次就一直適用，
直到當事人轉職或離職才需要動。
開發的部分，我是全程用 replit 這類 AI 工具做的。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權限的部分，我依照會涉及神秘客電訪的人的層級，分成三種等級，
不同的登入帳號會開放不同的功能。
這件事聽起來只是技術設定，但它其實是整套系統能成立的關鍵。
因為過去要拆成好幾份 Excel，本來就是為了讓不同的人看到不同的東西；
如果我只是把五份表單合成一份而沒有權限控制，那反而會出事。
所以是先有權限分層，才有辦法把資料集中。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系統裡總共有八項功能，我分三頁講。
前三項是流程的前半段。
第一是設計新問題，把檢核用的題目建進系統。
第二是抽選問題並分配到指定的專案組——這一項直接取代了過去每個月重設 Google 表單的工作。
第三是評分介面，讓評分的人在同一個地方打分數，不用再自己在 Excel 上算。
這三項合起來，就把「每月重來一次」這個痛點解決掉了。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中間三項是流程的後半段。
第四是報表匯出，需要給不同對象的報表直接從系統產生，不用再複製貼上。
第五是檢討報告，過去未達滿分要另外寫的經緯報告，現在直接在系統裡提交。
第六是申覆。這一項是我做完前面之後才發現需要的——
因為分數會影響到專案組，如果被評分的人覺得判定有問題，
應該要有一個正式的管道處理，而不是私下用訊息吵。
所以我加了申覆流程進去。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最後兩項是讓系統可以長期活下去的功能。
第七是帳號跟身分組的建立，還有移轉機制。
這一項很重要，因為公司會有人轉職、有人離職，
如果每次人事異動都要工程師進資料庫改，那這套系統遲早會沒人維護。
有了移轉機制，管理者自己就能處理。
第八是通知系統，分成全服公告跟個人通知兩種，
讓該知道的人在系統裡就會知道，不用另外再發訊息提醒。
（時間不夠時本頁可略過）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這頁是前後對比，我覺得最能說明這套系統的價值。
左邊是舊流程，右邊是現在。
各位可以看到，改變的重點不是把工作做得更快，
而是把「每個月都要重做一次」的工作，變成「設定一次就好」。
尤其最下面那一列，人事異動——
過去有人離職，那些表單就要重新整理一次；
現在管理者自己在後台移轉就結束了。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這套系統目前的狀態是已經上線，實際在使用中。
使用的單位是所有需要打神秘客訪問電話的單位，以及負責管理的管理者。
效益的部分我要誠實說明：
這個「節省近 90%」是我個人的推估，不是實測出來的數字。
我的推估依據是，過去每個月月底要開所有 Excel 報表、
設一次新的 Google 表單、手動算分數、再一直複製貼上給不同對象；
現在這些全部在同一個後台完成，資料不用搬，而且不需要每個月都改。
如果主管覺得需要，我可以後續實際去量測作業時間，把真實數字補上。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這是我三個月的工時分佈，先說明這是推估值。
對外課程加起來大概七成，其中教材撰寫佔比最高，
因為寫教材要把一個主題徹底弄懂，花的時間比上課本身多很多。
神秘客系統大概兩成五。
這個比例跟前面講的對外七、對內三是一致的。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講一下心得，分三個部分。
收穫最多的是「從使用者身上學需求」。
不管是寫教材還是做系統，我發現難的都不是技術，
是搞懂對方到底要什麼。
申覆那個功能就是例子——它不在任何一份需求文件上，
是我去理解這個流程之後才發現需要的。
最有成就感的是系統真的被用起來了。
做出一個能動的東西不難，但做出一個每個月都有人真的登入去用的東西，感覺完全不一樣。
最挑戰的是判斷什麼不該做。
用 AI 開發真的很快，快到你想到什麼功能都做得出來，
所以反而要克制，要一直問自己這個功能是使用者需要的，還是我想做的。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如果要我只講一件這三個月最重要的收穫，是這個：
從「做出功能」，變成「交付一個會被用的系統」。
我剛到職的時候會覺得，功能寫完就是做完了。
但實際做下來才知道，功能做完只是一半。
你還要想：誰在用、有人離職了怎麼辦、被評分的人不服氣怎麼辦。
這些都不是技術問題，可是不解決，系統做得再好也不會有人用。
我覺得這是我從工程師往產品的方向走，很關鍵的一步。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職涯規劃分短中長期。
短期半年，我想把神秘客系統的實際效益量測出來——
就是前面說的那個 90%，我想把它變成真實數字。
同時參與四門課的實際開課，依學員回饋修教材。
中期一年，我希望能獨立負責一條產品線，從需求訪談一路做到上線。
長期三到五年，我的目標是成為能同時掌握對外課程產品跟對內系統落地的產品負責人，
讓 AI 導入在公司裡變成一件標準的事，而不是每次都要重新來過的個案。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最後是給公司的三個建議，主題是新人入職跟知識傳承。
第一個，新人報告的目標建議由主管跟新人一起確認。
我理解目前的十二週目標表是為了讓新人有依循，
但它是所有新人共用的版本，跟實際派的工作常常會有落差。
我的建議是到職第一週由主管跟新人一起確認個人化的目標，中間再對一次，
這樣新人會更清楚自己被期待什麼。
第二個，建議各部門列一份自己每月重複作業的清單。
神秘客這套流程本來不在任何待辦清單上，
老實說是碰巧發現的。如果有這樣一份清單，
我們部門就可以有系統地評估哪些該先做，而不是等人來說。
第三個，內部工具做完之後要有交接跟維護機制。
我自己做完神秘客系統之後最擔心的就是這件事——
系統上線只是開始，如果沒有指定的維護窗口跟使用說明，
它遲早會變成只有我看得懂的黑箱。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以上就是我這三個月的報告，謝謝各位的聆聽。
有任何問題都歡迎提出。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048"/>
        </a:solidFill>
      </p:bgPr>
    </p:bg>
    <p:spTree>
      <p:nvGrpSpPr>
        <p:cNvPr id="1" name=""/>
        <p:cNvGrpSpPr/>
        <p:nvPr/>
      </p:nvGrpSpPr>
      <p:grpSpPr>
        <a:xfrm>
          <a:off x="0" y="0"/>
          <a:ext cx="0" cy="0"/>
          <a:chOff x="0" y="0"/>
          <a:chExt cx="0" cy="0"/>
        </a:xfrm>
      </p:grpSpPr>
      <p:sp>
        <p:nvSpPr>
          <p:cNvPr id="2" name="Text 0"/>
          <p:cNvSpPr/>
          <p:nvPr/>
        </p:nvSpPr>
        <p:spPr>
          <a:xfrm>
            <a:off x="640080" y="2057400"/>
            <a:ext cx="10911535" cy="1371600"/>
          </a:xfrm>
          <a:prstGeom prst="rect">
            <a:avLst/>
          </a:prstGeom>
          <a:noFill/>
          <a:ln/>
        </p:spPr>
        <p:txBody>
          <a:bodyPr wrap="square" lIns="0" tIns="0" rIns="0" bIns="0" rtlCol="0" anchor="ctr"/>
          <a:lstStyle/>
          <a:p>
            <a:pPr indent="0" marL="0">
              <a:buNone/>
            </a:pPr>
            <a:r>
              <a:rPr lang="en-US" sz="6200" b="1" dirty="0">
                <a:solidFill>
                  <a:srgbClr val="FFFFFF"/>
                </a:solidFill>
                <a:latin typeface="微軟正黑體" pitchFamily="34" charset="0"/>
                <a:ea typeface="微軟正黑體" pitchFamily="34" charset="-122"/>
                <a:cs typeface="微軟正黑體" pitchFamily="34" charset="-120"/>
              </a:rPr>
              <a:t>新人報告</a:t>
            </a:r>
            <a:endParaRPr lang="en-US" sz="6200" dirty="0"/>
          </a:p>
        </p:txBody>
      </p:sp>
      <p:sp>
        <p:nvSpPr>
          <p:cNvPr id="3" name="Text 1"/>
          <p:cNvSpPr/>
          <p:nvPr/>
        </p:nvSpPr>
        <p:spPr>
          <a:xfrm>
            <a:off x="640080" y="3611880"/>
            <a:ext cx="4754880" cy="566928"/>
          </a:xfrm>
          <a:prstGeom prst="roundRect">
            <a:avLst>
              <a:gd name="adj" fmla="val 16129"/>
            </a:avLst>
          </a:prstGeom>
          <a:solidFill>
            <a:srgbClr val="D6D9F0"/>
          </a:solidFill>
          <a:ln/>
        </p:spPr>
        <p:txBody>
          <a:bodyPr wrap="square" lIns="0" tIns="0" rIns="0" bIns="0" rtlCol="0" anchor="ctr"/>
          <a:lstStyle/>
          <a:p>
            <a:pPr algn="ctr" indent="0" marL="0">
              <a:buNone/>
            </a:pPr>
            <a:r>
              <a:rPr lang="en-US" sz="1900" b="1" dirty="0">
                <a:solidFill>
                  <a:srgbClr val="2B2D5C"/>
                </a:solidFill>
                <a:latin typeface="微軟正黑體" pitchFamily="34" charset="0"/>
                <a:ea typeface="微軟正黑體" pitchFamily="34" charset="-122"/>
                <a:cs typeface="微軟正黑體" pitchFamily="34" charset="-120"/>
              </a:rPr>
              <a:t>產品工程師－黃家朗</a:t>
            </a:r>
            <a:endParaRPr lang="en-US" sz="1900" dirty="0"/>
          </a:p>
        </p:txBody>
      </p:sp>
      <p:sp>
        <p:nvSpPr>
          <p:cNvPr id="4" name="Text 2"/>
          <p:cNvSpPr/>
          <p:nvPr/>
        </p:nvSpPr>
        <p:spPr>
          <a:xfrm>
            <a:off x="640080" y="4434840"/>
            <a:ext cx="10911535" cy="402336"/>
          </a:xfrm>
          <a:prstGeom prst="rect">
            <a:avLst/>
          </a:prstGeom>
          <a:noFill/>
          <a:ln/>
        </p:spPr>
        <p:txBody>
          <a:bodyPr wrap="square" lIns="0" tIns="0" rIns="0" bIns="0" rtlCol="0" anchor="ctr"/>
          <a:lstStyle/>
          <a:p>
            <a:pPr indent="0" marL="0">
              <a:buNone/>
            </a:pPr>
            <a:r>
              <a:rPr lang="en-US" sz="1500" dirty="0">
                <a:solidFill>
                  <a:srgbClr val="AEB4E4"/>
                </a:solidFill>
                <a:latin typeface="微軟正黑體" pitchFamily="34" charset="0"/>
                <a:ea typeface="微軟正黑體" pitchFamily="34" charset="-122"/>
                <a:cs typeface="微軟正黑體" pitchFamily="34" charset="-120"/>
              </a:rPr>
              <a:t>創新研發部　｜　到職日 2026.04.10</a:t>
            </a:r>
            <a:endParaRPr lang="en-US" sz="1500" dirty="0"/>
          </a:p>
        </p:txBody>
      </p:sp>
      <p:sp>
        <p:nvSpPr>
          <p:cNvPr id="5" name="Text 3"/>
          <p:cNvSpPr/>
          <p:nvPr/>
        </p:nvSpPr>
        <p:spPr>
          <a:xfrm>
            <a:off x="640080" y="5897880"/>
            <a:ext cx="10911535" cy="365760"/>
          </a:xfrm>
          <a:prstGeom prst="rect">
            <a:avLst/>
          </a:prstGeom>
          <a:noFill/>
          <a:ln/>
        </p:spPr>
        <p:txBody>
          <a:bodyPr wrap="square" lIns="0" tIns="0" rIns="0" bIns="0" rtlCol="0" anchor="ctr"/>
          <a:lstStyle/>
          <a:p>
            <a:pPr indent="0" marL="0">
              <a:buNone/>
            </a:pPr>
            <a:r>
              <a:rPr lang="en-US" sz="1250" dirty="0">
                <a:solidFill>
                  <a:srgbClr val="7A80AE"/>
                </a:solidFill>
                <a:latin typeface="微軟正黑體" pitchFamily="34" charset="0"/>
                <a:ea typeface="微軟正黑體" pitchFamily="34" charset="-122"/>
                <a:cs typeface="微軟正黑體" pitchFamily="34" charset="-120"/>
              </a:rPr>
              <a:t>程曦資訊整合股份有限公司</a:t>
            </a:r>
            <a:endParaRPr lang="en-US" sz="1250" dirty="0"/>
          </a:p>
        </p:txBody>
      </p:sp>
      <p:sp>
        <p:nvSpPr>
          <p:cNvPr id="6" name="Text 4"/>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7A80AE"/>
                </a:solidFill>
                <a:latin typeface="微軟正黑體" pitchFamily="34" charset="0"/>
                <a:ea typeface="微軟正黑體" pitchFamily="34" charset="-122"/>
                <a:cs typeface="微軟正黑體"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目錄</a:t>
            </a:r>
            <a:endParaRPr lang="en-US" sz="3200" dirty="0"/>
          </a:p>
        </p:txBody>
      </p:sp>
      <p:sp>
        <p:nvSpPr>
          <p:cNvPr id="3" name="Shape 1"/>
          <p:cNvSpPr/>
          <p:nvPr/>
        </p:nvSpPr>
        <p:spPr>
          <a:xfrm>
            <a:off x="640080" y="1764792"/>
            <a:ext cx="475488" cy="475488"/>
          </a:xfrm>
          <a:prstGeom prst="ellipse">
            <a:avLst/>
          </a:prstGeom>
          <a:solidFill>
            <a:srgbClr val="D6D9F0"/>
          </a:solidFill>
          <a:ln/>
        </p:spPr>
      </p:sp>
      <p:sp>
        <p:nvSpPr>
          <p:cNvPr id="4" name="Text 2"/>
          <p:cNvSpPr/>
          <p:nvPr/>
        </p:nvSpPr>
        <p:spPr>
          <a:xfrm>
            <a:off x="640080" y="1764792"/>
            <a:ext cx="475488" cy="475488"/>
          </a:xfrm>
          <a:prstGeom prst="rect">
            <a:avLst/>
          </a:prstGeom>
          <a:noFill/>
          <a:ln/>
        </p:spPr>
        <p:txBody>
          <a:bodyPr wrap="square" lIns="0" tIns="0" rIns="0" bIns="0" rtlCol="0" anchor="ctr"/>
          <a:lstStyle/>
          <a:p>
            <a:pPr algn="ctr" indent="0" marL="0">
              <a:buNone/>
            </a:pPr>
            <a:r>
              <a:rPr lang="en-US" sz="1600" b="1" dirty="0">
                <a:solidFill>
                  <a:srgbClr val="2B2D5C"/>
                </a:solidFill>
                <a:latin typeface="微軟正黑體" pitchFamily="34" charset="0"/>
                <a:ea typeface="微軟正黑體" pitchFamily="34" charset="-122"/>
                <a:cs typeface="微軟正黑體" pitchFamily="34" charset="-120"/>
              </a:rPr>
              <a:t>1</a:t>
            </a:r>
            <a:endParaRPr lang="en-US" sz="1600" dirty="0"/>
          </a:p>
        </p:txBody>
      </p:sp>
      <p:sp>
        <p:nvSpPr>
          <p:cNvPr id="5" name="Text 3"/>
          <p:cNvSpPr/>
          <p:nvPr/>
        </p:nvSpPr>
        <p:spPr>
          <a:xfrm>
            <a:off x="1298448" y="1691640"/>
            <a:ext cx="4541368" cy="384048"/>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自我介紹</a:t>
            </a:r>
            <a:endParaRPr lang="en-US" sz="1800" dirty="0"/>
          </a:p>
        </p:txBody>
      </p:sp>
      <p:sp>
        <p:nvSpPr>
          <p:cNvPr id="6" name="Text 4"/>
          <p:cNvSpPr/>
          <p:nvPr/>
        </p:nvSpPr>
        <p:spPr>
          <a:xfrm>
            <a:off x="1298448" y="2075688"/>
            <a:ext cx="4541368" cy="310896"/>
          </a:xfrm>
          <a:prstGeom prst="rect">
            <a:avLst/>
          </a:prstGeom>
          <a:noFill/>
          <a:ln/>
        </p:spPr>
        <p:txBody>
          <a:bodyPr wrap="square" lIns="0" tIns="0" rIns="0" bIns="0" rtlCol="0" anchor="ctr"/>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我是誰、從哪裡來</a:t>
            </a:r>
            <a:endParaRPr lang="en-US" sz="1200" dirty="0"/>
          </a:p>
        </p:txBody>
      </p:sp>
      <p:sp>
        <p:nvSpPr>
          <p:cNvPr id="7" name="Shape 5"/>
          <p:cNvSpPr/>
          <p:nvPr/>
        </p:nvSpPr>
        <p:spPr>
          <a:xfrm>
            <a:off x="640080" y="2843784"/>
            <a:ext cx="475488" cy="475488"/>
          </a:xfrm>
          <a:prstGeom prst="ellipse">
            <a:avLst/>
          </a:prstGeom>
          <a:solidFill>
            <a:srgbClr val="D6D9F0"/>
          </a:solidFill>
          <a:ln/>
        </p:spPr>
      </p:sp>
      <p:sp>
        <p:nvSpPr>
          <p:cNvPr id="8" name="Text 6"/>
          <p:cNvSpPr/>
          <p:nvPr/>
        </p:nvSpPr>
        <p:spPr>
          <a:xfrm>
            <a:off x="640080" y="2843784"/>
            <a:ext cx="475488" cy="475488"/>
          </a:xfrm>
          <a:prstGeom prst="rect">
            <a:avLst/>
          </a:prstGeom>
          <a:noFill/>
          <a:ln/>
        </p:spPr>
        <p:txBody>
          <a:bodyPr wrap="square" lIns="0" tIns="0" rIns="0" bIns="0" rtlCol="0" anchor="ctr"/>
          <a:lstStyle/>
          <a:p>
            <a:pPr algn="ctr" indent="0" marL="0">
              <a:buNone/>
            </a:pPr>
            <a:r>
              <a:rPr lang="en-US" sz="1600" b="1" dirty="0">
                <a:solidFill>
                  <a:srgbClr val="2B2D5C"/>
                </a:solidFill>
                <a:latin typeface="微軟正黑體" pitchFamily="34" charset="0"/>
                <a:ea typeface="微軟正黑體" pitchFamily="34" charset="-122"/>
                <a:cs typeface="微軟正黑體" pitchFamily="34" charset="-120"/>
              </a:rPr>
              <a:t>2</a:t>
            </a:r>
            <a:endParaRPr lang="en-US" sz="1600" dirty="0"/>
          </a:p>
        </p:txBody>
      </p:sp>
      <p:sp>
        <p:nvSpPr>
          <p:cNvPr id="9" name="Text 7"/>
          <p:cNvSpPr/>
          <p:nvPr/>
        </p:nvSpPr>
        <p:spPr>
          <a:xfrm>
            <a:off x="1298448" y="2770632"/>
            <a:ext cx="4541368" cy="384048"/>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公司精神</a:t>
            </a:r>
            <a:endParaRPr lang="en-US" sz="1800" dirty="0"/>
          </a:p>
        </p:txBody>
      </p:sp>
      <p:sp>
        <p:nvSpPr>
          <p:cNvPr id="10" name="Text 8"/>
          <p:cNvSpPr/>
          <p:nvPr/>
        </p:nvSpPr>
        <p:spPr>
          <a:xfrm>
            <a:off x="1298448" y="3154680"/>
            <a:ext cx="4541368" cy="310896"/>
          </a:xfrm>
          <a:prstGeom prst="rect">
            <a:avLst/>
          </a:prstGeom>
          <a:noFill/>
          <a:ln/>
        </p:spPr>
        <p:txBody>
          <a:bodyPr wrap="square" lIns="0" tIns="0" rIns="0" bIns="0" rtlCol="0" anchor="ctr"/>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愛、新、勤、誠與我的實踐</a:t>
            </a:r>
            <a:endParaRPr lang="en-US" sz="1200" dirty="0"/>
          </a:p>
        </p:txBody>
      </p:sp>
      <p:sp>
        <p:nvSpPr>
          <p:cNvPr id="11" name="Shape 9"/>
          <p:cNvSpPr/>
          <p:nvPr/>
        </p:nvSpPr>
        <p:spPr>
          <a:xfrm>
            <a:off x="640080" y="3922776"/>
            <a:ext cx="475488" cy="475488"/>
          </a:xfrm>
          <a:prstGeom prst="ellipse">
            <a:avLst/>
          </a:prstGeom>
          <a:solidFill>
            <a:srgbClr val="D6D9F0"/>
          </a:solidFill>
          <a:ln/>
        </p:spPr>
      </p:sp>
      <p:sp>
        <p:nvSpPr>
          <p:cNvPr id="12" name="Text 10"/>
          <p:cNvSpPr/>
          <p:nvPr/>
        </p:nvSpPr>
        <p:spPr>
          <a:xfrm>
            <a:off x="640080" y="3922776"/>
            <a:ext cx="475488" cy="475488"/>
          </a:xfrm>
          <a:prstGeom prst="rect">
            <a:avLst/>
          </a:prstGeom>
          <a:noFill/>
          <a:ln/>
        </p:spPr>
        <p:txBody>
          <a:bodyPr wrap="square" lIns="0" tIns="0" rIns="0" bIns="0" rtlCol="0" anchor="ctr"/>
          <a:lstStyle/>
          <a:p>
            <a:pPr algn="ctr" indent="0" marL="0">
              <a:buNone/>
            </a:pPr>
            <a:r>
              <a:rPr lang="en-US" sz="1600" b="1" dirty="0">
                <a:solidFill>
                  <a:srgbClr val="2B2D5C"/>
                </a:solidFill>
                <a:latin typeface="微軟正黑體" pitchFamily="34" charset="0"/>
                <a:ea typeface="微軟正黑體" pitchFamily="34" charset="-122"/>
                <a:cs typeface="微軟正黑體" pitchFamily="34" charset="-120"/>
              </a:rPr>
              <a:t>3</a:t>
            </a:r>
            <a:endParaRPr lang="en-US" sz="1600" dirty="0"/>
          </a:p>
        </p:txBody>
      </p:sp>
      <p:sp>
        <p:nvSpPr>
          <p:cNvPr id="13" name="Text 11"/>
          <p:cNvSpPr/>
          <p:nvPr/>
        </p:nvSpPr>
        <p:spPr>
          <a:xfrm>
            <a:off x="1298448" y="3849624"/>
            <a:ext cx="4541368" cy="384048"/>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我的三階段工作主軸</a:t>
            </a:r>
            <a:endParaRPr lang="en-US" sz="1800" dirty="0"/>
          </a:p>
        </p:txBody>
      </p:sp>
      <p:sp>
        <p:nvSpPr>
          <p:cNvPr id="14" name="Text 12"/>
          <p:cNvSpPr/>
          <p:nvPr/>
        </p:nvSpPr>
        <p:spPr>
          <a:xfrm>
            <a:off x="1298448" y="4233672"/>
            <a:ext cx="4541368" cy="310896"/>
          </a:xfrm>
          <a:prstGeom prst="rect">
            <a:avLst/>
          </a:prstGeom>
          <a:noFill/>
          <a:ln/>
        </p:spPr>
        <p:txBody>
          <a:bodyPr wrap="square" lIns="0" tIns="0" rIns="0" bIns="0" rtlCol="0" anchor="ctr"/>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這三個月實際在做什麼</a:t>
            </a:r>
            <a:endParaRPr lang="en-US" sz="1200" dirty="0"/>
          </a:p>
        </p:txBody>
      </p:sp>
      <p:sp>
        <p:nvSpPr>
          <p:cNvPr id="15" name="Shape 13"/>
          <p:cNvSpPr/>
          <p:nvPr/>
        </p:nvSpPr>
        <p:spPr>
          <a:xfrm>
            <a:off x="640080" y="5001768"/>
            <a:ext cx="475488" cy="475488"/>
          </a:xfrm>
          <a:prstGeom prst="ellipse">
            <a:avLst/>
          </a:prstGeom>
          <a:solidFill>
            <a:srgbClr val="D95F2B"/>
          </a:solidFill>
          <a:ln/>
        </p:spPr>
      </p:sp>
      <p:sp>
        <p:nvSpPr>
          <p:cNvPr id="16" name="Text 14"/>
          <p:cNvSpPr/>
          <p:nvPr/>
        </p:nvSpPr>
        <p:spPr>
          <a:xfrm>
            <a:off x="640080" y="500176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微軟正黑體" pitchFamily="34" charset="0"/>
                <a:ea typeface="微軟正黑體" pitchFamily="34" charset="-122"/>
                <a:cs typeface="微軟正黑體" pitchFamily="34" charset="-120"/>
              </a:rPr>
              <a:t>4</a:t>
            </a:r>
            <a:endParaRPr lang="en-US" sz="1600" dirty="0"/>
          </a:p>
        </p:txBody>
      </p:sp>
      <p:sp>
        <p:nvSpPr>
          <p:cNvPr id="17" name="Text 15"/>
          <p:cNvSpPr/>
          <p:nvPr/>
        </p:nvSpPr>
        <p:spPr>
          <a:xfrm>
            <a:off x="1298448" y="4928616"/>
            <a:ext cx="4541368" cy="384048"/>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學習與工作成果</a:t>
            </a:r>
            <a:endParaRPr lang="en-US" sz="1800" dirty="0"/>
          </a:p>
        </p:txBody>
      </p:sp>
      <p:sp>
        <p:nvSpPr>
          <p:cNvPr id="18" name="Text 16"/>
          <p:cNvSpPr/>
          <p:nvPr/>
        </p:nvSpPr>
        <p:spPr>
          <a:xfrm>
            <a:off x="1298448" y="5312664"/>
            <a:ext cx="4541368" cy="310896"/>
          </a:xfrm>
          <a:prstGeom prst="rect">
            <a:avLst/>
          </a:prstGeom>
          <a:noFill/>
          <a:ln/>
        </p:spPr>
        <p:txBody>
          <a:bodyPr wrap="square" lIns="0" tIns="0" rIns="0" bIns="0" rtlCol="0" anchor="ctr"/>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對外四門課｜對內神秘客系統</a:t>
            </a:r>
            <a:endParaRPr lang="en-US" sz="1200" dirty="0"/>
          </a:p>
        </p:txBody>
      </p:sp>
      <p:sp>
        <p:nvSpPr>
          <p:cNvPr id="19" name="Shape 17"/>
          <p:cNvSpPr/>
          <p:nvPr/>
        </p:nvSpPr>
        <p:spPr>
          <a:xfrm>
            <a:off x="6324448" y="1764792"/>
            <a:ext cx="475488" cy="475488"/>
          </a:xfrm>
          <a:prstGeom prst="ellipse">
            <a:avLst/>
          </a:prstGeom>
          <a:solidFill>
            <a:srgbClr val="D6D9F0"/>
          </a:solidFill>
          <a:ln/>
        </p:spPr>
      </p:sp>
      <p:sp>
        <p:nvSpPr>
          <p:cNvPr id="20" name="Text 18"/>
          <p:cNvSpPr/>
          <p:nvPr/>
        </p:nvSpPr>
        <p:spPr>
          <a:xfrm>
            <a:off x="6324448" y="1764792"/>
            <a:ext cx="475488" cy="475488"/>
          </a:xfrm>
          <a:prstGeom prst="rect">
            <a:avLst/>
          </a:prstGeom>
          <a:noFill/>
          <a:ln/>
        </p:spPr>
        <p:txBody>
          <a:bodyPr wrap="square" lIns="0" tIns="0" rIns="0" bIns="0" rtlCol="0" anchor="ctr"/>
          <a:lstStyle/>
          <a:p>
            <a:pPr algn="ctr" indent="0" marL="0">
              <a:buNone/>
            </a:pPr>
            <a:r>
              <a:rPr lang="en-US" sz="1600" b="1" dirty="0">
                <a:solidFill>
                  <a:srgbClr val="2B2D5C"/>
                </a:solidFill>
                <a:latin typeface="微軟正黑體" pitchFamily="34" charset="0"/>
                <a:ea typeface="微軟正黑體" pitchFamily="34" charset="-122"/>
                <a:cs typeface="微軟正黑體" pitchFamily="34" charset="-120"/>
              </a:rPr>
              <a:t>5</a:t>
            </a:r>
            <a:endParaRPr lang="en-US" sz="1600" dirty="0"/>
          </a:p>
        </p:txBody>
      </p:sp>
      <p:sp>
        <p:nvSpPr>
          <p:cNvPr id="21" name="Text 19"/>
          <p:cNvSpPr/>
          <p:nvPr/>
        </p:nvSpPr>
        <p:spPr>
          <a:xfrm>
            <a:off x="6982816" y="1691640"/>
            <a:ext cx="4541368" cy="384048"/>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學習心得</a:t>
            </a:r>
            <a:endParaRPr lang="en-US" sz="1800" dirty="0"/>
          </a:p>
        </p:txBody>
      </p:sp>
      <p:sp>
        <p:nvSpPr>
          <p:cNvPr id="22" name="Text 20"/>
          <p:cNvSpPr/>
          <p:nvPr/>
        </p:nvSpPr>
        <p:spPr>
          <a:xfrm>
            <a:off x="6982816" y="2075688"/>
            <a:ext cx="4541368" cy="310896"/>
          </a:xfrm>
          <a:prstGeom prst="rect">
            <a:avLst/>
          </a:prstGeom>
          <a:noFill/>
          <a:ln/>
        </p:spPr>
        <p:txBody>
          <a:bodyPr wrap="square" lIns="0" tIns="0" rIns="0" bIns="0" rtlCol="0" anchor="ctr"/>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收穫、成就感與挑戰</a:t>
            </a:r>
            <a:endParaRPr lang="en-US" sz="1200" dirty="0"/>
          </a:p>
        </p:txBody>
      </p:sp>
      <p:sp>
        <p:nvSpPr>
          <p:cNvPr id="23" name="Shape 21"/>
          <p:cNvSpPr/>
          <p:nvPr/>
        </p:nvSpPr>
        <p:spPr>
          <a:xfrm>
            <a:off x="6324448" y="2843784"/>
            <a:ext cx="475488" cy="475488"/>
          </a:xfrm>
          <a:prstGeom prst="ellipse">
            <a:avLst/>
          </a:prstGeom>
          <a:solidFill>
            <a:srgbClr val="D6D9F0"/>
          </a:solidFill>
          <a:ln/>
        </p:spPr>
      </p:sp>
      <p:sp>
        <p:nvSpPr>
          <p:cNvPr id="24" name="Text 22"/>
          <p:cNvSpPr/>
          <p:nvPr/>
        </p:nvSpPr>
        <p:spPr>
          <a:xfrm>
            <a:off x="6324448" y="2843784"/>
            <a:ext cx="475488" cy="475488"/>
          </a:xfrm>
          <a:prstGeom prst="rect">
            <a:avLst/>
          </a:prstGeom>
          <a:noFill/>
          <a:ln/>
        </p:spPr>
        <p:txBody>
          <a:bodyPr wrap="square" lIns="0" tIns="0" rIns="0" bIns="0" rtlCol="0" anchor="ctr"/>
          <a:lstStyle/>
          <a:p>
            <a:pPr algn="ctr" indent="0" marL="0">
              <a:buNone/>
            </a:pPr>
            <a:r>
              <a:rPr lang="en-US" sz="1600" b="1" dirty="0">
                <a:solidFill>
                  <a:srgbClr val="2B2D5C"/>
                </a:solidFill>
                <a:latin typeface="微軟正黑體" pitchFamily="34" charset="0"/>
                <a:ea typeface="微軟正黑體" pitchFamily="34" charset="-122"/>
                <a:cs typeface="微軟正黑體" pitchFamily="34" charset="-120"/>
              </a:rPr>
              <a:t>6</a:t>
            </a:r>
            <a:endParaRPr lang="en-US" sz="1600" dirty="0"/>
          </a:p>
        </p:txBody>
      </p:sp>
      <p:sp>
        <p:nvSpPr>
          <p:cNvPr id="25" name="Text 23"/>
          <p:cNvSpPr/>
          <p:nvPr/>
        </p:nvSpPr>
        <p:spPr>
          <a:xfrm>
            <a:off x="6982816" y="2770632"/>
            <a:ext cx="4541368" cy="384048"/>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職涯規劃</a:t>
            </a:r>
            <a:endParaRPr lang="en-US" sz="1800" dirty="0"/>
          </a:p>
        </p:txBody>
      </p:sp>
      <p:sp>
        <p:nvSpPr>
          <p:cNvPr id="26" name="Text 24"/>
          <p:cNvSpPr/>
          <p:nvPr/>
        </p:nvSpPr>
        <p:spPr>
          <a:xfrm>
            <a:off x="6982816" y="3154680"/>
            <a:ext cx="4541368" cy="310896"/>
          </a:xfrm>
          <a:prstGeom prst="rect">
            <a:avLst/>
          </a:prstGeom>
          <a:noFill/>
          <a:ln/>
        </p:spPr>
        <p:txBody>
          <a:bodyPr wrap="square" lIns="0" tIns="0" rIns="0" bIns="0" rtlCol="0" anchor="ctr"/>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短、中、長期目標</a:t>
            </a:r>
            <a:endParaRPr lang="en-US" sz="1200" dirty="0"/>
          </a:p>
        </p:txBody>
      </p:sp>
      <p:sp>
        <p:nvSpPr>
          <p:cNvPr id="27" name="Shape 25"/>
          <p:cNvSpPr/>
          <p:nvPr/>
        </p:nvSpPr>
        <p:spPr>
          <a:xfrm>
            <a:off x="6324448" y="3922776"/>
            <a:ext cx="475488" cy="475488"/>
          </a:xfrm>
          <a:prstGeom prst="ellipse">
            <a:avLst/>
          </a:prstGeom>
          <a:solidFill>
            <a:srgbClr val="D6D9F0"/>
          </a:solidFill>
          <a:ln/>
        </p:spPr>
      </p:sp>
      <p:sp>
        <p:nvSpPr>
          <p:cNvPr id="28" name="Text 26"/>
          <p:cNvSpPr/>
          <p:nvPr/>
        </p:nvSpPr>
        <p:spPr>
          <a:xfrm>
            <a:off x="6324448" y="3922776"/>
            <a:ext cx="475488" cy="475488"/>
          </a:xfrm>
          <a:prstGeom prst="rect">
            <a:avLst/>
          </a:prstGeom>
          <a:noFill/>
          <a:ln/>
        </p:spPr>
        <p:txBody>
          <a:bodyPr wrap="square" lIns="0" tIns="0" rIns="0" bIns="0" rtlCol="0" anchor="ctr"/>
          <a:lstStyle/>
          <a:p>
            <a:pPr algn="ctr" indent="0" marL="0">
              <a:buNone/>
            </a:pPr>
            <a:r>
              <a:rPr lang="en-US" sz="1600" b="1" dirty="0">
                <a:solidFill>
                  <a:srgbClr val="2B2D5C"/>
                </a:solidFill>
                <a:latin typeface="微軟正黑體" pitchFamily="34" charset="0"/>
                <a:ea typeface="微軟正黑體" pitchFamily="34" charset="-122"/>
                <a:cs typeface="微軟正黑體" pitchFamily="34" charset="-120"/>
              </a:rPr>
              <a:t>7</a:t>
            </a:r>
            <a:endParaRPr lang="en-US" sz="1600" dirty="0"/>
          </a:p>
        </p:txBody>
      </p:sp>
      <p:sp>
        <p:nvSpPr>
          <p:cNvPr id="29" name="Text 27"/>
          <p:cNvSpPr/>
          <p:nvPr/>
        </p:nvSpPr>
        <p:spPr>
          <a:xfrm>
            <a:off x="6982816" y="3849624"/>
            <a:ext cx="4541368" cy="384048"/>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對公司的建議</a:t>
            </a:r>
            <a:endParaRPr lang="en-US" sz="1800" dirty="0"/>
          </a:p>
        </p:txBody>
      </p:sp>
      <p:sp>
        <p:nvSpPr>
          <p:cNvPr id="30" name="Text 28"/>
          <p:cNvSpPr/>
          <p:nvPr/>
        </p:nvSpPr>
        <p:spPr>
          <a:xfrm>
            <a:off x="6982816" y="4233672"/>
            <a:ext cx="4541368" cy="310896"/>
          </a:xfrm>
          <a:prstGeom prst="rect">
            <a:avLst/>
          </a:prstGeom>
          <a:noFill/>
          <a:ln/>
        </p:spPr>
        <p:txBody>
          <a:bodyPr wrap="square" lIns="0" tIns="0" rIns="0" bIns="0" rtlCol="0" anchor="ctr"/>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新人入職與知識傳承</a:t>
            </a:r>
            <a:endParaRPr lang="en-US" sz="1200" dirty="0"/>
          </a:p>
        </p:txBody>
      </p:sp>
      <p:sp>
        <p:nvSpPr>
          <p:cNvPr id="31" name="Text 29"/>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一、自我介紹</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自我介紹</a:t>
            </a:r>
            <a:endParaRPr lang="en-US" sz="3200" dirty="0"/>
          </a:p>
        </p:txBody>
      </p:sp>
      <p:sp>
        <p:nvSpPr>
          <p:cNvPr id="4" name="Shape 2"/>
          <p:cNvSpPr/>
          <p:nvPr/>
        </p:nvSpPr>
        <p:spPr>
          <a:xfrm>
            <a:off x="640080" y="1874520"/>
            <a:ext cx="5272888" cy="1874520"/>
          </a:xfrm>
          <a:prstGeom prst="roundRect">
            <a:avLst>
              <a:gd name="adj" fmla="val 2927"/>
            </a:avLst>
          </a:prstGeom>
          <a:solidFill>
            <a:srgbClr val="D6D9F0"/>
          </a:solidFill>
          <a:ln w="12700">
            <a:solidFill>
              <a:srgbClr val="FFFFFF"/>
            </a:solidFill>
            <a:prstDash val="solid"/>
          </a:ln>
          <a:effectLst>
            <a:outerShdw sx="100000" sy="100000" kx="0" ky="0" algn="bl" rotWithShape="0" blurRad="101600" dist="25400" dir="5400000">
              <a:srgbClr val="9AA0BF">
                <a:alpha val="22000"/>
              </a:srgbClr>
            </a:outerShdw>
          </a:effectLst>
        </p:spPr>
      </p:sp>
      <p:sp>
        <p:nvSpPr>
          <p:cNvPr id="5" name="Text 3"/>
          <p:cNvSpPr/>
          <p:nvPr/>
        </p:nvSpPr>
        <p:spPr>
          <a:xfrm>
            <a:off x="932688" y="2093976"/>
            <a:ext cx="4687672" cy="384048"/>
          </a:xfrm>
          <a:prstGeom prst="rect">
            <a:avLst/>
          </a:prstGeom>
          <a:noFill/>
          <a:ln/>
        </p:spPr>
        <p:txBody>
          <a:bodyPr wrap="square" lIns="0" tIns="0" rIns="0" bIns="0" rtlCol="0" anchor="ctr"/>
          <a:lstStyle/>
          <a:p>
            <a:pPr indent="0" marL="0">
              <a:buNone/>
            </a:pPr>
            <a:r>
              <a:rPr lang="en-US" sz="1700" b="1" dirty="0">
                <a:solidFill>
                  <a:srgbClr val="2B2D5C"/>
                </a:solidFill>
                <a:latin typeface="微軟正黑體" pitchFamily="34" charset="0"/>
                <a:ea typeface="微軟正黑體" pitchFamily="34" charset="-122"/>
                <a:cs typeface="微軟正黑體" pitchFamily="34" charset="-120"/>
              </a:rPr>
              <a:t>學歷</a:t>
            </a:r>
            <a:endParaRPr lang="en-US" sz="1700" dirty="0"/>
          </a:p>
        </p:txBody>
      </p:sp>
      <p:sp>
        <p:nvSpPr>
          <p:cNvPr id="6" name="Text 4"/>
          <p:cNvSpPr/>
          <p:nvPr/>
        </p:nvSpPr>
        <p:spPr>
          <a:xfrm>
            <a:off x="932688" y="2532888"/>
            <a:ext cx="4687672" cy="978408"/>
          </a:xfrm>
          <a:prstGeom prst="rect">
            <a:avLst/>
          </a:prstGeom>
          <a:noFill/>
          <a:ln/>
        </p:spPr>
        <p:txBody>
          <a:bodyPr wrap="square" lIns="0" tIns="0" rIns="0" bIns="0" rtlCol="0" anchor="t"/>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【待補：學校／科系／畢業年】</a:t>
            </a:r>
            <a:endParaRPr lang="en-US" sz="1350" dirty="0"/>
          </a:p>
        </p:txBody>
      </p:sp>
      <p:sp>
        <p:nvSpPr>
          <p:cNvPr id="7" name="Shape 5"/>
          <p:cNvSpPr/>
          <p:nvPr/>
        </p:nvSpPr>
        <p:spPr>
          <a:xfrm>
            <a:off x="6278728" y="1874520"/>
            <a:ext cx="5272888" cy="1874520"/>
          </a:xfrm>
          <a:prstGeom prst="roundRect">
            <a:avLst>
              <a:gd name="adj" fmla="val 2927"/>
            </a:avLst>
          </a:prstGeom>
          <a:solidFill>
            <a:srgbClr val="ECEEF8"/>
          </a:solidFill>
          <a:ln w="12700">
            <a:solidFill>
              <a:srgbClr val="FFFFFF"/>
            </a:solidFill>
            <a:prstDash val="solid"/>
          </a:ln>
          <a:effectLst>
            <a:outerShdw sx="100000" sy="100000" kx="0" ky="0" algn="bl" rotWithShape="0" blurRad="101600" dist="25400" dir="5400000">
              <a:srgbClr val="9AA0BF">
                <a:alpha val="22000"/>
              </a:srgbClr>
            </a:outerShdw>
          </a:effectLst>
        </p:spPr>
      </p:sp>
      <p:sp>
        <p:nvSpPr>
          <p:cNvPr id="8" name="Text 6"/>
          <p:cNvSpPr/>
          <p:nvPr/>
        </p:nvSpPr>
        <p:spPr>
          <a:xfrm>
            <a:off x="6571336" y="2093976"/>
            <a:ext cx="4687672" cy="384048"/>
          </a:xfrm>
          <a:prstGeom prst="rect">
            <a:avLst/>
          </a:prstGeom>
          <a:noFill/>
          <a:ln/>
        </p:spPr>
        <p:txBody>
          <a:bodyPr wrap="square" lIns="0" tIns="0" rIns="0" bIns="0" rtlCol="0" anchor="ctr"/>
          <a:lstStyle/>
          <a:p>
            <a:pPr indent="0" marL="0">
              <a:buNone/>
            </a:pPr>
            <a:r>
              <a:rPr lang="en-US" sz="1700" b="1" dirty="0">
                <a:solidFill>
                  <a:srgbClr val="2B2D5C"/>
                </a:solidFill>
                <a:latin typeface="微軟正黑體" pitchFamily="34" charset="0"/>
                <a:ea typeface="微軟正黑體" pitchFamily="34" charset="-122"/>
                <a:cs typeface="微軟正黑體" pitchFamily="34" charset="-120"/>
              </a:rPr>
              <a:t>到職前經歷</a:t>
            </a:r>
            <a:endParaRPr lang="en-US" sz="1700" dirty="0"/>
          </a:p>
        </p:txBody>
      </p:sp>
      <p:sp>
        <p:nvSpPr>
          <p:cNvPr id="9" name="Text 7"/>
          <p:cNvSpPr/>
          <p:nvPr/>
        </p:nvSpPr>
        <p:spPr>
          <a:xfrm>
            <a:off x="6571336" y="2532888"/>
            <a:ext cx="4687672" cy="978408"/>
          </a:xfrm>
          <a:prstGeom prst="rect">
            <a:avLst/>
          </a:prstGeom>
          <a:noFill/>
          <a:ln/>
        </p:spPr>
        <p:txBody>
          <a:bodyPr wrap="square" lIns="0" tIns="0" rIns="0" bIns="0" rtlCol="0" anchor="t"/>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【待補：公司／職稱】</a:t>
            </a:r>
            <a:endParaRPr lang="en-US" sz="1350" dirty="0"/>
          </a:p>
        </p:txBody>
      </p:sp>
      <p:sp>
        <p:nvSpPr>
          <p:cNvPr id="10" name="Shape 8"/>
          <p:cNvSpPr/>
          <p:nvPr/>
        </p:nvSpPr>
        <p:spPr>
          <a:xfrm>
            <a:off x="640080" y="3977640"/>
            <a:ext cx="5272888" cy="1874520"/>
          </a:xfrm>
          <a:prstGeom prst="roundRect">
            <a:avLst>
              <a:gd name="adj" fmla="val 2927"/>
            </a:avLst>
          </a:prstGeom>
          <a:solidFill>
            <a:srgbClr val="ECEEF8"/>
          </a:solidFill>
          <a:ln w="12700">
            <a:solidFill>
              <a:srgbClr val="FFFFFF"/>
            </a:solidFill>
            <a:prstDash val="solid"/>
          </a:ln>
          <a:effectLst>
            <a:outerShdw sx="100000" sy="100000" kx="0" ky="0" algn="bl" rotWithShape="0" blurRad="101600" dist="25400" dir="5400000">
              <a:srgbClr val="9AA0BF">
                <a:alpha val="22000"/>
              </a:srgbClr>
            </a:outerShdw>
          </a:effectLst>
        </p:spPr>
      </p:sp>
      <p:sp>
        <p:nvSpPr>
          <p:cNvPr id="11" name="Text 9"/>
          <p:cNvSpPr/>
          <p:nvPr/>
        </p:nvSpPr>
        <p:spPr>
          <a:xfrm>
            <a:off x="932688" y="4197096"/>
            <a:ext cx="4687672" cy="384048"/>
          </a:xfrm>
          <a:prstGeom prst="rect">
            <a:avLst/>
          </a:prstGeom>
          <a:noFill/>
          <a:ln/>
        </p:spPr>
        <p:txBody>
          <a:bodyPr wrap="square" lIns="0" tIns="0" rIns="0" bIns="0" rtlCol="0" anchor="ctr"/>
          <a:lstStyle/>
          <a:p>
            <a:pPr indent="0" marL="0">
              <a:buNone/>
            </a:pPr>
            <a:r>
              <a:rPr lang="en-US" sz="1700" b="1" dirty="0">
                <a:solidFill>
                  <a:srgbClr val="2B2D5C"/>
                </a:solidFill>
                <a:latin typeface="微軟正黑體" pitchFamily="34" charset="0"/>
                <a:ea typeface="微軟正黑體" pitchFamily="34" charset="-122"/>
                <a:cs typeface="微軟正黑體" pitchFamily="34" charset="-120"/>
              </a:rPr>
              <a:t>現職</a:t>
            </a:r>
            <a:endParaRPr lang="en-US" sz="1700" dirty="0"/>
          </a:p>
        </p:txBody>
      </p:sp>
      <p:sp>
        <p:nvSpPr>
          <p:cNvPr id="12" name="Text 10"/>
          <p:cNvSpPr/>
          <p:nvPr/>
        </p:nvSpPr>
        <p:spPr>
          <a:xfrm>
            <a:off x="932688" y="4636008"/>
            <a:ext cx="4687672" cy="978408"/>
          </a:xfrm>
          <a:prstGeom prst="rect">
            <a:avLst/>
          </a:prstGeom>
          <a:noFill/>
          <a:ln/>
        </p:spPr>
        <p:txBody>
          <a:bodyPr wrap="square" lIns="0" tIns="0" rIns="0" bIns="0" rtlCol="0" anchor="t"/>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程曦資訊整合股份有限公司</a:t>
            </a:r>
            <a:endParaRPr lang="en-US" sz="1350" dirty="0"/>
          </a:p>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創新研發部｜產品工程師</a:t>
            </a:r>
            <a:endParaRPr lang="en-US" sz="1350" dirty="0"/>
          </a:p>
        </p:txBody>
      </p:sp>
      <p:sp>
        <p:nvSpPr>
          <p:cNvPr id="13" name="Shape 11"/>
          <p:cNvSpPr/>
          <p:nvPr/>
        </p:nvSpPr>
        <p:spPr>
          <a:xfrm>
            <a:off x="6278728" y="3977640"/>
            <a:ext cx="5272888" cy="1874520"/>
          </a:xfrm>
          <a:prstGeom prst="roundRect">
            <a:avLst>
              <a:gd name="adj" fmla="val 2927"/>
            </a:avLst>
          </a:prstGeom>
          <a:solidFill>
            <a:srgbClr val="F7F1CE"/>
          </a:solidFill>
          <a:ln w="12700">
            <a:solidFill>
              <a:srgbClr val="FFFFFF"/>
            </a:solidFill>
            <a:prstDash val="solid"/>
          </a:ln>
          <a:effectLst>
            <a:outerShdw sx="100000" sy="100000" kx="0" ky="0" algn="bl" rotWithShape="0" blurRad="101600" dist="25400" dir="5400000">
              <a:srgbClr val="9AA0BF">
                <a:alpha val="22000"/>
              </a:srgbClr>
            </a:outerShdw>
          </a:effectLst>
        </p:spPr>
      </p:sp>
      <p:sp>
        <p:nvSpPr>
          <p:cNvPr id="14" name="Text 12"/>
          <p:cNvSpPr/>
          <p:nvPr/>
        </p:nvSpPr>
        <p:spPr>
          <a:xfrm>
            <a:off x="6571336" y="4197096"/>
            <a:ext cx="4687672" cy="384048"/>
          </a:xfrm>
          <a:prstGeom prst="rect">
            <a:avLst/>
          </a:prstGeom>
          <a:noFill/>
          <a:ln/>
        </p:spPr>
        <p:txBody>
          <a:bodyPr wrap="square" lIns="0" tIns="0" rIns="0" bIns="0" rtlCol="0" anchor="ctr"/>
          <a:lstStyle/>
          <a:p>
            <a:pPr indent="0" marL="0">
              <a:buNone/>
            </a:pPr>
            <a:r>
              <a:rPr lang="en-US" sz="1700" b="1" dirty="0">
                <a:solidFill>
                  <a:srgbClr val="2B2D5C"/>
                </a:solidFill>
                <a:latin typeface="微軟正黑體" pitchFamily="34" charset="0"/>
                <a:ea typeface="微軟正黑體" pitchFamily="34" charset="-122"/>
                <a:cs typeface="微軟正黑體" pitchFamily="34" charset="-120"/>
              </a:rPr>
              <a:t>興趣</a:t>
            </a:r>
            <a:endParaRPr lang="en-US" sz="1700" dirty="0"/>
          </a:p>
        </p:txBody>
      </p:sp>
      <p:sp>
        <p:nvSpPr>
          <p:cNvPr id="15" name="Text 13"/>
          <p:cNvSpPr/>
          <p:nvPr/>
        </p:nvSpPr>
        <p:spPr>
          <a:xfrm>
            <a:off x="6571336" y="4636008"/>
            <a:ext cx="4687672" cy="978408"/>
          </a:xfrm>
          <a:prstGeom prst="rect">
            <a:avLst/>
          </a:prstGeom>
          <a:noFill/>
          <a:ln/>
        </p:spPr>
        <p:txBody>
          <a:bodyPr wrap="square" lIns="0" tIns="0" rIns="0" bIns="0" rtlCol="0" anchor="t"/>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【待補：興趣】</a:t>
            </a:r>
            <a:endParaRPr lang="en-US" sz="1350" dirty="0"/>
          </a:p>
        </p:txBody>
      </p:sp>
      <p:sp>
        <p:nvSpPr>
          <p:cNvPr id="16" name="Text 14"/>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一、自我介紹</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工作歷程</a:t>
            </a:r>
            <a:endParaRPr lang="en-US" sz="3200" dirty="0"/>
          </a:p>
        </p:txBody>
      </p:sp>
      <p:sp>
        <p:nvSpPr>
          <p:cNvPr id="4" name="Shape 2"/>
          <p:cNvSpPr/>
          <p:nvPr/>
        </p:nvSpPr>
        <p:spPr>
          <a:xfrm>
            <a:off x="914400" y="3063240"/>
            <a:ext cx="10362895" cy="41148"/>
          </a:xfrm>
          <a:prstGeom prst="rect">
            <a:avLst/>
          </a:prstGeom>
          <a:solidFill>
            <a:srgbClr val="D6D9F0"/>
          </a:solidFill>
          <a:ln/>
        </p:spPr>
      </p:sp>
      <p:sp>
        <p:nvSpPr>
          <p:cNvPr id="5" name="Shape 3"/>
          <p:cNvSpPr/>
          <p:nvPr/>
        </p:nvSpPr>
        <p:spPr>
          <a:xfrm>
            <a:off x="2779776" y="2926080"/>
            <a:ext cx="310896" cy="310896"/>
          </a:xfrm>
          <a:prstGeom prst="ellipse">
            <a:avLst/>
          </a:prstGeom>
          <a:solidFill>
            <a:srgbClr val="AEB4E4"/>
          </a:solidFill>
          <a:ln/>
        </p:spPr>
      </p:sp>
      <p:sp>
        <p:nvSpPr>
          <p:cNvPr id="6" name="Text 4"/>
          <p:cNvSpPr/>
          <p:nvPr/>
        </p:nvSpPr>
        <p:spPr>
          <a:xfrm>
            <a:off x="1097280" y="2240280"/>
            <a:ext cx="3657600" cy="365760"/>
          </a:xfrm>
          <a:prstGeom prst="rect">
            <a:avLst/>
          </a:prstGeom>
          <a:noFill/>
          <a:ln/>
        </p:spPr>
        <p:txBody>
          <a:bodyPr wrap="square" lIns="0" tIns="0" rIns="0" bIns="0" rtlCol="0" anchor="ctr"/>
          <a:lstStyle/>
          <a:p>
            <a:pPr algn="ctr" indent="0" marL="0">
              <a:buNone/>
            </a:pPr>
            <a:r>
              <a:rPr lang="en-US" sz="1700" b="1" dirty="0">
                <a:solidFill>
                  <a:srgbClr val="2B2D5C"/>
                </a:solidFill>
                <a:latin typeface="微軟正黑體" pitchFamily="34" charset="0"/>
                <a:ea typeface="微軟正黑體" pitchFamily="34" charset="-122"/>
                <a:cs typeface="微軟正黑體" pitchFamily="34" charset="-120"/>
              </a:rPr>
              <a:t>【待補：年月】</a:t>
            </a:r>
            <a:endParaRPr lang="en-US" sz="1700" dirty="0"/>
          </a:p>
        </p:txBody>
      </p:sp>
      <p:sp>
        <p:nvSpPr>
          <p:cNvPr id="7" name="Text 5"/>
          <p:cNvSpPr/>
          <p:nvPr/>
        </p:nvSpPr>
        <p:spPr>
          <a:xfrm>
            <a:off x="731520" y="3520440"/>
            <a:ext cx="4389120" cy="402336"/>
          </a:xfrm>
          <a:prstGeom prst="rect">
            <a:avLst/>
          </a:prstGeom>
          <a:noFill/>
          <a:ln/>
        </p:spPr>
        <p:txBody>
          <a:bodyPr wrap="square" lIns="0" tIns="0" rIns="0" bIns="0" rtlCol="0" anchor="ctr"/>
          <a:lstStyle/>
          <a:p>
            <a:pPr algn="ctr" indent="0" marL="0">
              <a:buNone/>
            </a:pPr>
            <a:r>
              <a:rPr lang="en-US" sz="1500" b="1" dirty="0">
                <a:solidFill>
                  <a:srgbClr val="2B2D5C"/>
                </a:solidFill>
                <a:latin typeface="微軟正黑體" pitchFamily="34" charset="0"/>
                <a:ea typeface="微軟正黑體" pitchFamily="34" charset="-122"/>
                <a:cs typeface="微軟正黑體" pitchFamily="34" charset="-120"/>
              </a:rPr>
              <a:t>【待補：前職公司】</a:t>
            </a:r>
            <a:endParaRPr lang="en-US" sz="1500" dirty="0"/>
          </a:p>
        </p:txBody>
      </p:sp>
      <p:sp>
        <p:nvSpPr>
          <p:cNvPr id="8" name="Text 6"/>
          <p:cNvSpPr/>
          <p:nvPr/>
        </p:nvSpPr>
        <p:spPr>
          <a:xfrm>
            <a:off x="731520" y="3913632"/>
            <a:ext cx="4389120" cy="365760"/>
          </a:xfrm>
          <a:prstGeom prst="rect">
            <a:avLst/>
          </a:prstGeom>
          <a:noFill/>
          <a:ln/>
        </p:spPr>
        <p:txBody>
          <a:bodyPr wrap="square" lIns="0" tIns="0" rIns="0" bIns="0" rtlCol="0" anchor="ctr"/>
          <a:lstStyle/>
          <a:p>
            <a:pPr algn="ctr" indent="0" marL="0">
              <a:buNone/>
            </a:pPr>
            <a:r>
              <a:rPr lang="en-US" sz="1250" dirty="0">
                <a:solidFill>
                  <a:srgbClr val="6E7191"/>
                </a:solidFill>
                <a:latin typeface="微軟正黑體" pitchFamily="34" charset="0"/>
                <a:ea typeface="微軟正黑體" pitchFamily="34" charset="-122"/>
                <a:cs typeface="微軟正黑體" pitchFamily="34" charset="-120"/>
              </a:rPr>
              <a:t>【待補：職稱】</a:t>
            </a:r>
            <a:endParaRPr lang="en-US" sz="1250" dirty="0"/>
          </a:p>
        </p:txBody>
      </p:sp>
      <p:sp>
        <p:nvSpPr>
          <p:cNvPr id="9" name="Shape 7"/>
          <p:cNvSpPr/>
          <p:nvPr/>
        </p:nvSpPr>
        <p:spPr>
          <a:xfrm>
            <a:off x="8631936" y="2926080"/>
            <a:ext cx="310896" cy="310896"/>
          </a:xfrm>
          <a:prstGeom prst="ellipse">
            <a:avLst/>
          </a:prstGeom>
          <a:solidFill>
            <a:srgbClr val="D95F2B"/>
          </a:solidFill>
          <a:ln/>
        </p:spPr>
      </p:sp>
      <p:sp>
        <p:nvSpPr>
          <p:cNvPr id="10" name="Text 8"/>
          <p:cNvSpPr/>
          <p:nvPr/>
        </p:nvSpPr>
        <p:spPr>
          <a:xfrm>
            <a:off x="6949440" y="2240280"/>
            <a:ext cx="3657600" cy="365760"/>
          </a:xfrm>
          <a:prstGeom prst="rect">
            <a:avLst/>
          </a:prstGeom>
          <a:noFill/>
          <a:ln/>
        </p:spPr>
        <p:txBody>
          <a:bodyPr wrap="square" lIns="0" tIns="0" rIns="0" bIns="0" rtlCol="0" anchor="ctr"/>
          <a:lstStyle/>
          <a:p>
            <a:pPr algn="ctr" indent="0" marL="0">
              <a:buNone/>
            </a:pPr>
            <a:r>
              <a:rPr lang="en-US" sz="1700" b="1" dirty="0">
                <a:solidFill>
                  <a:srgbClr val="2B2D5C"/>
                </a:solidFill>
                <a:latin typeface="微軟正黑體" pitchFamily="34" charset="0"/>
                <a:ea typeface="微軟正黑體" pitchFamily="34" charset="-122"/>
                <a:cs typeface="微軟正黑體" pitchFamily="34" charset="-120"/>
              </a:rPr>
              <a:t>2026.04</a:t>
            </a:r>
            <a:endParaRPr lang="en-US" sz="1700" dirty="0"/>
          </a:p>
        </p:txBody>
      </p:sp>
      <p:sp>
        <p:nvSpPr>
          <p:cNvPr id="11" name="Text 9"/>
          <p:cNvSpPr/>
          <p:nvPr/>
        </p:nvSpPr>
        <p:spPr>
          <a:xfrm>
            <a:off x="6583680" y="3520440"/>
            <a:ext cx="4389120" cy="402336"/>
          </a:xfrm>
          <a:prstGeom prst="rect">
            <a:avLst/>
          </a:prstGeom>
          <a:noFill/>
          <a:ln/>
        </p:spPr>
        <p:txBody>
          <a:bodyPr wrap="square" lIns="0" tIns="0" rIns="0" bIns="0" rtlCol="0" anchor="ctr"/>
          <a:lstStyle/>
          <a:p>
            <a:pPr algn="ctr" indent="0" marL="0">
              <a:buNone/>
            </a:pPr>
            <a:r>
              <a:rPr lang="en-US" sz="1500" b="1" dirty="0">
                <a:solidFill>
                  <a:srgbClr val="2B2D5C"/>
                </a:solidFill>
                <a:latin typeface="微軟正黑體" pitchFamily="34" charset="0"/>
                <a:ea typeface="微軟正黑體" pitchFamily="34" charset="-122"/>
                <a:cs typeface="微軟正黑體" pitchFamily="34" charset="-120"/>
              </a:rPr>
              <a:t>程曦資訊整合股份有限公司</a:t>
            </a:r>
            <a:endParaRPr lang="en-US" sz="1500" dirty="0"/>
          </a:p>
        </p:txBody>
      </p:sp>
      <p:sp>
        <p:nvSpPr>
          <p:cNvPr id="12" name="Text 10"/>
          <p:cNvSpPr/>
          <p:nvPr/>
        </p:nvSpPr>
        <p:spPr>
          <a:xfrm>
            <a:off x="6583680" y="3913632"/>
            <a:ext cx="4389120" cy="365760"/>
          </a:xfrm>
          <a:prstGeom prst="rect">
            <a:avLst/>
          </a:prstGeom>
          <a:noFill/>
          <a:ln/>
        </p:spPr>
        <p:txBody>
          <a:bodyPr wrap="square" lIns="0" tIns="0" rIns="0" bIns="0" rtlCol="0" anchor="ctr"/>
          <a:lstStyle/>
          <a:p>
            <a:pPr algn="ctr" indent="0" marL="0">
              <a:buNone/>
            </a:pPr>
            <a:r>
              <a:rPr lang="en-US" sz="1250" dirty="0">
                <a:solidFill>
                  <a:srgbClr val="6E7191"/>
                </a:solidFill>
                <a:latin typeface="微軟正黑體" pitchFamily="34" charset="0"/>
                <a:ea typeface="微軟正黑體" pitchFamily="34" charset="-122"/>
                <a:cs typeface="微軟正黑體" pitchFamily="34" charset="-120"/>
              </a:rPr>
              <a:t>創新研發部｜產品工程師</a:t>
            </a:r>
            <a:endParaRPr lang="en-US" sz="1250" dirty="0"/>
          </a:p>
        </p:txBody>
      </p:sp>
      <p:sp>
        <p:nvSpPr>
          <p:cNvPr id="13" name="Text 11"/>
          <p:cNvSpPr/>
          <p:nvPr/>
        </p:nvSpPr>
        <p:spPr>
          <a:xfrm>
            <a:off x="640080" y="4983480"/>
            <a:ext cx="10911535" cy="621792"/>
          </a:xfrm>
          <a:prstGeom prst="roundRect">
            <a:avLst>
              <a:gd name="adj" fmla="val 11765"/>
            </a:avLst>
          </a:prstGeom>
          <a:solidFill>
            <a:srgbClr val="F7F1CE"/>
          </a:solidFill>
          <a:ln/>
        </p:spPr>
        <p:txBody>
          <a:bodyPr wrap="square" lIns="0" tIns="0" rIns="0" bIns="0" rtlCol="0" anchor="ctr"/>
          <a:lstStyle/>
          <a:p>
            <a:pPr algn="ctr" indent="0" marL="0">
              <a:buNone/>
            </a:pPr>
            <a:r>
              <a:rPr lang="en-US" sz="1500" b="1" dirty="0">
                <a:solidFill>
                  <a:srgbClr val="2B2D5C"/>
                </a:solidFill>
                <a:latin typeface="微軟正黑體" pitchFamily="34" charset="0"/>
                <a:ea typeface="微軟正黑體" pitchFamily="34" charset="-122"/>
                <a:cs typeface="微軟正黑體" pitchFamily="34" charset="-120"/>
              </a:rPr>
              <a:t>轉職動機：從【待補：前職領域】轉進 AI／教育訓練領域</a:t>
            </a:r>
            <a:endParaRPr lang="en-US" sz="1500" dirty="0"/>
          </a:p>
        </p:txBody>
      </p:sp>
      <p:sp>
        <p:nvSpPr>
          <p:cNvPr id="14" name="Text 12"/>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一、自我介紹</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個人特質</a:t>
            </a:r>
            <a:endParaRPr lang="en-US" sz="3200" dirty="0"/>
          </a:p>
        </p:txBody>
      </p:sp>
      <p:graphicFrame>
        <p:nvGraphicFramePr>
          <p:cNvPr id="4" name="Chart 0" descr=""/>
          <p:cNvGraphicFramePr/>
          <p:nvPr/>
        </p:nvGraphicFramePr>
        <p:xfrm>
          <a:off x="411480" y="1600200"/>
          <a:ext cx="502920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06440" y="1874520"/>
            <a:ext cx="237744" cy="237744"/>
          </a:xfrm>
          <a:prstGeom prst="ellipse">
            <a:avLst/>
          </a:prstGeom>
          <a:solidFill>
            <a:srgbClr val="2B2D5C"/>
          </a:solidFill>
          <a:ln/>
        </p:spPr>
      </p:sp>
      <p:sp>
        <p:nvSpPr>
          <p:cNvPr id="6" name="Text 3"/>
          <p:cNvSpPr/>
          <p:nvPr/>
        </p:nvSpPr>
        <p:spPr>
          <a:xfrm>
            <a:off x="6190488" y="1783080"/>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解決力　</a:t>
            </a:r>
            <a:pPr indent="0" marL="0">
              <a:buNone/>
            </a:pPr>
            <a:r>
              <a:rPr lang="en-US" sz="1300" dirty="0">
                <a:solidFill>
                  <a:srgbClr val="6E7191"/>
                </a:solidFill>
                <a:latin typeface="微軟正黑體" pitchFamily="34" charset="0"/>
                <a:ea typeface="微軟正黑體" pitchFamily="34" charset="-122"/>
                <a:cs typeface="微軟正黑體" pitchFamily="34" charset="-120"/>
              </a:rPr>
              <a:t>25%</a:t>
            </a:r>
            <a:endParaRPr lang="en-US" sz="1600" dirty="0"/>
          </a:p>
        </p:txBody>
      </p:sp>
      <p:sp>
        <p:nvSpPr>
          <p:cNvPr id="7" name="Text 4"/>
          <p:cNvSpPr/>
          <p:nvPr/>
        </p:nvSpPr>
        <p:spPr>
          <a:xfrm>
            <a:off x="6190488" y="2130552"/>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不只回報問題，直接把工具做出來。</a:t>
            </a:r>
            <a:endParaRPr lang="en-US" sz="1200" dirty="0"/>
          </a:p>
        </p:txBody>
      </p:sp>
      <p:sp>
        <p:nvSpPr>
          <p:cNvPr id="8" name="Shape 5"/>
          <p:cNvSpPr/>
          <p:nvPr/>
        </p:nvSpPr>
        <p:spPr>
          <a:xfrm>
            <a:off x="5806440" y="2660904"/>
            <a:ext cx="237744" cy="237744"/>
          </a:xfrm>
          <a:prstGeom prst="ellipse">
            <a:avLst/>
          </a:prstGeom>
          <a:solidFill>
            <a:srgbClr val="17A0A0"/>
          </a:solidFill>
          <a:ln/>
        </p:spPr>
      </p:sp>
      <p:sp>
        <p:nvSpPr>
          <p:cNvPr id="9" name="Text 6"/>
          <p:cNvSpPr/>
          <p:nvPr/>
        </p:nvSpPr>
        <p:spPr>
          <a:xfrm>
            <a:off x="6190488" y="2569464"/>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自學力　</a:t>
            </a:r>
            <a:pPr indent="0" marL="0">
              <a:buNone/>
            </a:pPr>
            <a:r>
              <a:rPr lang="en-US" sz="1300" dirty="0">
                <a:solidFill>
                  <a:srgbClr val="6E7191"/>
                </a:solidFill>
                <a:latin typeface="微軟正黑體" pitchFamily="34" charset="0"/>
                <a:ea typeface="微軟正黑體" pitchFamily="34" charset="-122"/>
                <a:cs typeface="微軟正黑體" pitchFamily="34" charset="-120"/>
              </a:rPr>
              <a:t>25%</a:t>
            </a:r>
            <a:endParaRPr lang="en-US" sz="1600" dirty="0"/>
          </a:p>
        </p:txBody>
      </p:sp>
      <p:sp>
        <p:nvSpPr>
          <p:cNvPr id="10" name="Text 7"/>
          <p:cNvSpPr/>
          <p:nvPr/>
        </p:nvSpPr>
        <p:spPr>
          <a:xfrm>
            <a:off x="6190488" y="2916936"/>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沒學過的東西，用 AI 工具把它做完。</a:t>
            </a:r>
            <a:endParaRPr lang="en-US" sz="1200" dirty="0"/>
          </a:p>
        </p:txBody>
      </p:sp>
      <p:sp>
        <p:nvSpPr>
          <p:cNvPr id="11" name="Shape 8"/>
          <p:cNvSpPr/>
          <p:nvPr/>
        </p:nvSpPr>
        <p:spPr>
          <a:xfrm>
            <a:off x="5806440" y="3447288"/>
            <a:ext cx="237744" cy="237744"/>
          </a:xfrm>
          <a:prstGeom prst="ellipse">
            <a:avLst/>
          </a:prstGeom>
          <a:solidFill>
            <a:srgbClr val="6DCFA5"/>
          </a:solidFill>
          <a:ln/>
        </p:spPr>
      </p:sp>
      <p:sp>
        <p:nvSpPr>
          <p:cNvPr id="12" name="Text 9"/>
          <p:cNvSpPr/>
          <p:nvPr/>
        </p:nvSpPr>
        <p:spPr>
          <a:xfrm>
            <a:off x="6190488" y="3355848"/>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系統思維　</a:t>
            </a:r>
            <a:pPr indent="0" marL="0">
              <a:buNone/>
            </a:pPr>
            <a:r>
              <a:rPr lang="en-US" sz="1300" dirty="0">
                <a:solidFill>
                  <a:srgbClr val="6E7191"/>
                </a:solidFill>
                <a:latin typeface="微軟正黑體" pitchFamily="34" charset="0"/>
                <a:ea typeface="微軟正黑體" pitchFamily="34" charset="-122"/>
                <a:cs typeface="微軟正黑體" pitchFamily="34" charset="-120"/>
              </a:rPr>
              <a:t>20%</a:t>
            </a:r>
            <a:endParaRPr lang="en-US" sz="1600" dirty="0"/>
          </a:p>
        </p:txBody>
      </p:sp>
      <p:sp>
        <p:nvSpPr>
          <p:cNvPr id="13" name="Text 10"/>
          <p:cNvSpPr/>
          <p:nvPr/>
        </p:nvSpPr>
        <p:spPr>
          <a:xfrm>
            <a:off x="6190488" y="3703320"/>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看見五份 Excel 背後其實是同一件事。</a:t>
            </a:r>
            <a:endParaRPr lang="en-US" sz="1200" dirty="0"/>
          </a:p>
        </p:txBody>
      </p:sp>
      <p:sp>
        <p:nvSpPr>
          <p:cNvPr id="14" name="Shape 11"/>
          <p:cNvSpPr/>
          <p:nvPr/>
        </p:nvSpPr>
        <p:spPr>
          <a:xfrm>
            <a:off x="5806440" y="4233672"/>
            <a:ext cx="237744" cy="237744"/>
          </a:xfrm>
          <a:prstGeom prst="ellipse">
            <a:avLst/>
          </a:prstGeom>
          <a:solidFill>
            <a:srgbClr val="35697F"/>
          </a:solidFill>
          <a:ln/>
        </p:spPr>
      </p:sp>
      <p:sp>
        <p:nvSpPr>
          <p:cNvPr id="15" name="Text 12"/>
          <p:cNvSpPr/>
          <p:nvPr/>
        </p:nvSpPr>
        <p:spPr>
          <a:xfrm>
            <a:off x="6190488" y="4142232"/>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換位思考　</a:t>
            </a:r>
            <a:pPr indent="0" marL="0">
              <a:buNone/>
            </a:pPr>
            <a:r>
              <a:rPr lang="en-US" sz="1300" dirty="0">
                <a:solidFill>
                  <a:srgbClr val="6E7191"/>
                </a:solidFill>
                <a:latin typeface="微軟正黑體" pitchFamily="34" charset="0"/>
                <a:ea typeface="微軟正黑體" pitchFamily="34" charset="-122"/>
                <a:cs typeface="微軟正黑體" pitchFamily="34" charset="-120"/>
              </a:rPr>
              <a:t>15%</a:t>
            </a:r>
            <a:endParaRPr lang="en-US" sz="1600" dirty="0"/>
          </a:p>
        </p:txBody>
      </p:sp>
      <p:sp>
        <p:nvSpPr>
          <p:cNvPr id="16" name="Text 13"/>
          <p:cNvSpPr/>
          <p:nvPr/>
        </p:nvSpPr>
        <p:spPr>
          <a:xfrm>
            <a:off x="6190488" y="4489704"/>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依三種層級，設計三種權限。</a:t>
            </a:r>
            <a:endParaRPr lang="en-US" sz="1200" dirty="0"/>
          </a:p>
        </p:txBody>
      </p:sp>
      <p:sp>
        <p:nvSpPr>
          <p:cNvPr id="17" name="Shape 14"/>
          <p:cNvSpPr/>
          <p:nvPr/>
        </p:nvSpPr>
        <p:spPr>
          <a:xfrm>
            <a:off x="5806440" y="5020056"/>
            <a:ext cx="237744" cy="237744"/>
          </a:xfrm>
          <a:prstGeom prst="ellipse">
            <a:avLst/>
          </a:prstGeom>
          <a:solidFill>
            <a:srgbClr val="AEB4E4"/>
          </a:solidFill>
          <a:ln/>
        </p:spPr>
      </p:sp>
      <p:sp>
        <p:nvSpPr>
          <p:cNvPr id="18" name="Text 15"/>
          <p:cNvSpPr/>
          <p:nvPr/>
        </p:nvSpPr>
        <p:spPr>
          <a:xfrm>
            <a:off x="6190488" y="4928616"/>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交付到底　</a:t>
            </a:r>
            <a:pPr indent="0" marL="0">
              <a:buNone/>
            </a:pPr>
            <a:r>
              <a:rPr lang="en-US" sz="1300" dirty="0">
                <a:solidFill>
                  <a:srgbClr val="6E7191"/>
                </a:solidFill>
                <a:latin typeface="微軟正黑體" pitchFamily="34" charset="0"/>
                <a:ea typeface="微軟正黑體" pitchFamily="34" charset="-122"/>
                <a:cs typeface="微軟正黑體" pitchFamily="34" charset="-120"/>
              </a:rPr>
              <a:t>15%</a:t>
            </a:r>
            <a:endParaRPr lang="en-US" sz="1600" dirty="0"/>
          </a:p>
        </p:txBody>
      </p:sp>
      <p:sp>
        <p:nvSpPr>
          <p:cNvPr id="19" name="Text 16"/>
          <p:cNvSpPr/>
          <p:nvPr/>
        </p:nvSpPr>
        <p:spPr>
          <a:xfrm>
            <a:off x="6190488" y="5276088"/>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做到實際上線在用，不是 demo。</a:t>
            </a:r>
            <a:endParaRPr lang="en-US" sz="1200" dirty="0"/>
          </a:p>
        </p:txBody>
      </p:sp>
      <p:sp>
        <p:nvSpPr>
          <p:cNvPr id="20" name="Text 17"/>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二、公司精神</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愛、新、勤、誠</a:t>
            </a:r>
            <a:endParaRPr lang="en-US" sz="3200" dirty="0"/>
          </a:p>
        </p:txBody>
      </p:sp>
      <p:sp>
        <p:nvSpPr>
          <p:cNvPr id="4" name="Shape 2"/>
          <p:cNvSpPr/>
          <p:nvPr/>
        </p:nvSpPr>
        <p:spPr>
          <a:xfrm>
            <a:off x="640080" y="1874520"/>
            <a:ext cx="2480996" cy="2926080"/>
          </a:xfrm>
          <a:prstGeom prst="roundRect">
            <a:avLst>
              <a:gd name="adj" fmla="val 2211"/>
            </a:avLst>
          </a:prstGeom>
          <a:solidFill>
            <a:srgbClr val="F2E2DA"/>
          </a:solidFill>
          <a:ln/>
          <a:effectLst>
            <a:outerShdw sx="100000" sy="100000" kx="0" ky="0" algn="bl" rotWithShape="0" blurRad="101600" dist="25400" dir="5400000">
              <a:srgbClr val="9AA0BF">
                <a:alpha val="22000"/>
              </a:srgbClr>
            </a:outerShdw>
          </a:effectLst>
        </p:spPr>
      </p:sp>
      <p:sp>
        <p:nvSpPr>
          <p:cNvPr id="5" name="Text 3"/>
          <p:cNvSpPr/>
          <p:nvPr/>
        </p:nvSpPr>
        <p:spPr>
          <a:xfrm>
            <a:off x="640080" y="2148840"/>
            <a:ext cx="2480996" cy="1188720"/>
          </a:xfrm>
          <a:prstGeom prst="rect">
            <a:avLst/>
          </a:prstGeom>
          <a:noFill/>
          <a:ln/>
        </p:spPr>
        <p:txBody>
          <a:bodyPr wrap="square" lIns="0" tIns="0" rIns="0" bIns="0" rtlCol="0" anchor="ctr"/>
          <a:lstStyle/>
          <a:p>
            <a:pPr algn="ctr" indent="0" marL="0">
              <a:buNone/>
            </a:pPr>
            <a:r>
              <a:rPr lang="en-US" sz="6000" b="1" dirty="0">
                <a:solidFill>
                  <a:srgbClr val="2B2D5C"/>
                </a:solidFill>
                <a:latin typeface="微軟正黑體" pitchFamily="34" charset="0"/>
                <a:ea typeface="微軟正黑體" pitchFamily="34" charset="-122"/>
                <a:cs typeface="微軟正黑體" pitchFamily="34" charset="-120"/>
              </a:rPr>
              <a:t>愛</a:t>
            </a:r>
            <a:endParaRPr lang="en-US" sz="6000" dirty="0"/>
          </a:p>
        </p:txBody>
      </p:sp>
      <p:sp>
        <p:nvSpPr>
          <p:cNvPr id="6" name="Text 4"/>
          <p:cNvSpPr/>
          <p:nvPr/>
        </p:nvSpPr>
        <p:spPr>
          <a:xfrm>
            <a:off x="841248" y="3383280"/>
            <a:ext cx="2078660" cy="1234440"/>
          </a:xfrm>
          <a:prstGeom prst="rect">
            <a:avLst/>
          </a:prstGeom>
          <a:noFill/>
          <a:ln/>
        </p:spPr>
        <p:txBody>
          <a:bodyPr wrap="square" lIns="0" tIns="0" rIns="0" bIns="0" rtlCol="0" anchor="t"/>
          <a:lstStyle/>
          <a:p>
            <a:pPr algn="ctr" indent="0" marL="0">
              <a:lnSpc>
                <a:spcPct val="130000"/>
              </a:lnSpc>
              <a:buNone/>
            </a:pPr>
            <a:r>
              <a:rPr lang="en-US" sz="1250" dirty="0">
                <a:solidFill>
                  <a:srgbClr val="2B2D5C"/>
                </a:solidFill>
                <a:latin typeface="微軟正黑體" pitchFamily="34" charset="0"/>
                <a:ea typeface="微軟正黑體" pitchFamily="34" charset="-122"/>
                <a:cs typeface="微軟正黑體" pitchFamily="34" charset="-120"/>
              </a:rPr>
              <a:t>愛自己、愛同事、愛家人</a:t>
            </a:r>
            <a:endParaRPr lang="en-US" sz="1250" dirty="0"/>
          </a:p>
          <a:p>
            <a:pPr algn="ctr" indent="0" marL="0">
              <a:lnSpc>
                <a:spcPct val="130000"/>
              </a:lnSpc>
              <a:buNone/>
            </a:pPr>
            <a:r>
              <a:rPr lang="en-US" sz="1250" dirty="0">
                <a:solidFill>
                  <a:srgbClr val="2B2D5C"/>
                </a:solidFill>
                <a:latin typeface="微軟正黑體" pitchFamily="34" charset="0"/>
                <a:ea typeface="微軟正黑體" pitchFamily="34" charset="-122"/>
                <a:cs typeface="微軟正黑體" pitchFamily="34" charset="-120"/>
              </a:rPr>
              <a:t>愛客戶、愛公司、愛競爭對手</a:t>
            </a:r>
            <a:endParaRPr lang="en-US" sz="1250" dirty="0"/>
          </a:p>
        </p:txBody>
      </p:sp>
      <p:sp>
        <p:nvSpPr>
          <p:cNvPr id="7" name="Shape 5"/>
          <p:cNvSpPr/>
          <p:nvPr/>
        </p:nvSpPr>
        <p:spPr>
          <a:xfrm>
            <a:off x="3450260" y="1874520"/>
            <a:ext cx="2480996" cy="2926080"/>
          </a:xfrm>
          <a:prstGeom prst="roundRect">
            <a:avLst>
              <a:gd name="adj" fmla="val 2211"/>
            </a:avLst>
          </a:prstGeom>
          <a:solidFill>
            <a:srgbClr val="D6D9F0"/>
          </a:solidFill>
          <a:ln/>
          <a:effectLst>
            <a:outerShdw sx="100000" sy="100000" kx="0" ky="0" algn="bl" rotWithShape="0" blurRad="101600" dist="25400" dir="5400000">
              <a:srgbClr val="9AA0BF">
                <a:alpha val="22000"/>
              </a:srgbClr>
            </a:outerShdw>
          </a:effectLst>
        </p:spPr>
      </p:sp>
      <p:sp>
        <p:nvSpPr>
          <p:cNvPr id="8" name="Text 6"/>
          <p:cNvSpPr/>
          <p:nvPr/>
        </p:nvSpPr>
        <p:spPr>
          <a:xfrm>
            <a:off x="3450260" y="2148840"/>
            <a:ext cx="2480996" cy="1188720"/>
          </a:xfrm>
          <a:prstGeom prst="rect">
            <a:avLst/>
          </a:prstGeom>
          <a:noFill/>
          <a:ln/>
        </p:spPr>
        <p:txBody>
          <a:bodyPr wrap="square" lIns="0" tIns="0" rIns="0" bIns="0" rtlCol="0" anchor="ctr"/>
          <a:lstStyle/>
          <a:p>
            <a:pPr algn="ctr" indent="0" marL="0">
              <a:buNone/>
            </a:pPr>
            <a:r>
              <a:rPr lang="en-US" sz="6000" b="1" dirty="0">
                <a:solidFill>
                  <a:srgbClr val="2B2D5C"/>
                </a:solidFill>
                <a:latin typeface="微軟正黑體" pitchFamily="34" charset="0"/>
                <a:ea typeface="微軟正黑體" pitchFamily="34" charset="-122"/>
                <a:cs typeface="微軟正黑體" pitchFamily="34" charset="-120"/>
              </a:rPr>
              <a:t>新</a:t>
            </a:r>
            <a:endParaRPr lang="en-US" sz="6000" dirty="0"/>
          </a:p>
        </p:txBody>
      </p:sp>
      <p:sp>
        <p:nvSpPr>
          <p:cNvPr id="9" name="Text 7"/>
          <p:cNvSpPr/>
          <p:nvPr/>
        </p:nvSpPr>
        <p:spPr>
          <a:xfrm>
            <a:off x="3651428" y="3383280"/>
            <a:ext cx="2078660" cy="1234440"/>
          </a:xfrm>
          <a:prstGeom prst="rect">
            <a:avLst/>
          </a:prstGeom>
          <a:noFill/>
          <a:ln/>
        </p:spPr>
        <p:txBody>
          <a:bodyPr wrap="square" lIns="0" tIns="0" rIns="0" bIns="0" rtlCol="0" anchor="t"/>
          <a:lstStyle/>
          <a:p>
            <a:pPr algn="ctr" indent="0" marL="0">
              <a:lnSpc>
                <a:spcPct val="130000"/>
              </a:lnSpc>
              <a:buNone/>
            </a:pPr>
            <a:r>
              <a:rPr lang="en-US" sz="1250" dirty="0">
                <a:solidFill>
                  <a:srgbClr val="2B2D5C"/>
                </a:solidFill>
                <a:latin typeface="微軟正黑體" pitchFamily="34" charset="0"/>
                <a:ea typeface="微軟正黑體" pitchFamily="34" charset="-122"/>
                <a:cs typeface="微軟正黑體" pitchFamily="34" charset="-120"/>
              </a:rPr>
              <a:t>求新、創新</a:t>
            </a:r>
            <a:endParaRPr lang="en-US" sz="1250" dirty="0"/>
          </a:p>
        </p:txBody>
      </p:sp>
      <p:sp>
        <p:nvSpPr>
          <p:cNvPr id="10" name="Shape 8"/>
          <p:cNvSpPr/>
          <p:nvPr/>
        </p:nvSpPr>
        <p:spPr>
          <a:xfrm>
            <a:off x="6260440" y="1874520"/>
            <a:ext cx="2480996" cy="2926080"/>
          </a:xfrm>
          <a:prstGeom prst="roundRect">
            <a:avLst>
              <a:gd name="adj" fmla="val 2211"/>
            </a:avLst>
          </a:prstGeom>
          <a:solidFill>
            <a:srgbClr val="F7F1CE"/>
          </a:solidFill>
          <a:ln/>
          <a:effectLst>
            <a:outerShdw sx="100000" sy="100000" kx="0" ky="0" algn="bl" rotWithShape="0" blurRad="101600" dist="25400" dir="5400000">
              <a:srgbClr val="9AA0BF">
                <a:alpha val="22000"/>
              </a:srgbClr>
            </a:outerShdw>
          </a:effectLst>
        </p:spPr>
      </p:sp>
      <p:sp>
        <p:nvSpPr>
          <p:cNvPr id="11" name="Text 9"/>
          <p:cNvSpPr/>
          <p:nvPr/>
        </p:nvSpPr>
        <p:spPr>
          <a:xfrm>
            <a:off x="6260440" y="2148840"/>
            <a:ext cx="2480996" cy="1188720"/>
          </a:xfrm>
          <a:prstGeom prst="rect">
            <a:avLst/>
          </a:prstGeom>
          <a:noFill/>
          <a:ln/>
        </p:spPr>
        <p:txBody>
          <a:bodyPr wrap="square" lIns="0" tIns="0" rIns="0" bIns="0" rtlCol="0" anchor="ctr"/>
          <a:lstStyle/>
          <a:p>
            <a:pPr algn="ctr" indent="0" marL="0">
              <a:buNone/>
            </a:pPr>
            <a:r>
              <a:rPr lang="en-US" sz="6000" b="1" dirty="0">
                <a:solidFill>
                  <a:srgbClr val="2B2D5C"/>
                </a:solidFill>
                <a:latin typeface="微軟正黑體" pitchFamily="34" charset="0"/>
                <a:ea typeface="微軟正黑體" pitchFamily="34" charset="-122"/>
                <a:cs typeface="微軟正黑體" pitchFamily="34" charset="-120"/>
              </a:rPr>
              <a:t>勤</a:t>
            </a:r>
            <a:endParaRPr lang="en-US" sz="6000" dirty="0"/>
          </a:p>
        </p:txBody>
      </p:sp>
      <p:sp>
        <p:nvSpPr>
          <p:cNvPr id="12" name="Text 10"/>
          <p:cNvSpPr/>
          <p:nvPr/>
        </p:nvSpPr>
        <p:spPr>
          <a:xfrm>
            <a:off x="6461608" y="3383280"/>
            <a:ext cx="2078660" cy="1234440"/>
          </a:xfrm>
          <a:prstGeom prst="rect">
            <a:avLst/>
          </a:prstGeom>
          <a:noFill/>
          <a:ln/>
        </p:spPr>
        <p:txBody>
          <a:bodyPr wrap="square" lIns="0" tIns="0" rIns="0" bIns="0" rtlCol="0" anchor="t"/>
          <a:lstStyle/>
          <a:p>
            <a:pPr algn="ctr" indent="0" marL="0">
              <a:lnSpc>
                <a:spcPct val="130000"/>
              </a:lnSpc>
              <a:buNone/>
            </a:pPr>
            <a:r>
              <a:rPr lang="en-US" sz="1250" dirty="0">
                <a:solidFill>
                  <a:srgbClr val="2B2D5C"/>
                </a:solidFill>
                <a:latin typeface="微軟正黑體" pitchFamily="34" charset="0"/>
                <a:ea typeface="微軟正黑體" pitchFamily="34" charset="-122"/>
                <a:cs typeface="微軟正黑體" pitchFamily="34" charset="-120"/>
              </a:rPr>
              <a:t>勤勞、勤儉</a:t>
            </a:r>
            <a:endParaRPr lang="en-US" sz="1250" dirty="0"/>
          </a:p>
        </p:txBody>
      </p:sp>
      <p:sp>
        <p:nvSpPr>
          <p:cNvPr id="13" name="Shape 11"/>
          <p:cNvSpPr/>
          <p:nvPr/>
        </p:nvSpPr>
        <p:spPr>
          <a:xfrm>
            <a:off x="9070619" y="1874520"/>
            <a:ext cx="2480996" cy="2926080"/>
          </a:xfrm>
          <a:prstGeom prst="roundRect">
            <a:avLst>
              <a:gd name="adj" fmla="val 2211"/>
            </a:avLst>
          </a:prstGeom>
          <a:solidFill>
            <a:srgbClr val="ECEEF8"/>
          </a:solidFill>
          <a:ln/>
          <a:effectLst>
            <a:outerShdw sx="100000" sy="100000" kx="0" ky="0" algn="bl" rotWithShape="0" blurRad="101600" dist="25400" dir="5400000">
              <a:srgbClr val="9AA0BF">
                <a:alpha val="22000"/>
              </a:srgbClr>
            </a:outerShdw>
          </a:effectLst>
        </p:spPr>
      </p:sp>
      <p:sp>
        <p:nvSpPr>
          <p:cNvPr id="14" name="Text 12"/>
          <p:cNvSpPr/>
          <p:nvPr/>
        </p:nvSpPr>
        <p:spPr>
          <a:xfrm>
            <a:off x="9070619" y="2148840"/>
            <a:ext cx="2480996" cy="1188720"/>
          </a:xfrm>
          <a:prstGeom prst="rect">
            <a:avLst/>
          </a:prstGeom>
          <a:noFill/>
          <a:ln/>
        </p:spPr>
        <p:txBody>
          <a:bodyPr wrap="square" lIns="0" tIns="0" rIns="0" bIns="0" rtlCol="0" anchor="ctr"/>
          <a:lstStyle/>
          <a:p>
            <a:pPr algn="ctr" indent="0" marL="0">
              <a:buNone/>
            </a:pPr>
            <a:r>
              <a:rPr lang="en-US" sz="6000" b="1" dirty="0">
                <a:solidFill>
                  <a:srgbClr val="2B2D5C"/>
                </a:solidFill>
                <a:latin typeface="微軟正黑體" pitchFamily="34" charset="0"/>
                <a:ea typeface="微軟正黑體" pitchFamily="34" charset="-122"/>
                <a:cs typeface="微軟正黑體" pitchFamily="34" charset="-120"/>
              </a:rPr>
              <a:t>誠</a:t>
            </a:r>
            <a:endParaRPr lang="en-US" sz="6000" dirty="0"/>
          </a:p>
        </p:txBody>
      </p:sp>
      <p:sp>
        <p:nvSpPr>
          <p:cNvPr id="15" name="Text 13"/>
          <p:cNvSpPr/>
          <p:nvPr/>
        </p:nvSpPr>
        <p:spPr>
          <a:xfrm>
            <a:off x="9271787" y="3383280"/>
            <a:ext cx="2078660" cy="1234440"/>
          </a:xfrm>
          <a:prstGeom prst="rect">
            <a:avLst/>
          </a:prstGeom>
          <a:noFill/>
          <a:ln/>
        </p:spPr>
        <p:txBody>
          <a:bodyPr wrap="square" lIns="0" tIns="0" rIns="0" bIns="0" rtlCol="0" anchor="t"/>
          <a:lstStyle/>
          <a:p>
            <a:pPr algn="ctr" indent="0" marL="0">
              <a:lnSpc>
                <a:spcPct val="130000"/>
              </a:lnSpc>
              <a:buNone/>
            </a:pPr>
            <a:r>
              <a:rPr lang="en-US" sz="1250" dirty="0">
                <a:solidFill>
                  <a:srgbClr val="2B2D5C"/>
                </a:solidFill>
                <a:latin typeface="微軟正黑體" pitchFamily="34" charset="0"/>
                <a:ea typeface="微軟正黑體" pitchFamily="34" charset="-122"/>
                <a:cs typeface="微軟正黑體" pitchFamily="34" charset="-120"/>
              </a:rPr>
              <a:t>誠實、忠誠</a:t>
            </a:r>
            <a:endParaRPr lang="en-US" sz="1250" dirty="0"/>
          </a:p>
        </p:txBody>
      </p:sp>
      <p:sp>
        <p:nvSpPr>
          <p:cNvPr id="16" name="Text 14"/>
          <p:cNvSpPr/>
          <p:nvPr/>
        </p:nvSpPr>
        <p:spPr>
          <a:xfrm>
            <a:off x="640080" y="5138928"/>
            <a:ext cx="10911535" cy="640080"/>
          </a:xfrm>
          <a:prstGeom prst="rect">
            <a:avLst/>
          </a:prstGeom>
          <a:noFill/>
          <a:ln/>
        </p:spPr>
        <p:txBody>
          <a:bodyPr wrap="square" lIns="0" tIns="0" rIns="0" bIns="0" rtlCol="0" anchor="ctr"/>
          <a:lstStyle/>
          <a:p>
            <a:pPr algn="ctr" indent="0" marL="0">
              <a:buNone/>
            </a:pPr>
            <a:r>
              <a:rPr lang="en-US" sz="2100" b="1" dirty="0">
                <a:solidFill>
                  <a:srgbClr val="2B2D5C"/>
                </a:solidFill>
                <a:latin typeface="微軟正黑體" pitchFamily="34" charset="0"/>
                <a:ea typeface="微軟正黑體" pitchFamily="34" charset="-122"/>
                <a:cs typeface="微軟正黑體" pitchFamily="34" charset="-120"/>
              </a:rPr>
              <a:t>勤勞地用創新的方式，誠懇地愛人。</a:t>
            </a:r>
            <a:endParaRPr lang="en-US" sz="2100" dirty="0"/>
          </a:p>
        </p:txBody>
      </p:sp>
      <p:sp>
        <p:nvSpPr>
          <p:cNvPr id="17" name="Text 15"/>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二、公司精神</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我的實踐</a:t>
            </a:r>
            <a:endParaRPr lang="en-US" sz="3200" dirty="0"/>
          </a:p>
        </p:txBody>
      </p:sp>
      <p:sp>
        <p:nvSpPr>
          <p:cNvPr id="4" name="Shape 2"/>
          <p:cNvSpPr/>
          <p:nvPr/>
        </p:nvSpPr>
        <p:spPr>
          <a:xfrm>
            <a:off x="640080" y="1874520"/>
            <a:ext cx="5272888" cy="1920240"/>
          </a:xfrm>
          <a:prstGeom prst="roundRect">
            <a:avLst>
              <a:gd name="adj" fmla="val 2857"/>
            </a:avLst>
          </a:prstGeom>
          <a:solidFill>
            <a:srgbClr val="D6D9F0"/>
          </a:solidFill>
          <a:ln/>
          <a:effectLst>
            <a:outerShdw sx="100000" sy="100000" kx="0" ky="0" algn="bl" rotWithShape="0" blurRad="101600" dist="25400" dir="5400000">
              <a:srgbClr val="9AA0BF">
                <a:alpha val="22000"/>
              </a:srgbClr>
            </a:outerShdw>
          </a:effectLst>
        </p:spPr>
      </p:sp>
      <p:sp>
        <p:nvSpPr>
          <p:cNvPr id="5" name="Shape 3"/>
          <p:cNvSpPr/>
          <p:nvPr/>
        </p:nvSpPr>
        <p:spPr>
          <a:xfrm>
            <a:off x="950976" y="2377440"/>
            <a:ext cx="868680" cy="868680"/>
          </a:xfrm>
          <a:prstGeom prst="ellipse">
            <a:avLst/>
          </a:prstGeom>
          <a:solidFill>
            <a:srgbClr val="2B2D5C"/>
          </a:solidFill>
          <a:ln/>
        </p:spPr>
      </p:sp>
      <p:sp>
        <p:nvSpPr>
          <p:cNvPr id="6" name="Text 4"/>
          <p:cNvSpPr/>
          <p:nvPr/>
        </p:nvSpPr>
        <p:spPr>
          <a:xfrm>
            <a:off x="950976" y="2377440"/>
            <a:ext cx="868680" cy="868680"/>
          </a:xfrm>
          <a:prstGeom prst="rect">
            <a:avLst/>
          </a:prstGeom>
          <a:noFill/>
          <a:ln/>
        </p:spPr>
        <p:txBody>
          <a:bodyPr wrap="square" lIns="0" tIns="0" rIns="0" bIns="0" rtlCol="0" anchor="ctr"/>
          <a:lstStyle/>
          <a:p>
            <a:pPr algn="ctr" indent="0" marL="0">
              <a:buNone/>
            </a:pPr>
            <a:r>
              <a:rPr lang="en-US" sz="3200" b="1" dirty="0">
                <a:solidFill>
                  <a:srgbClr val="FFFFFF"/>
                </a:solidFill>
                <a:latin typeface="微軟正黑體" pitchFamily="34" charset="0"/>
                <a:ea typeface="微軟正黑體" pitchFamily="34" charset="-122"/>
                <a:cs typeface="微軟正黑體" pitchFamily="34" charset="-120"/>
              </a:rPr>
              <a:t>新</a:t>
            </a:r>
            <a:endParaRPr lang="en-US" sz="3200" dirty="0"/>
          </a:p>
        </p:txBody>
      </p:sp>
      <p:sp>
        <p:nvSpPr>
          <p:cNvPr id="7" name="Text 5"/>
          <p:cNvSpPr/>
          <p:nvPr/>
        </p:nvSpPr>
        <p:spPr>
          <a:xfrm>
            <a:off x="2057400" y="2258568"/>
            <a:ext cx="3535528" cy="1143000"/>
          </a:xfrm>
          <a:prstGeom prst="rect">
            <a:avLst/>
          </a:prstGeom>
          <a:noFill/>
          <a:ln/>
        </p:spPr>
        <p:txBody>
          <a:bodyPr wrap="square" lIns="0" tIns="0" rIns="0" bIns="0" rtlCol="0" anchor="ctr"/>
          <a:lstStyle/>
          <a:p>
            <a:pPr indent="0" marL="0">
              <a:lnSpc>
                <a:spcPct val="130000"/>
              </a:lnSpc>
              <a:buNone/>
            </a:pPr>
            <a:r>
              <a:rPr lang="en-US" sz="1450" dirty="0">
                <a:solidFill>
                  <a:srgbClr val="2B2D5C"/>
                </a:solidFill>
                <a:latin typeface="微軟正黑體" pitchFamily="34" charset="0"/>
                <a:ea typeface="微軟正黑體" pitchFamily="34" charset="-122"/>
                <a:cs typeface="微軟正黑體" pitchFamily="34" charset="-120"/>
              </a:rPr>
              <a:t>全程用 replit 等 AI 工具開發神秘客系統——用新方法解決舊問題。</a:t>
            </a:r>
            <a:endParaRPr lang="en-US" sz="1450" dirty="0"/>
          </a:p>
        </p:txBody>
      </p:sp>
      <p:sp>
        <p:nvSpPr>
          <p:cNvPr id="8" name="Shape 6"/>
          <p:cNvSpPr/>
          <p:nvPr/>
        </p:nvSpPr>
        <p:spPr>
          <a:xfrm>
            <a:off x="6278728" y="1874520"/>
            <a:ext cx="5272888" cy="1920240"/>
          </a:xfrm>
          <a:prstGeom prst="roundRect">
            <a:avLst>
              <a:gd name="adj" fmla="val 2857"/>
            </a:avLst>
          </a:prstGeom>
          <a:solidFill>
            <a:srgbClr val="F7F1CE"/>
          </a:solidFill>
          <a:ln/>
          <a:effectLst>
            <a:outerShdw sx="100000" sy="100000" kx="0" ky="0" algn="bl" rotWithShape="0" blurRad="101600" dist="25400" dir="5400000">
              <a:srgbClr val="9AA0BF">
                <a:alpha val="22000"/>
              </a:srgbClr>
            </a:outerShdw>
          </a:effectLst>
        </p:spPr>
      </p:sp>
      <p:sp>
        <p:nvSpPr>
          <p:cNvPr id="9" name="Shape 7"/>
          <p:cNvSpPr/>
          <p:nvPr/>
        </p:nvSpPr>
        <p:spPr>
          <a:xfrm>
            <a:off x="6589624" y="2377440"/>
            <a:ext cx="868680" cy="868680"/>
          </a:xfrm>
          <a:prstGeom prst="ellipse">
            <a:avLst/>
          </a:prstGeom>
          <a:solidFill>
            <a:srgbClr val="2B2D5C"/>
          </a:solidFill>
          <a:ln/>
        </p:spPr>
      </p:sp>
      <p:sp>
        <p:nvSpPr>
          <p:cNvPr id="10" name="Text 8"/>
          <p:cNvSpPr/>
          <p:nvPr/>
        </p:nvSpPr>
        <p:spPr>
          <a:xfrm>
            <a:off x="6589624" y="2377440"/>
            <a:ext cx="868680" cy="868680"/>
          </a:xfrm>
          <a:prstGeom prst="rect">
            <a:avLst/>
          </a:prstGeom>
          <a:noFill/>
          <a:ln/>
        </p:spPr>
        <p:txBody>
          <a:bodyPr wrap="square" lIns="0" tIns="0" rIns="0" bIns="0" rtlCol="0" anchor="ctr"/>
          <a:lstStyle/>
          <a:p>
            <a:pPr algn="ctr" indent="0" marL="0">
              <a:buNone/>
            </a:pPr>
            <a:r>
              <a:rPr lang="en-US" sz="3200" b="1" dirty="0">
                <a:solidFill>
                  <a:srgbClr val="FFFFFF"/>
                </a:solidFill>
                <a:latin typeface="微軟正黑體" pitchFamily="34" charset="0"/>
                <a:ea typeface="微軟正黑體" pitchFamily="34" charset="-122"/>
                <a:cs typeface="微軟正黑體" pitchFamily="34" charset="-120"/>
              </a:rPr>
              <a:t>勤</a:t>
            </a:r>
            <a:endParaRPr lang="en-US" sz="3200" dirty="0"/>
          </a:p>
        </p:txBody>
      </p:sp>
      <p:sp>
        <p:nvSpPr>
          <p:cNvPr id="11" name="Text 9"/>
          <p:cNvSpPr/>
          <p:nvPr/>
        </p:nvSpPr>
        <p:spPr>
          <a:xfrm>
            <a:off x="7696048" y="2258568"/>
            <a:ext cx="3535528" cy="1143000"/>
          </a:xfrm>
          <a:prstGeom prst="rect">
            <a:avLst/>
          </a:prstGeom>
          <a:noFill/>
          <a:ln/>
        </p:spPr>
        <p:txBody>
          <a:bodyPr wrap="square" lIns="0" tIns="0" rIns="0" bIns="0" rtlCol="0" anchor="ctr"/>
          <a:lstStyle/>
          <a:p>
            <a:pPr indent="0" marL="0">
              <a:lnSpc>
                <a:spcPct val="130000"/>
              </a:lnSpc>
              <a:buNone/>
            </a:pPr>
            <a:r>
              <a:rPr lang="en-US" sz="1450" dirty="0">
                <a:solidFill>
                  <a:srgbClr val="2B2D5C"/>
                </a:solidFill>
                <a:latin typeface="微軟正黑體" pitchFamily="34" charset="0"/>
                <a:ea typeface="微軟正黑體" pitchFamily="34" charset="-122"/>
                <a:cs typeface="微軟正黑體" pitchFamily="34" charset="-120"/>
              </a:rPr>
              <a:t>把每月要重做一次的流程，改成設定一次就長期適用。</a:t>
            </a:r>
            <a:endParaRPr lang="en-US" sz="1450" dirty="0"/>
          </a:p>
        </p:txBody>
      </p:sp>
      <p:sp>
        <p:nvSpPr>
          <p:cNvPr id="12" name="Shape 10"/>
          <p:cNvSpPr/>
          <p:nvPr/>
        </p:nvSpPr>
        <p:spPr>
          <a:xfrm>
            <a:off x="640080" y="4023360"/>
            <a:ext cx="5272888" cy="1920240"/>
          </a:xfrm>
          <a:prstGeom prst="roundRect">
            <a:avLst>
              <a:gd name="adj" fmla="val 2857"/>
            </a:avLst>
          </a:prstGeom>
          <a:solidFill>
            <a:srgbClr val="F2E2DA"/>
          </a:solidFill>
          <a:ln/>
          <a:effectLst>
            <a:outerShdw sx="100000" sy="100000" kx="0" ky="0" algn="bl" rotWithShape="0" blurRad="101600" dist="25400" dir="5400000">
              <a:srgbClr val="9AA0BF">
                <a:alpha val="22000"/>
              </a:srgbClr>
            </a:outerShdw>
          </a:effectLst>
        </p:spPr>
      </p:sp>
      <p:sp>
        <p:nvSpPr>
          <p:cNvPr id="13" name="Shape 11"/>
          <p:cNvSpPr/>
          <p:nvPr/>
        </p:nvSpPr>
        <p:spPr>
          <a:xfrm>
            <a:off x="950976" y="4526280"/>
            <a:ext cx="868680" cy="868680"/>
          </a:xfrm>
          <a:prstGeom prst="ellipse">
            <a:avLst/>
          </a:prstGeom>
          <a:solidFill>
            <a:srgbClr val="2B2D5C"/>
          </a:solidFill>
          <a:ln/>
        </p:spPr>
      </p:sp>
      <p:sp>
        <p:nvSpPr>
          <p:cNvPr id="14" name="Text 12"/>
          <p:cNvSpPr/>
          <p:nvPr/>
        </p:nvSpPr>
        <p:spPr>
          <a:xfrm>
            <a:off x="950976" y="4526280"/>
            <a:ext cx="868680" cy="868680"/>
          </a:xfrm>
          <a:prstGeom prst="rect">
            <a:avLst/>
          </a:prstGeom>
          <a:noFill/>
          <a:ln/>
        </p:spPr>
        <p:txBody>
          <a:bodyPr wrap="square" lIns="0" tIns="0" rIns="0" bIns="0" rtlCol="0" anchor="ctr"/>
          <a:lstStyle/>
          <a:p>
            <a:pPr algn="ctr" indent="0" marL="0">
              <a:buNone/>
            </a:pPr>
            <a:r>
              <a:rPr lang="en-US" sz="3200" b="1" dirty="0">
                <a:solidFill>
                  <a:srgbClr val="FFFFFF"/>
                </a:solidFill>
                <a:latin typeface="微軟正黑體" pitchFamily="34" charset="0"/>
                <a:ea typeface="微軟正黑體" pitchFamily="34" charset="-122"/>
                <a:cs typeface="微軟正黑體" pitchFamily="34" charset="-120"/>
              </a:rPr>
              <a:t>愛</a:t>
            </a:r>
            <a:endParaRPr lang="en-US" sz="3200" dirty="0"/>
          </a:p>
        </p:txBody>
      </p:sp>
      <p:sp>
        <p:nvSpPr>
          <p:cNvPr id="15" name="Text 13"/>
          <p:cNvSpPr/>
          <p:nvPr/>
        </p:nvSpPr>
        <p:spPr>
          <a:xfrm>
            <a:off x="2057400" y="4407408"/>
            <a:ext cx="3535528" cy="1143000"/>
          </a:xfrm>
          <a:prstGeom prst="rect">
            <a:avLst/>
          </a:prstGeom>
          <a:noFill/>
          <a:ln/>
        </p:spPr>
        <p:txBody>
          <a:bodyPr wrap="square" lIns="0" tIns="0" rIns="0" bIns="0" rtlCol="0" anchor="ctr"/>
          <a:lstStyle/>
          <a:p>
            <a:pPr indent="0" marL="0">
              <a:lnSpc>
                <a:spcPct val="130000"/>
              </a:lnSpc>
              <a:buNone/>
            </a:pPr>
            <a:r>
              <a:rPr lang="en-US" sz="1450" dirty="0">
                <a:solidFill>
                  <a:srgbClr val="2B2D5C"/>
                </a:solidFill>
                <a:latin typeface="微軟正黑體" pitchFamily="34" charset="0"/>
                <a:ea typeface="微軟正黑體" pitchFamily="34" charset="-122"/>
                <a:cs typeface="微軟正黑體" pitchFamily="34" charset="-120"/>
              </a:rPr>
              <a:t>站在三種角色的立場設計三種權限，讓每個人只看到他該看的。</a:t>
            </a:r>
            <a:endParaRPr lang="en-US" sz="1450" dirty="0"/>
          </a:p>
        </p:txBody>
      </p:sp>
      <p:sp>
        <p:nvSpPr>
          <p:cNvPr id="16" name="Shape 14"/>
          <p:cNvSpPr/>
          <p:nvPr/>
        </p:nvSpPr>
        <p:spPr>
          <a:xfrm>
            <a:off x="6278728" y="4023360"/>
            <a:ext cx="5272888" cy="1920240"/>
          </a:xfrm>
          <a:prstGeom prst="roundRect">
            <a:avLst>
              <a:gd name="adj" fmla="val 2857"/>
            </a:avLst>
          </a:prstGeom>
          <a:solidFill>
            <a:srgbClr val="ECEEF8"/>
          </a:solidFill>
          <a:ln/>
          <a:effectLst>
            <a:outerShdw sx="100000" sy="100000" kx="0" ky="0" algn="bl" rotWithShape="0" blurRad="101600" dist="25400" dir="5400000">
              <a:srgbClr val="9AA0BF">
                <a:alpha val="22000"/>
              </a:srgbClr>
            </a:outerShdw>
          </a:effectLst>
        </p:spPr>
      </p:sp>
      <p:sp>
        <p:nvSpPr>
          <p:cNvPr id="17" name="Shape 15"/>
          <p:cNvSpPr/>
          <p:nvPr/>
        </p:nvSpPr>
        <p:spPr>
          <a:xfrm>
            <a:off x="6589624" y="4526280"/>
            <a:ext cx="868680" cy="868680"/>
          </a:xfrm>
          <a:prstGeom prst="ellipse">
            <a:avLst/>
          </a:prstGeom>
          <a:solidFill>
            <a:srgbClr val="2B2D5C"/>
          </a:solidFill>
          <a:ln/>
        </p:spPr>
      </p:sp>
      <p:sp>
        <p:nvSpPr>
          <p:cNvPr id="18" name="Text 16"/>
          <p:cNvSpPr/>
          <p:nvPr/>
        </p:nvSpPr>
        <p:spPr>
          <a:xfrm>
            <a:off x="6589624" y="4526280"/>
            <a:ext cx="868680" cy="868680"/>
          </a:xfrm>
          <a:prstGeom prst="rect">
            <a:avLst/>
          </a:prstGeom>
          <a:noFill/>
          <a:ln/>
        </p:spPr>
        <p:txBody>
          <a:bodyPr wrap="square" lIns="0" tIns="0" rIns="0" bIns="0" rtlCol="0" anchor="ctr"/>
          <a:lstStyle/>
          <a:p>
            <a:pPr algn="ctr" indent="0" marL="0">
              <a:buNone/>
            </a:pPr>
            <a:r>
              <a:rPr lang="en-US" sz="3200" b="1" dirty="0">
                <a:solidFill>
                  <a:srgbClr val="FFFFFF"/>
                </a:solidFill>
                <a:latin typeface="微軟正黑體" pitchFamily="34" charset="0"/>
                <a:ea typeface="微軟正黑體" pitchFamily="34" charset="-122"/>
                <a:cs typeface="微軟正黑體" pitchFamily="34" charset="-120"/>
              </a:rPr>
              <a:t>誠</a:t>
            </a:r>
            <a:endParaRPr lang="en-US" sz="3200" dirty="0"/>
          </a:p>
        </p:txBody>
      </p:sp>
      <p:sp>
        <p:nvSpPr>
          <p:cNvPr id="19" name="Text 17"/>
          <p:cNvSpPr/>
          <p:nvPr/>
        </p:nvSpPr>
        <p:spPr>
          <a:xfrm>
            <a:off x="7696048" y="4407408"/>
            <a:ext cx="3535528" cy="1143000"/>
          </a:xfrm>
          <a:prstGeom prst="rect">
            <a:avLst/>
          </a:prstGeom>
          <a:noFill/>
          <a:ln/>
        </p:spPr>
        <p:txBody>
          <a:bodyPr wrap="square" lIns="0" tIns="0" rIns="0" bIns="0" rtlCol="0" anchor="ctr"/>
          <a:lstStyle/>
          <a:p>
            <a:pPr indent="0" marL="0">
              <a:lnSpc>
                <a:spcPct val="130000"/>
              </a:lnSpc>
              <a:buNone/>
            </a:pPr>
            <a:r>
              <a:rPr lang="en-US" sz="1450" dirty="0">
                <a:solidFill>
                  <a:srgbClr val="2B2D5C"/>
                </a:solidFill>
                <a:latin typeface="微軟正黑體" pitchFamily="34" charset="0"/>
                <a:ea typeface="微軟正黑體" pitchFamily="34" charset="-122"/>
                <a:cs typeface="微軟正黑體" pitchFamily="34" charset="-120"/>
              </a:rPr>
              <a:t>效益數字標示為「推估」，沒有實測就不寫成實測。</a:t>
            </a:r>
            <a:endParaRPr lang="en-US" sz="1450" dirty="0"/>
          </a:p>
        </p:txBody>
      </p:sp>
      <p:sp>
        <p:nvSpPr>
          <p:cNvPr id="20" name="Text 18"/>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三、工作主軸</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我的三階段工作主軸</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11535" cy="914400"/>
        </p:xfrm>
        <a:graphic>
          <a:graphicData uri="http://schemas.openxmlformats.org/drawingml/2006/table">
            <a:tbl>
              <a:tblPr/>
              <a:tblGrid>
                <a:gridCol w="1828800"/>
                <a:gridCol w="1463040"/>
                <a:gridCol w="3200400"/>
                <a:gridCol w="4419295"/>
              </a:tblGrid>
              <a:tr h="868680">
                <a:tc>
                  <a:txBody>
                    <a:bodyPr/>
                    <a:lstStyle/>
                    <a:p>
                      <a:pPr algn="ctr" indent="0" marL="0">
                        <a:buNone/>
                      </a:pPr>
                      <a:r>
                        <a:rPr lang="en-US" sz="1250" b="1" dirty="0">
                          <a:solidFill>
                            <a:srgbClr val="2B2D5C"/>
                          </a:solidFill>
                          <a:latin typeface="微軟正黑體" pitchFamily="34" charset="0"/>
                          <a:ea typeface="微軟正黑體" pitchFamily="34" charset="-122"/>
                          <a:cs typeface="微軟正黑體" pitchFamily="34" charset="-120"/>
                        </a:rPr>
                        <a:t>階段</a:t>
                      </a:r>
                      <a:endParaRPr lang="en-US" sz="12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250" b="1" dirty="0">
                          <a:solidFill>
                            <a:srgbClr val="2B2D5C"/>
                          </a:solidFill>
                          <a:latin typeface="微軟正黑體" pitchFamily="34" charset="0"/>
                          <a:ea typeface="微軟正黑體" pitchFamily="34" charset="-122"/>
                          <a:cs typeface="微軟正黑體" pitchFamily="34" charset="-120"/>
                        </a:rPr>
                        <a:t>期間</a:t>
                      </a:r>
                      <a:endParaRPr lang="en-US" sz="12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250" b="1" dirty="0">
                          <a:solidFill>
                            <a:srgbClr val="2B2D5C"/>
                          </a:solidFill>
                          <a:latin typeface="微軟正黑體" pitchFamily="34" charset="0"/>
                          <a:ea typeface="微軟正黑體" pitchFamily="34" charset="-122"/>
                          <a:cs typeface="微軟正黑體" pitchFamily="34" charset="-120"/>
                        </a:rPr>
                        <a:t>主軸</a:t>
                      </a:r>
                      <a:endParaRPr lang="en-US" sz="12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250" b="1" dirty="0">
                          <a:solidFill>
                            <a:srgbClr val="2B2D5C"/>
                          </a:solidFill>
                          <a:latin typeface="微軟正黑體" pitchFamily="34" charset="0"/>
                          <a:ea typeface="微軟正黑體" pitchFamily="34" charset="-122"/>
                          <a:cs typeface="微軟正黑體" pitchFamily="34" charset="-120"/>
                        </a:rPr>
                        <a:t>具體工作</a:t>
                      </a:r>
                      <a:endParaRPr lang="en-US" sz="12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r>
              <a:tr h="868680">
                <a:tc>
                  <a:txBody>
                    <a:bodyPr/>
                    <a:lstStyle/>
                    <a:p>
                      <a:pPr indent="0" marL="0">
                        <a:buNone/>
                      </a:pPr>
                      <a:r>
                        <a:rPr lang="en-US" sz="1250" b="1" dirty="0">
                          <a:solidFill>
                            <a:srgbClr val="2B2D5C"/>
                          </a:solidFill>
                          <a:latin typeface="微軟正黑體" pitchFamily="34" charset="0"/>
                          <a:ea typeface="微軟正黑體" pitchFamily="34" charset="-122"/>
                          <a:cs typeface="微軟正黑體" pitchFamily="34" charset="-120"/>
                        </a:rPr>
                        <a:t>一、熟悉與投入</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algn="ctr" indent="0" marL="0">
                        <a:buNone/>
                      </a:pPr>
                      <a:r>
                        <a:rPr lang="en-US" sz="1250" dirty="0">
                          <a:solidFill>
                            <a:srgbClr val="2B2D5C"/>
                          </a:solidFill>
                          <a:latin typeface="微軟正黑體" pitchFamily="34" charset="0"/>
                          <a:ea typeface="微軟正黑體" pitchFamily="34" charset="-122"/>
                          <a:cs typeface="微軟正黑體" pitchFamily="34" charset="-120"/>
                        </a:rPr>
                        <a:t>到職～第 4 週</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250" dirty="0">
                          <a:solidFill>
                            <a:srgbClr val="2B2D5C"/>
                          </a:solidFill>
                          <a:latin typeface="微軟正黑體" pitchFamily="34" charset="0"/>
                          <a:ea typeface="微軟正黑體" pitchFamily="34" charset="-122"/>
                          <a:cs typeface="微軟正黑體" pitchFamily="34" charset="-120"/>
                        </a:rPr>
                        <a:t>熟悉公司業務與 AI 教育訓練產品線</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250" dirty="0">
                          <a:solidFill>
                            <a:srgbClr val="2B2D5C"/>
                          </a:solidFill>
                          <a:latin typeface="微軟正黑體" pitchFamily="34" charset="0"/>
                          <a:ea typeface="微軟正黑體" pitchFamily="34" charset="-122"/>
                          <a:cs typeface="微軟正黑體" pitchFamily="34" charset="-120"/>
                        </a:rPr>
                        <a:t>認識部門定位與產品線；投入對外課程教材製作</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r h="868680">
                <a:tc>
                  <a:txBody>
                    <a:bodyPr/>
                    <a:lstStyle/>
                    <a:p>
                      <a:pPr indent="0" marL="0">
                        <a:buNone/>
                      </a:pPr>
                      <a:r>
                        <a:rPr lang="en-US" sz="1250" b="1" dirty="0">
                          <a:solidFill>
                            <a:srgbClr val="2B2D5C"/>
                          </a:solidFill>
                          <a:latin typeface="微軟正黑體" pitchFamily="34" charset="0"/>
                          <a:ea typeface="微軟正黑體" pitchFamily="34" charset="-122"/>
                          <a:cs typeface="微軟正黑體" pitchFamily="34" charset="-120"/>
                        </a:rPr>
                        <a:t>二、產出</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algn="ctr" indent="0" marL="0">
                        <a:buNone/>
                      </a:pPr>
                      <a:r>
                        <a:rPr lang="en-US" sz="1250" dirty="0">
                          <a:solidFill>
                            <a:srgbClr val="2B2D5C"/>
                          </a:solidFill>
                          <a:latin typeface="微軟正黑體" pitchFamily="34" charset="0"/>
                          <a:ea typeface="微軟正黑體" pitchFamily="34" charset="-122"/>
                          <a:cs typeface="微軟正黑體" pitchFamily="34" charset="-120"/>
                        </a:rPr>
                        <a:t>第 5～8 週</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250" dirty="0">
                          <a:solidFill>
                            <a:srgbClr val="2B2D5C"/>
                          </a:solidFill>
                          <a:latin typeface="微軟正黑體" pitchFamily="34" charset="0"/>
                          <a:ea typeface="微軟正黑體" pitchFamily="34" charset="-122"/>
                          <a:cs typeface="微軟正黑體" pitchFamily="34" charset="-120"/>
                        </a:rPr>
                        <a:t>對外課程教材產出與授課</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250" dirty="0">
                          <a:solidFill>
                            <a:srgbClr val="2B2D5C"/>
                          </a:solidFill>
                          <a:latin typeface="微軟正黑體" pitchFamily="34" charset="0"/>
                          <a:ea typeface="微軟正黑體" pitchFamily="34" charset="-122"/>
                          <a:cs typeface="微軟正黑體" pitchFamily="34" charset="-120"/>
                        </a:rPr>
                        <a:t>完成 2 門課教材撰寫；擔任 2 門課講師</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r h="868680">
                <a:tc>
                  <a:txBody>
                    <a:bodyPr/>
                    <a:lstStyle/>
                    <a:p>
                      <a:pPr indent="0" marL="0">
                        <a:buNone/>
                      </a:pPr>
                      <a:r>
                        <a:rPr lang="en-US" sz="1250" b="1" dirty="0">
                          <a:solidFill>
                            <a:srgbClr val="2B2D5C"/>
                          </a:solidFill>
                          <a:latin typeface="微軟正黑體" pitchFamily="34" charset="0"/>
                          <a:ea typeface="微軟正黑體" pitchFamily="34" charset="-122"/>
                          <a:cs typeface="微軟正黑體" pitchFamily="34" charset="-120"/>
                        </a:rPr>
                        <a:t>三、落地</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algn="ctr" indent="0" marL="0">
                        <a:buNone/>
                      </a:pPr>
                      <a:r>
                        <a:rPr lang="en-US" sz="1250" dirty="0">
                          <a:solidFill>
                            <a:srgbClr val="2B2D5C"/>
                          </a:solidFill>
                          <a:latin typeface="微軟正黑體" pitchFamily="34" charset="0"/>
                          <a:ea typeface="微軟正黑體" pitchFamily="34" charset="-122"/>
                          <a:cs typeface="微軟正黑體" pitchFamily="34" charset="-120"/>
                        </a:rPr>
                        <a:t>第 9～12 週</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250" dirty="0">
                          <a:solidFill>
                            <a:srgbClr val="2B2D5C"/>
                          </a:solidFill>
                          <a:latin typeface="微軟正黑體" pitchFamily="34" charset="0"/>
                          <a:ea typeface="微軟正黑體" pitchFamily="34" charset="-122"/>
                          <a:cs typeface="微軟正黑體" pitchFamily="34" charset="-120"/>
                        </a:rPr>
                        <a:t>對內流程數位化，從需求訪談到系統上線</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250" dirty="0">
                          <a:solidFill>
                            <a:srgbClr val="2B2D5C"/>
                          </a:solidFill>
                          <a:latin typeface="微軟正黑體" pitchFamily="34" charset="0"/>
                          <a:ea typeface="微軟正黑體" pitchFamily="34" charset="-122"/>
                          <a:cs typeface="微軟正黑體" pitchFamily="34" charset="-120"/>
                        </a:rPr>
                        <a:t>神秘客訪問電話系統開發並實際上線</a:t>
                      </a:r>
                      <a:endParaRPr lang="en-US" sz="12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532120"/>
            <a:ext cx="10911535" cy="566928"/>
          </a:xfrm>
          <a:prstGeom prst="roundRect">
            <a:avLst>
              <a:gd name="adj" fmla="val 12903"/>
            </a:avLst>
          </a:prstGeom>
          <a:solidFill>
            <a:srgbClr val="F7F1CE"/>
          </a:solidFill>
          <a:ln/>
        </p:spPr>
        <p:txBody>
          <a:bodyPr wrap="square" lIns="0" tIns="0" rIns="0" bIns="0" rtlCol="0" anchor="ctr"/>
          <a:lstStyle/>
          <a:p>
            <a:pPr algn="ctr" indent="0" marL="0">
              <a:buNone/>
            </a:pPr>
            <a:r>
              <a:rPr lang="en-US" sz="1500" b="1" dirty="0">
                <a:solidFill>
                  <a:srgbClr val="2B2D5C"/>
                </a:solidFill>
                <a:latin typeface="微軟正黑體" pitchFamily="34" charset="0"/>
                <a:ea typeface="微軟正黑體" pitchFamily="34" charset="-122"/>
                <a:cs typeface="微軟正黑體" pitchFamily="34" charset="-120"/>
              </a:rPr>
              <a:t>三段的共同點：都是在做「把 AI 變成別人真的用得到的東西」。</a:t>
            </a:r>
            <a:endParaRPr lang="en-US" sz="1500" dirty="0"/>
          </a:p>
        </p:txBody>
      </p:sp>
      <p:sp>
        <p:nvSpPr>
          <p:cNvPr id="6" name="Text 3"/>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三、工作主軸</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工作定位：對外 7 ： 對內 3</a:t>
            </a:r>
            <a:endParaRPr lang="en-US" sz="3200" dirty="0"/>
          </a:p>
        </p:txBody>
      </p:sp>
      <p:sp>
        <p:nvSpPr>
          <p:cNvPr id="4" name="Shape 2"/>
          <p:cNvSpPr/>
          <p:nvPr/>
        </p:nvSpPr>
        <p:spPr>
          <a:xfrm>
            <a:off x="640080" y="1874520"/>
            <a:ext cx="5272888" cy="3246120"/>
          </a:xfrm>
          <a:prstGeom prst="roundRect">
            <a:avLst>
              <a:gd name="adj" fmla="val 1690"/>
            </a:avLst>
          </a:prstGeom>
          <a:solidFill>
            <a:srgbClr val="D6D9F0"/>
          </a:solidFill>
          <a:ln/>
          <a:effectLst>
            <a:outerShdw sx="100000" sy="100000" kx="0" ky="0" algn="bl" rotWithShape="0" blurRad="101600" dist="25400" dir="5400000">
              <a:srgbClr val="9AA0BF">
                <a:alpha val="22000"/>
              </a:srgbClr>
            </a:outerShdw>
          </a:effectLst>
        </p:spPr>
      </p:sp>
      <p:sp>
        <p:nvSpPr>
          <p:cNvPr id="5" name="Text 3"/>
          <p:cNvSpPr/>
          <p:nvPr/>
        </p:nvSpPr>
        <p:spPr>
          <a:xfrm>
            <a:off x="960120" y="2057400"/>
            <a:ext cx="4632808" cy="868680"/>
          </a:xfrm>
          <a:prstGeom prst="rect">
            <a:avLst/>
          </a:prstGeom>
          <a:noFill/>
          <a:ln/>
        </p:spPr>
        <p:txBody>
          <a:bodyPr wrap="square" lIns="0" tIns="0" rIns="0" bIns="0" rtlCol="0" anchor="ctr"/>
          <a:lstStyle/>
          <a:p>
            <a:pPr indent="0" marL="0">
              <a:buNone/>
            </a:pPr>
            <a:r>
              <a:rPr lang="en-US" sz="4600" b="1" dirty="0">
                <a:solidFill>
                  <a:srgbClr val="2B2D5C"/>
                </a:solidFill>
                <a:latin typeface="微軟正黑體" pitchFamily="34" charset="0"/>
                <a:ea typeface="微軟正黑體" pitchFamily="34" charset="-122"/>
                <a:cs typeface="微軟正黑體" pitchFamily="34" charset="-120"/>
              </a:rPr>
              <a:t>70%</a:t>
            </a:r>
            <a:endParaRPr lang="en-US" sz="4600" dirty="0"/>
          </a:p>
        </p:txBody>
      </p:sp>
      <p:sp>
        <p:nvSpPr>
          <p:cNvPr id="6" name="Text 4"/>
          <p:cNvSpPr/>
          <p:nvPr/>
        </p:nvSpPr>
        <p:spPr>
          <a:xfrm>
            <a:off x="960120" y="2926080"/>
            <a:ext cx="4632808" cy="411480"/>
          </a:xfrm>
          <a:prstGeom prst="rect">
            <a:avLst/>
          </a:prstGeom>
          <a:noFill/>
          <a:ln/>
        </p:spPr>
        <p:txBody>
          <a:bodyPr wrap="square" lIns="0" tIns="0" rIns="0" bIns="0" rtlCol="0" anchor="ctr"/>
          <a:lstStyle/>
          <a:p>
            <a:pPr indent="0" marL="0">
              <a:buNone/>
            </a:pPr>
            <a:r>
              <a:rPr lang="en-US" sz="1700" b="1" dirty="0">
                <a:solidFill>
                  <a:srgbClr val="2B2D5C"/>
                </a:solidFill>
                <a:latin typeface="微軟正黑體" pitchFamily="34" charset="0"/>
                <a:ea typeface="微軟正黑體" pitchFamily="34" charset="-122"/>
                <a:cs typeface="微軟正黑體" pitchFamily="34" charset="-120"/>
              </a:rPr>
              <a:t>對外｜教育訓練產品線</a:t>
            </a:r>
            <a:endParaRPr lang="en-US" sz="1700" dirty="0"/>
          </a:p>
        </p:txBody>
      </p:sp>
      <p:sp>
        <p:nvSpPr>
          <p:cNvPr id="7" name="Text 5"/>
          <p:cNvSpPr/>
          <p:nvPr/>
        </p:nvSpPr>
        <p:spPr>
          <a:xfrm>
            <a:off x="960120" y="3429000"/>
            <a:ext cx="4632808" cy="14630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2B2D5C"/>
                </a:solidFill>
                <a:latin typeface="微軟正黑體" pitchFamily="34" charset="0"/>
                <a:ea typeface="微軟正黑體" pitchFamily="34" charset="-122"/>
                <a:cs typeface="微軟正黑體" pitchFamily="34" charset="-120"/>
              </a:rPr>
              <a:t>四門 AI 應用課程</a:t>
            </a:r>
            <a:endParaRPr lang="en-US" sz="1350" dirty="0"/>
          </a:p>
          <a:p>
            <a:pPr marL="342900" indent="-342900">
              <a:spcAft>
                <a:spcPts val="600"/>
              </a:spcAft>
              <a:buSzPct val="100000"/>
              <a:buChar char="•"/>
            </a:pPr>
            <a:r>
              <a:rPr lang="en-US" sz="1350" dirty="0">
                <a:solidFill>
                  <a:srgbClr val="2B2D5C"/>
                </a:solidFill>
                <a:latin typeface="微軟正黑體" pitchFamily="34" charset="0"/>
                <a:ea typeface="微軟正黑體" pitchFamily="34" charset="-122"/>
                <a:cs typeface="微軟正黑體" pitchFamily="34" charset="-120"/>
              </a:rPr>
              <a:t>教材撰寫 2 門、擔任講師 2 門</a:t>
            </a:r>
            <a:endParaRPr lang="en-US" sz="1350" dirty="0"/>
          </a:p>
          <a:p>
            <a:pPr marL="342900" indent="-342900">
              <a:spcAft>
                <a:spcPts val="600"/>
              </a:spcAft>
              <a:buSzPct val="100000"/>
              <a:buChar char="•"/>
            </a:pPr>
            <a:r>
              <a:rPr lang="en-US" sz="1350" dirty="0">
                <a:solidFill>
                  <a:srgbClr val="2B2D5C"/>
                </a:solidFill>
                <a:latin typeface="微軟正黑體" pitchFamily="34" charset="0"/>
                <a:ea typeface="微軟正黑體" pitchFamily="34" charset="-122"/>
                <a:cs typeface="微軟正黑體" pitchFamily="34" charset="-120"/>
              </a:rPr>
              <a:t>目標：成為可對外銷售的課程商品</a:t>
            </a:r>
            <a:endParaRPr lang="en-US" sz="1350" dirty="0"/>
          </a:p>
        </p:txBody>
      </p:sp>
      <p:sp>
        <p:nvSpPr>
          <p:cNvPr id="8" name="Shape 6"/>
          <p:cNvSpPr/>
          <p:nvPr/>
        </p:nvSpPr>
        <p:spPr>
          <a:xfrm>
            <a:off x="6278728" y="1874520"/>
            <a:ext cx="5272888" cy="3246120"/>
          </a:xfrm>
          <a:prstGeom prst="roundRect">
            <a:avLst>
              <a:gd name="adj" fmla="val 1690"/>
            </a:avLst>
          </a:prstGeom>
          <a:solidFill>
            <a:srgbClr val="ECEEF8"/>
          </a:solidFill>
          <a:ln/>
          <a:effectLst>
            <a:outerShdw sx="100000" sy="100000" kx="0" ky="0" algn="bl" rotWithShape="0" blurRad="101600" dist="25400" dir="5400000">
              <a:srgbClr val="9AA0BF">
                <a:alpha val="22000"/>
              </a:srgbClr>
            </a:outerShdw>
          </a:effectLst>
        </p:spPr>
      </p:sp>
      <p:sp>
        <p:nvSpPr>
          <p:cNvPr id="9" name="Text 7"/>
          <p:cNvSpPr/>
          <p:nvPr/>
        </p:nvSpPr>
        <p:spPr>
          <a:xfrm>
            <a:off x="6598768" y="2057400"/>
            <a:ext cx="4632808" cy="868680"/>
          </a:xfrm>
          <a:prstGeom prst="rect">
            <a:avLst/>
          </a:prstGeom>
          <a:noFill/>
          <a:ln/>
        </p:spPr>
        <p:txBody>
          <a:bodyPr wrap="square" lIns="0" tIns="0" rIns="0" bIns="0" rtlCol="0" anchor="ctr"/>
          <a:lstStyle/>
          <a:p>
            <a:pPr indent="0" marL="0">
              <a:buNone/>
            </a:pPr>
            <a:r>
              <a:rPr lang="en-US" sz="4600" b="1" dirty="0">
                <a:solidFill>
                  <a:srgbClr val="2B2D5C"/>
                </a:solidFill>
                <a:latin typeface="微軟正黑體" pitchFamily="34" charset="0"/>
                <a:ea typeface="微軟正黑體" pitchFamily="34" charset="-122"/>
                <a:cs typeface="微軟正黑體" pitchFamily="34" charset="-120"/>
              </a:rPr>
              <a:t>30%</a:t>
            </a:r>
            <a:endParaRPr lang="en-US" sz="4600" dirty="0"/>
          </a:p>
        </p:txBody>
      </p:sp>
      <p:sp>
        <p:nvSpPr>
          <p:cNvPr id="10" name="Text 8"/>
          <p:cNvSpPr/>
          <p:nvPr/>
        </p:nvSpPr>
        <p:spPr>
          <a:xfrm>
            <a:off x="6598768" y="2926080"/>
            <a:ext cx="4632808" cy="411480"/>
          </a:xfrm>
          <a:prstGeom prst="rect">
            <a:avLst/>
          </a:prstGeom>
          <a:noFill/>
          <a:ln/>
        </p:spPr>
        <p:txBody>
          <a:bodyPr wrap="square" lIns="0" tIns="0" rIns="0" bIns="0" rtlCol="0" anchor="ctr"/>
          <a:lstStyle/>
          <a:p>
            <a:pPr indent="0" marL="0">
              <a:buNone/>
            </a:pPr>
            <a:r>
              <a:rPr lang="en-US" sz="1700" b="1" dirty="0">
                <a:solidFill>
                  <a:srgbClr val="2B2D5C"/>
                </a:solidFill>
                <a:latin typeface="微軟正黑體" pitchFamily="34" charset="0"/>
                <a:ea typeface="微軟正黑體" pitchFamily="34" charset="-122"/>
                <a:cs typeface="微軟正黑體" pitchFamily="34" charset="-120"/>
              </a:rPr>
              <a:t>對內｜內部流程數位化</a:t>
            </a:r>
            <a:endParaRPr lang="en-US" sz="1700" dirty="0"/>
          </a:p>
        </p:txBody>
      </p:sp>
      <p:sp>
        <p:nvSpPr>
          <p:cNvPr id="11" name="Text 9"/>
          <p:cNvSpPr/>
          <p:nvPr/>
        </p:nvSpPr>
        <p:spPr>
          <a:xfrm>
            <a:off x="6598768" y="3429000"/>
            <a:ext cx="4632808" cy="14630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2B2D5C"/>
                </a:solidFill>
                <a:latin typeface="微軟正黑體" pitchFamily="34" charset="0"/>
                <a:ea typeface="微軟正黑體" pitchFamily="34" charset="-122"/>
                <a:cs typeface="微軟正黑體" pitchFamily="34" charset="-120"/>
              </a:rPr>
              <a:t>神秘客訪問電話系統</a:t>
            </a:r>
            <a:endParaRPr lang="en-US" sz="1350" dirty="0"/>
          </a:p>
          <a:p>
            <a:pPr marL="342900" indent="-342900">
              <a:spcAft>
                <a:spcPts val="600"/>
              </a:spcAft>
              <a:buSzPct val="100000"/>
              <a:buChar char="•"/>
            </a:pPr>
            <a:r>
              <a:rPr lang="en-US" sz="1350" dirty="0">
                <a:solidFill>
                  <a:srgbClr val="2B2D5C"/>
                </a:solidFill>
                <a:latin typeface="微軟正黑體" pitchFamily="34" charset="0"/>
                <a:ea typeface="微軟正黑體" pitchFamily="34" charset="-122"/>
                <a:cs typeface="微軟正黑體" pitchFamily="34" charset="-120"/>
              </a:rPr>
              <a:t>從需求訪談到開發上線</a:t>
            </a:r>
            <a:endParaRPr lang="en-US" sz="1350" dirty="0"/>
          </a:p>
          <a:p>
            <a:pPr marL="342900" indent="-342900">
              <a:spcAft>
                <a:spcPts val="600"/>
              </a:spcAft>
              <a:buSzPct val="100000"/>
              <a:buChar char="•"/>
            </a:pPr>
            <a:r>
              <a:rPr lang="en-US" sz="1350" dirty="0">
                <a:solidFill>
                  <a:srgbClr val="2B2D5C"/>
                </a:solidFill>
                <a:latin typeface="微軟正黑體" pitchFamily="34" charset="0"/>
                <a:ea typeface="微軟正黑體" pitchFamily="34" charset="-122"/>
                <a:cs typeface="微軟正黑體" pitchFamily="34" charset="-120"/>
              </a:rPr>
              <a:t>目標：讓內部作業真的變快</a:t>
            </a:r>
            <a:endParaRPr lang="en-US" sz="1350" dirty="0"/>
          </a:p>
        </p:txBody>
      </p:sp>
      <p:sp>
        <p:nvSpPr>
          <p:cNvPr id="12" name="Text 10"/>
          <p:cNvSpPr/>
          <p:nvPr/>
        </p:nvSpPr>
        <p:spPr>
          <a:xfrm>
            <a:off x="640080" y="5394960"/>
            <a:ext cx="10911535" cy="658368"/>
          </a:xfrm>
          <a:prstGeom prst="roundRect">
            <a:avLst>
              <a:gd name="adj" fmla="val 11111"/>
            </a:avLst>
          </a:prstGeom>
          <a:solidFill>
            <a:srgbClr val="2B2D5C"/>
          </a:solidFill>
          <a:ln/>
        </p:spPr>
        <p:txBody>
          <a:bodyPr wrap="square" lIns="0" tIns="0" rIns="0" bIns="0" rtlCol="0" anchor="ctr"/>
          <a:lstStyle/>
          <a:p>
            <a:pPr algn="ctr" indent="0" marL="0">
              <a:buNone/>
            </a:pPr>
            <a:r>
              <a:rPr lang="en-US" sz="1800" b="1" dirty="0">
                <a:solidFill>
                  <a:srgbClr val="FFFFFF"/>
                </a:solidFill>
                <a:latin typeface="微軟正黑體" pitchFamily="34" charset="0"/>
                <a:ea typeface="微軟正黑體" pitchFamily="34" charset="-122"/>
                <a:cs typeface="微軟正黑體" pitchFamily="34" charset="-120"/>
              </a:rPr>
              <a:t>對外，把 AI 變成可以賣的課；對內，把 AI 變成可以用的系統。</a:t>
            </a:r>
            <a:endParaRPr lang="en-US" sz="1800" dirty="0"/>
          </a:p>
        </p:txBody>
      </p:sp>
      <p:sp>
        <p:nvSpPr>
          <p:cNvPr id="13" name="Text 11"/>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048"/>
        </a:solidFill>
      </p:bgPr>
    </p:bg>
    <p:spTree>
      <p:nvGrpSpPr>
        <p:cNvPr id="1" name=""/>
        <p:cNvGrpSpPr/>
        <p:nvPr/>
      </p:nvGrpSpPr>
      <p:grpSpPr>
        <a:xfrm>
          <a:off x="0" y="0"/>
          <a:ext cx="0" cy="0"/>
          <a:chOff x="0" y="0"/>
          <a:chExt cx="0" cy="0"/>
        </a:xfrm>
      </p:grpSpPr>
      <p:sp>
        <p:nvSpPr>
          <p:cNvPr id="2" name="Text 0"/>
          <p:cNvSpPr/>
          <p:nvPr/>
        </p:nvSpPr>
        <p:spPr>
          <a:xfrm>
            <a:off x="640080" y="1920240"/>
            <a:ext cx="1828800" cy="822960"/>
          </a:xfrm>
          <a:prstGeom prst="rect">
            <a:avLst/>
          </a:prstGeom>
          <a:noFill/>
          <a:ln/>
        </p:spPr>
        <p:txBody>
          <a:bodyPr wrap="square" lIns="0" tIns="0" rIns="0" bIns="0" rtlCol="0" anchor="ctr"/>
          <a:lstStyle/>
          <a:p>
            <a:pPr indent="0" marL="0">
              <a:buNone/>
            </a:pPr>
            <a:r>
              <a:rPr lang="en-US" sz="2200" b="1" dirty="0">
                <a:solidFill>
                  <a:srgbClr val="AEB4E4"/>
                </a:solidFill>
                <a:latin typeface="微軟正黑體" pitchFamily="34" charset="0"/>
                <a:ea typeface="微軟正黑體" pitchFamily="34" charset="-122"/>
                <a:cs typeface="微軟正黑體" pitchFamily="34" charset="-120"/>
              </a:rPr>
              <a:t>四</a:t>
            </a:r>
            <a:endParaRPr lang="en-US" sz="2200" dirty="0"/>
          </a:p>
        </p:txBody>
      </p:sp>
      <p:sp>
        <p:nvSpPr>
          <p:cNvPr id="3" name="Text 1"/>
          <p:cNvSpPr/>
          <p:nvPr/>
        </p:nvSpPr>
        <p:spPr>
          <a:xfrm>
            <a:off x="640080" y="2606040"/>
            <a:ext cx="10911535" cy="1143000"/>
          </a:xfrm>
          <a:prstGeom prst="rect">
            <a:avLst/>
          </a:prstGeom>
          <a:noFill/>
          <a:ln/>
        </p:spPr>
        <p:txBody>
          <a:bodyPr wrap="square" lIns="0" tIns="0" rIns="0" bIns="0" rtlCol="0" anchor="ctr"/>
          <a:lstStyle/>
          <a:p>
            <a:pPr indent="0" marL="0">
              <a:buNone/>
            </a:pPr>
            <a:r>
              <a:rPr lang="en-US" sz="5200" b="1" dirty="0">
                <a:solidFill>
                  <a:srgbClr val="FFFFFF"/>
                </a:solidFill>
                <a:latin typeface="微軟正黑體" pitchFamily="34" charset="0"/>
                <a:ea typeface="微軟正黑體" pitchFamily="34" charset="-122"/>
                <a:cs typeface="微軟正黑體" pitchFamily="34" charset="-120"/>
              </a:rPr>
              <a:t>學習與工作成果</a:t>
            </a:r>
            <a:endParaRPr lang="en-US" sz="5200" dirty="0"/>
          </a:p>
        </p:txBody>
      </p:sp>
      <p:sp>
        <p:nvSpPr>
          <p:cNvPr id="4" name="Text 2"/>
          <p:cNvSpPr/>
          <p:nvPr/>
        </p:nvSpPr>
        <p:spPr>
          <a:xfrm>
            <a:off x="640080" y="3931920"/>
            <a:ext cx="10911535" cy="457200"/>
          </a:xfrm>
          <a:prstGeom prst="rect">
            <a:avLst/>
          </a:prstGeom>
          <a:noFill/>
          <a:ln/>
        </p:spPr>
        <p:txBody>
          <a:bodyPr wrap="square" lIns="0" tIns="0" rIns="0" bIns="0" rtlCol="0" anchor="ctr"/>
          <a:lstStyle/>
          <a:p>
            <a:pPr indent="0" marL="0">
              <a:buNone/>
            </a:pPr>
            <a:r>
              <a:rPr lang="en-US" sz="1700" dirty="0">
                <a:solidFill>
                  <a:srgbClr val="AEB4E4"/>
                </a:solidFill>
                <a:latin typeface="微軟正黑體" pitchFamily="34" charset="0"/>
                <a:ea typeface="微軟正黑體" pitchFamily="34" charset="-122"/>
                <a:cs typeface="微軟正黑體" pitchFamily="34" charset="-120"/>
              </a:rPr>
              <a:t>對外｜四門 AI 應用課程　　　對內｜神秘客訪問電話系統</a:t>
            </a:r>
            <a:endParaRPr lang="en-US" sz="1700" dirty="0"/>
          </a:p>
        </p:txBody>
      </p:sp>
      <p:sp>
        <p:nvSpPr>
          <p:cNvPr id="5" name="Text 3"/>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7A80AE"/>
                </a:solidFill>
                <a:latin typeface="微軟正黑體" pitchFamily="34" charset="0"/>
                <a:ea typeface="微軟正黑體" pitchFamily="34" charset="-122"/>
                <a:cs typeface="微軟正黑體"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四、工作成果｜對外</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對外線：四門 AI 應用課</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11535" cy="914400"/>
        </p:xfrm>
        <a:graphic>
          <a:graphicData uri="http://schemas.openxmlformats.org/drawingml/2006/table">
            <a:tbl>
              <a:tblPr/>
              <a:tblGrid>
                <a:gridCol w="6035040"/>
                <a:gridCol w="2377440"/>
                <a:gridCol w="2499055"/>
              </a:tblGrid>
              <a:tr h="658368">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課程</a:t>
                      </a:r>
                      <a:endParaRPr lang="en-US" sz="13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我的角色</a:t>
                      </a:r>
                      <a:endParaRPr lang="en-US" sz="13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狀態</a:t>
                      </a:r>
                      <a:endParaRPr lang="en-US" sz="13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r>
              <a:tr h="658368">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① AI 時代的商業企劃思維與簡報製作工具</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D95F2B"/>
                          </a:solidFill>
                          <a:latin typeface="微軟正黑體" pitchFamily="34" charset="0"/>
                          <a:ea typeface="微軟正黑體" pitchFamily="34" charset="-122"/>
                          <a:cs typeface="微軟正黑體" pitchFamily="34" charset="-120"/>
                        </a:rPr>
                        <a:t>教材撰寫</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B2D5C"/>
                          </a:solidFill>
                          <a:latin typeface="微軟正黑體" pitchFamily="34" charset="0"/>
                          <a:ea typeface="微軟正黑體" pitchFamily="34" charset="-122"/>
                          <a:cs typeface="微軟正黑體" pitchFamily="34" charset="-120"/>
                        </a:rPr>
                        <a:t>教材已完成</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② AI 圖片生成課</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D95F2B"/>
                          </a:solidFill>
                          <a:latin typeface="微軟正黑體" pitchFamily="34" charset="0"/>
                          <a:ea typeface="微軟正黑體" pitchFamily="34" charset="-122"/>
                          <a:cs typeface="微軟正黑體" pitchFamily="34" charset="-120"/>
                        </a:rPr>
                        <a:t>教材撰寫</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B2D5C"/>
                          </a:solidFill>
                          <a:latin typeface="微軟正黑體" pitchFamily="34" charset="0"/>
                          <a:ea typeface="微軟正黑體" pitchFamily="34" charset="-122"/>
                          <a:cs typeface="微軟正黑體" pitchFamily="34" charset="-120"/>
                        </a:rPr>
                        <a:t>教材已完成</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③ AI 輔助 UI/UX 與原型設計</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7A0A0"/>
                          </a:solidFill>
                          <a:latin typeface="微軟正黑體" pitchFamily="34" charset="0"/>
                          <a:ea typeface="微軟正黑體" pitchFamily="34" charset="-122"/>
                          <a:cs typeface="微軟正黑體" pitchFamily="34" charset="-120"/>
                        </a:rPr>
                        <a:t>擔任講師</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B2D5C"/>
                          </a:solidFill>
                          <a:latin typeface="微軟正黑體" pitchFamily="34" charset="0"/>
                          <a:ea typeface="微軟正黑體" pitchFamily="34" charset="-122"/>
                          <a:cs typeface="微軟正黑體" pitchFamily="34" charset="-120"/>
                        </a:rPr>
                        <a:t>已授課</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④ AI 輔助 vibe-coding 程式開發</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7A0A0"/>
                          </a:solidFill>
                          <a:latin typeface="微軟正黑體" pitchFamily="34" charset="0"/>
                          <a:ea typeface="微軟正黑體" pitchFamily="34" charset="-122"/>
                          <a:cs typeface="微軟正黑體" pitchFamily="34" charset="-120"/>
                        </a:rPr>
                        <a:t>擔任講師</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2B2D5C"/>
                          </a:solidFill>
                          <a:latin typeface="微軟正黑體" pitchFamily="34" charset="0"/>
                          <a:ea typeface="微軟正黑體" pitchFamily="34" charset="-122"/>
                          <a:cs typeface="微軟正黑體" pitchFamily="34" charset="-120"/>
                        </a:rPr>
                        <a:t>已授課</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349240"/>
            <a:ext cx="10911535" cy="365760"/>
          </a:xfrm>
          <a:prstGeom prst="rect">
            <a:avLst/>
          </a:prstGeom>
          <a:noFill/>
          <a:ln/>
        </p:spPr>
        <p:txBody>
          <a:bodyPr wrap="square" lIns="0" tIns="0" rIns="0" bIns="0" rtlCol="0" anchor="ctr"/>
          <a:lstStyle/>
          <a:p>
            <a:pPr indent="0" marL="0">
              <a:buNone/>
            </a:pPr>
            <a:r>
              <a:rPr lang="en-US" sz="1200" dirty="0">
                <a:solidFill>
                  <a:srgbClr val="D95F2B"/>
                </a:solidFill>
                <a:latin typeface="微軟正黑體" pitchFamily="34" charset="0"/>
                <a:ea typeface="微軟正黑體" pitchFamily="34" charset="-122"/>
                <a:cs typeface="微軟正黑體" pitchFamily="34" charset="-120"/>
              </a:rPr>
              <a:t>【待補：各課時數與面向對象】</a:t>
            </a:r>
            <a:endParaRPr lang="en-US" sz="1200" dirty="0"/>
          </a:p>
        </p:txBody>
      </p:sp>
      <p:sp>
        <p:nvSpPr>
          <p:cNvPr id="6" name="Text 3"/>
          <p:cNvSpPr/>
          <p:nvPr/>
        </p:nvSpPr>
        <p:spPr>
          <a:xfrm>
            <a:off x="640080" y="5760720"/>
            <a:ext cx="10911535" cy="548640"/>
          </a:xfrm>
          <a:prstGeom prst="rect">
            <a:avLst/>
          </a:prstGeom>
          <a:noFill/>
          <a:ln/>
        </p:spPr>
        <p:txBody>
          <a:bodyPr wrap="square" lIns="0" tIns="0" rIns="0" bIns="0" rtlCol="0" anchor="ctr"/>
          <a:lstStyle/>
          <a:p>
            <a:pPr indent="0" marL="0">
              <a:buNone/>
            </a:pPr>
            <a:r>
              <a:rPr lang="en-US" sz="1400" dirty="0">
                <a:solidFill>
                  <a:srgbClr val="6E7191"/>
                </a:solidFill>
                <a:latin typeface="微軟正黑體" pitchFamily="34" charset="0"/>
                <a:ea typeface="微軟正黑體" pitchFamily="34" charset="-122"/>
                <a:cs typeface="微軟正黑體" pitchFamily="34" charset="-120"/>
              </a:rPr>
              <a:t>寫教材要把主題徹底搞懂才寫得出來；上台授課才知道學員會卡在哪裡——這兩件事互相回饋。</a:t>
            </a:r>
            <a:endParaRPr lang="en-US" sz="1400" dirty="0"/>
          </a:p>
        </p:txBody>
      </p:sp>
      <p:sp>
        <p:nvSpPr>
          <p:cNvPr id="7" name="Text 4"/>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四、工作成果｜對外</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教材撰寫①　AI 時代的商業企劃思維與簡報製作工具</a:t>
            </a:r>
            <a:endParaRPr lang="en-US" sz="3200" dirty="0"/>
          </a:p>
        </p:txBody>
      </p:sp>
      <p:sp>
        <p:nvSpPr>
          <p:cNvPr id="4" name="Text 2"/>
          <p:cNvSpPr/>
          <p:nvPr/>
        </p:nvSpPr>
        <p:spPr>
          <a:xfrm>
            <a:off x="640080" y="1965960"/>
            <a:ext cx="5577840" cy="274320"/>
          </a:xfrm>
          <a:prstGeom prst="rect">
            <a:avLst/>
          </a:prstGeom>
          <a:noFill/>
          <a:ln/>
        </p:spPr>
        <p:txBody>
          <a:bodyPr wrap="square" lIns="0" tIns="0" rIns="0" bIns="0" rtlCol="0" anchor="ctr"/>
          <a:lstStyle/>
          <a:p>
            <a:pPr indent="0" marL="0">
              <a:buNone/>
            </a:pPr>
            <a:r>
              <a:rPr lang="en-US" sz="1250" b="1" dirty="0">
                <a:solidFill>
                  <a:srgbClr val="D95F2B"/>
                </a:solidFill>
                <a:latin typeface="微軟正黑體" pitchFamily="34" charset="0"/>
                <a:ea typeface="微軟正黑體" pitchFamily="34" charset="-122"/>
                <a:cs typeface="微軟正黑體" pitchFamily="34" charset="-120"/>
              </a:rPr>
              <a:t>我負責</a:t>
            </a:r>
            <a:endParaRPr lang="en-US" sz="1250" dirty="0"/>
          </a:p>
        </p:txBody>
      </p:sp>
      <p:sp>
        <p:nvSpPr>
          <p:cNvPr id="5" name="Text 3"/>
          <p:cNvSpPr/>
          <p:nvPr/>
        </p:nvSpPr>
        <p:spPr>
          <a:xfrm>
            <a:off x="640080" y="2240280"/>
            <a:ext cx="5577840" cy="402336"/>
          </a:xfrm>
          <a:prstGeom prst="rect">
            <a:avLst/>
          </a:prstGeom>
          <a:noFill/>
          <a:ln/>
        </p:spPr>
        <p:txBody>
          <a:bodyPr wrap="square" lIns="0" tIns="0" rIns="0" bIns="0" rtlCol="0" anchor="t"/>
          <a:lstStyle/>
          <a:p>
            <a:pPr indent="0" marL="0">
              <a:buNone/>
            </a:pPr>
            <a:r>
              <a:rPr lang="en-US" sz="1450" dirty="0">
                <a:solidFill>
                  <a:srgbClr val="2B2D5C"/>
                </a:solidFill>
                <a:latin typeface="微軟正黑體" pitchFamily="34" charset="0"/>
                <a:ea typeface="微軟正黑體" pitchFamily="34" charset="-122"/>
                <a:cs typeface="微軟正黑體" pitchFamily="34" charset="-120"/>
              </a:rPr>
              <a:t>課程架構、教材內容、實作案例</a:t>
            </a:r>
            <a:endParaRPr lang="en-US" sz="1450" dirty="0"/>
          </a:p>
        </p:txBody>
      </p:sp>
      <p:sp>
        <p:nvSpPr>
          <p:cNvPr id="6" name="Text 4"/>
          <p:cNvSpPr/>
          <p:nvPr/>
        </p:nvSpPr>
        <p:spPr>
          <a:xfrm>
            <a:off x="640080" y="2697480"/>
            <a:ext cx="5577840" cy="274320"/>
          </a:xfrm>
          <a:prstGeom prst="rect">
            <a:avLst/>
          </a:prstGeom>
          <a:noFill/>
          <a:ln/>
        </p:spPr>
        <p:txBody>
          <a:bodyPr wrap="square" lIns="0" tIns="0" rIns="0" bIns="0" rtlCol="0" anchor="ctr"/>
          <a:lstStyle/>
          <a:p>
            <a:pPr indent="0" marL="0">
              <a:buNone/>
            </a:pPr>
            <a:r>
              <a:rPr lang="en-US" sz="1250" b="1" dirty="0">
                <a:solidFill>
                  <a:srgbClr val="D95F2B"/>
                </a:solidFill>
                <a:latin typeface="微軟正黑體" pitchFamily="34" charset="0"/>
                <a:ea typeface="微軟正黑體" pitchFamily="34" charset="-122"/>
                <a:cs typeface="微軟正黑體" pitchFamily="34" charset="-120"/>
              </a:rPr>
              <a:t>課程主題</a:t>
            </a:r>
            <a:endParaRPr lang="en-US" sz="1250" dirty="0"/>
          </a:p>
        </p:txBody>
      </p:sp>
      <p:sp>
        <p:nvSpPr>
          <p:cNvPr id="7" name="Text 5"/>
          <p:cNvSpPr/>
          <p:nvPr/>
        </p:nvSpPr>
        <p:spPr>
          <a:xfrm>
            <a:off x="640080" y="2971800"/>
            <a:ext cx="5577840" cy="402336"/>
          </a:xfrm>
          <a:prstGeom prst="rect">
            <a:avLst/>
          </a:prstGeom>
          <a:noFill/>
          <a:ln/>
        </p:spPr>
        <p:txBody>
          <a:bodyPr wrap="square" lIns="0" tIns="0" rIns="0" bIns="0" rtlCol="0" anchor="t"/>
          <a:lstStyle/>
          <a:p>
            <a:pPr indent="0" marL="0">
              <a:buNone/>
            </a:pPr>
            <a:r>
              <a:rPr lang="en-US" sz="1450" dirty="0">
                <a:solidFill>
                  <a:srgbClr val="2B2D5C"/>
                </a:solidFill>
                <a:latin typeface="微軟正黑體" pitchFamily="34" charset="0"/>
                <a:ea typeface="微軟正黑體" pitchFamily="34" charset="-122"/>
                <a:cs typeface="微軟正黑體" pitchFamily="34" charset="-120"/>
              </a:rPr>
              <a:t>用 AI 輔助商業企劃的思考流程，並產出簡報</a:t>
            </a:r>
            <a:endParaRPr lang="en-US" sz="1450" dirty="0"/>
          </a:p>
        </p:txBody>
      </p:sp>
      <p:sp>
        <p:nvSpPr>
          <p:cNvPr id="8" name="Text 6"/>
          <p:cNvSpPr/>
          <p:nvPr/>
        </p:nvSpPr>
        <p:spPr>
          <a:xfrm>
            <a:off x="640080" y="3429000"/>
            <a:ext cx="5577840" cy="274320"/>
          </a:xfrm>
          <a:prstGeom prst="rect">
            <a:avLst/>
          </a:prstGeom>
          <a:noFill/>
          <a:ln/>
        </p:spPr>
        <p:txBody>
          <a:bodyPr wrap="square" lIns="0" tIns="0" rIns="0" bIns="0" rtlCol="0" anchor="ctr"/>
          <a:lstStyle/>
          <a:p>
            <a:pPr indent="0" marL="0">
              <a:buNone/>
            </a:pPr>
            <a:r>
              <a:rPr lang="en-US" sz="1250" b="1" dirty="0">
                <a:solidFill>
                  <a:srgbClr val="D95F2B"/>
                </a:solidFill>
                <a:latin typeface="微軟正黑體" pitchFamily="34" charset="0"/>
                <a:ea typeface="微軟正黑體" pitchFamily="34" charset="-122"/>
                <a:cs typeface="微軟正黑體" pitchFamily="34" charset="-120"/>
              </a:rPr>
              <a:t>對象</a:t>
            </a:r>
            <a:endParaRPr lang="en-US" sz="1250" dirty="0"/>
          </a:p>
        </p:txBody>
      </p:sp>
      <p:sp>
        <p:nvSpPr>
          <p:cNvPr id="9" name="Text 7"/>
          <p:cNvSpPr/>
          <p:nvPr/>
        </p:nvSpPr>
        <p:spPr>
          <a:xfrm>
            <a:off x="640080" y="3703320"/>
            <a:ext cx="5577840" cy="402336"/>
          </a:xfrm>
          <a:prstGeom prst="rect">
            <a:avLst/>
          </a:prstGeom>
          <a:noFill/>
          <a:ln/>
        </p:spPr>
        <p:txBody>
          <a:bodyPr wrap="square" lIns="0" tIns="0" rIns="0" bIns="0" rtlCol="0" anchor="t"/>
          <a:lstStyle/>
          <a:p>
            <a:pPr indent="0" marL="0">
              <a:buNone/>
            </a:pPr>
            <a:r>
              <a:rPr lang="en-US" sz="1450" dirty="0">
                <a:solidFill>
                  <a:srgbClr val="D95F2B"/>
                </a:solidFill>
                <a:latin typeface="微軟正黑體" pitchFamily="34" charset="0"/>
                <a:ea typeface="微軟正黑體" pitchFamily="34" charset="-122"/>
                <a:cs typeface="微軟正黑體" pitchFamily="34" charset="-120"/>
              </a:rPr>
              <a:t>【待補：面向對象】</a:t>
            </a:r>
            <a:endParaRPr lang="en-US" sz="1450" dirty="0"/>
          </a:p>
        </p:txBody>
      </p:sp>
      <p:sp>
        <p:nvSpPr>
          <p:cNvPr id="10" name="Text 8"/>
          <p:cNvSpPr/>
          <p:nvPr/>
        </p:nvSpPr>
        <p:spPr>
          <a:xfrm>
            <a:off x="640080" y="4160520"/>
            <a:ext cx="5577840" cy="274320"/>
          </a:xfrm>
          <a:prstGeom prst="rect">
            <a:avLst/>
          </a:prstGeom>
          <a:noFill/>
          <a:ln/>
        </p:spPr>
        <p:txBody>
          <a:bodyPr wrap="square" lIns="0" tIns="0" rIns="0" bIns="0" rtlCol="0" anchor="ctr"/>
          <a:lstStyle/>
          <a:p>
            <a:pPr indent="0" marL="0">
              <a:buNone/>
            </a:pPr>
            <a:r>
              <a:rPr lang="en-US" sz="1250" b="1" dirty="0">
                <a:solidFill>
                  <a:srgbClr val="D95F2B"/>
                </a:solidFill>
                <a:latin typeface="微軟正黑體" pitchFamily="34" charset="0"/>
                <a:ea typeface="微軟正黑體" pitchFamily="34" charset="-122"/>
                <a:cs typeface="微軟正黑體" pitchFamily="34" charset="-120"/>
              </a:rPr>
              <a:t>規模</a:t>
            </a:r>
            <a:endParaRPr lang="en-US" sz="1250" dirty="0"/>
          </a:p>
        </p:txBody>
      </p:sp>
      <p:sp>
        <p:nvSpPr>
          <p:cNvPr id="11" name="Text 9"/>
          <p:cNvSpPr/>
          <p:nvPr/>
        </p:nvSpPr>
        <p:spPr>
          <a:xfrm>
            <a:off x="640080" y="4434840"/>
            <a:ext cx="5577840" cy="402336"/>
          </a:xfrm>
          <a:prstGeom prst="rect">
            <a:avLst/>
          </a:prstGeom>
          <a:noFill/>
          <a:ln/>
        </p:spPr>
        <p:txBody>
          <a:bodyPr wrap="square" lIns="0" tIns="0" rIns="0" bIns="0" rtlCol="0" anchor="t"/>
          <a:lstStyle/>
          <a:p>
            <a:pPr indent="0" marL="0">
              <a:buNone/>
            </a:pPr>
            <a:r>
              <a:rPr lang="en-US" sz="1450" dirty="0">
                <a:solidFill>
                  <a:srgbClr val="D95F2B"/>
                </a:solidFill>
                <a:latin typeface="微軟正黑體" pitchFamily="34" charset="0"/>
                <a:ea typeface="微軟正黑體" pitchFamily="34" charset="-122"/>
                <a:cs typeface="微軟正黑體" pitchFamily="34" charset="-120"/>
              </a:rPr>
              <a:t>【待補：時數／教材頁數／案例數】</a:t>
            </a:r>
            <a:endParaRPr lang="en-US" sz="1450" dirty="0"/>
          </a:p>
        </p:txBody>
      </p:sp>
      <p:sp>
        <p:nvSpPr>
          <p:cNvPr id="12" name="Text 10"/>
          <p:cNvSpPr/>
          <p:nvPr/>
        </p:nvSpPr>
        <p:spPr>
          <a:xfrm>
            <a:off x="640080" y="5029200"/>
            <a:ext cx="5577840" cy="1051560"/>
          </a:xfrm>
          <a:prstGeom prst="roundRect">
            <a:avLst>
              <a:gd name="adj" fmla="val 6957"/>
            </a:avLst>
          </a:prstGeom>
          <a:solidFill>
            <a:srgbClr val="F7F1CE"/>
          </a:solidFill>
          <a:ln/>
        </p:spPr>
        <p:txBody>
          <a:bodyPr wrap="square" lIns="127000" tIns="177800" rIns="177800" bIns="127000" rtlCol="0" anchor="ctr"/>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重點不在工具操作，而在思維：先拆解企劃從無到有的流程，再看每一段可以怎麼用 AI，而不是從工具功能表開始教。</a:t>
            </a:r>
            <a:endParaRPr lang="en-US" sz="1350" dirty="0"/>
          </a:p>
        </p:txBody>
      </p:sp>
      <p:sp>
        <p:nvSpPr>
          <p:cNvPr id="13" name="Shape 11"/>
          <p:cNvSpPr/>
          <p:nvPr/>
        </p:nvSpPr>
        <p:spPr>
          <a:xfrm>
            <a:off x="6629400" y="1965960"/>
            <a:ext cx="4922215" cy="4114800"/>
          </a:xfrm>
          <a:prstGeom prst="roundRect">
            <a:avLst>
              <a:gd name="adj" fmla="val 1778"/>
            </a:avLst>
          </a:prstGeom>
          <a:solidFill>
            <a:srgbClr val="E4E6F0"/>
          </a:solidFill>
          <a:ln w="12700">
            <a:solidFill>
              <a:srgbClr val="AEB4E4"/>
            </a:solidFill>
            <a:prstDash val="dash"/>
          </a:ln>
        </p:spPr>
      </p:sp>
      <p:sp>
        <p:nvSpPr>
          <p:cNvPr id="14" name="Text 12"/>
          <p:cNvSpPr/>
          <p:nvPr/>
        </p:nvSpPr>
        <p:spPr>
          <a:xfrm>
            <a:off x="6766560" y="1965960"/>
            <a:ext cx="4647895" cy="411480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【待放圖】課程①教材頁</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course-01-slide.png</a:t>
            </a:r>
            <a:endParaRPr lang="en-US" sz="1100" dirty="0"/>
          </a:p>
        </p:txBody>
      </p:sp>
      <p:sp>
        <p:nvSpPr>
          <p:cNvPr id="15" name="Text 13"/>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四、工作成果｜對外</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教材撰寫②　AI 圖片生成課</a:t>
            </a:r>
            <a:endParaRPr lang="en-US" sz="3200" dirty="0"/>
          </a:p>
        </p:txBody>
      </p:sp>
      <p:sp>
        <p:nvSpPr>
          <p:cNvPr id="4" name="Shape 2"/>
          <p:cNvSpPr/>
          <p:nvPr/>
        </p:nvSpPr>
        <p:spPr>
          <a:xfrm>
            <a:off x="640080" y="1965960"/>
            <a:ext cx="5486400" cy="4114800"/>
          </a:xfrm>
          <a:prstGeom prst="roundRect">
            <a:avLst>
              <a:gd name="adj" fmla="val 1778"/>
            </a:avLst>
          </a:prstGeom>
          <a:solidFill>
            <a:srgbClr val="E4E6F0"/>
          </a:solidFill>
          <a:ln w="12700">
            <a:solidFill>
              <a:srgbClr val="AEB4E4"/>
            </a:solidFill>
            <a:prstDash val="dash"/>
          </a:ln>
        </p:spPr>
      </p:sp>
      <p:sp>
        <p:nvSpPr>
          <p:cNvPr id="5" name="Text 3"/>
          <p:cNvSpPr/>
          <p:nvPr/>
        </p:nvSpPr>
        <p:spPr>
          <a:xfrm>
            <a:off x="777240" y="1965960"/>
            <a:ext cx="5212080" cy="411480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【待放圖】課程②教材頁</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course-02-slide.png</a:t>
            </a:r>
            <a:endParaRPr lang="en-US" sz="1100" dirty="0"/>
          </a:p>
        </p:txBody>
      </p:sp>
      <p:sp>
        <p:nvSpPr>
          <p:cNvPr id="6" name="Text 4"/>
          <p:cNvSpPr/>
          <p:nvPr/>
        </p:nvSpPr>
        <p:spPr>
          <a:xfrm>
            <a:off x="6537960" y="1965960"/>
            <a:ext cx="5013655" cy="274320"/>
          </a:xfrm>
          <a:prstGeom prst="rect">
            <a:avLst/>
          </a:prstGeom>
          <a:noFill/>
          <a:ln/>
        </p:spPr>
        <p:txBody>
          <a:bodyPr wrap="square" lIns="0" tIns="0" rIns="0" bIns="0" rtlCol="0" anchor="ctr"/>
          <a:lstStyle/>
          <a:p>
            <a:pPr indent="0" marL="0">
              <a:buNone/>
            </a:pPr>
            <a:r>
              <a:rPr lang="en-US" sz="1250" b="1" dirty="0">
                <a:solidFill>
                  <a:srgbClr val="D95F2B"/>
                </a:solidFill>
                <a:latin typeface="微軟正黑體" pitchFamily="34" charset="0"/>
                <a:ea typeface="微軟正黑體" pitchFamily="34" charset="-122"/>
                <a:cs typeface="微軟正黑體" pitchFamily="34" charset="-120"/>
              </a:rPr>
              <a:t>我負責</a:t>
            </a:r>
            <a:endParaRPr lang="en-US" sz="1250" dirty="0"/>
          </a:p>
        </p:txBody>
      </p:sp>
      <p:sp>
        <p:nvSpPr>
          <p:cNvPr id="7" name="Text 5"/>
          <p:cNvSpPr/>
          <p:nvPr/>
        </p:nvSpPr>
        <p:spPr>
          <a:xfrm>
            <a:off x="6537960" y="2240280"/>
            <a:ext cx="5013655" cy="402336"/>
          </a:xfrm>
          <a:prstGeom prst="rect">
            <a:avLst/>
          </a:prstGeom>
          <a:noFill/>
          <a:ln/>
        </p:spPr>
        <p:txBody>
          <a:bodyPr wrap="square" lIns="0" tIns="0" rIns="0" bIns="0" rtlCol="0" anchor="t"/>
          <a:lstStyle/>
          <a:p>
            <a:pPr indent="0" marL="0">
              <a:buNone/>
            </a:pPr>
            <a:r>
              <a:rPr lang="en-US" sz="1450" dirty="0">
                <a:solidFill>
                  <a:srgbClr val="2B2D5C"/>
                </a:solidFill>
                <a:latin typeface="微軟正黑體" pitchFamily="34" charset="0"/>
                <a:ea typeface="微軟正黑體" pitchFamily="34" charset="-122"/>
                <a:cs typeface="微軟正黑體" pitchFamily="34" charset="-120"/>
              </a:rPr>
              <a:t>課程架構、教材內容、實作案例</a:t>
            </a:r>
            <a:endParaRPr lang="en-US" sz="1450" dirty="0"/>
          </a:p>
        </p:txBody>
      </p:sp>
      <p:sp>
        <p:nvSpPr>
          <p:cNvPr id="8" name="Text 6"/>
          <p:cNvSpPr/>
          <p:nvPr/>
        </p:nvSpPr>
        <p:spPr>
          <a:xfrm>
            <a:off x="6537960" y="2697480"/>
            <a:ext cx="5013655" cy="274320"/>
          </a:xfrm>
          <a:prstGeom prst="rect">
            <a:avLst/>
          </a:prstGeom>
          <a:noFill/>
          <a:ln/>
        </p:spPr>
        <p:txBody>
          <a:bodyPr wrap="square" lIns="0" tIns="0" rIns="0" bIns="0" rtlCol="0" anchor="ctr"/>
          <a:lstStyle/>
          <a:p>
            <a:pPr indent="0" marL="0">
              <a:buNone/>
            </a:pPr>
            <a:r>
              <a:rPr lang="en-US" sz="1250" b="1" dirty="0">
                <a:solidFill>
                  <a:srgbClr val="D95F2B"/>
                </a:solidFill>
                <a:latin typeface="微軟正黑體" pitchFamily="34" charset="0"/>
                <a:ea typeface="微軟正黑體" pitchFamily="34" charset="-122"/>
                <a:cs typeface="微軟正黑體" pitchFamily="34" charset="-120"/>
              </a:rPr>
              <a:t>課程主題</a:t>
            </a:r>
            <a:endParaRPr lang="en-US" sz="1250" dirty="0"/>
          </a:p>
        </p:txBody>
      </p:sp>
      <p:sp>
        <p:nvSpPr>
          <p:cNvPr id="9" name="Text 7"/>
          <p:cNvSpPr/>
          <p:nvPr/>
        </p:nvSpPr>
        <p:spPr>
          <a:xfrm>
            <a:off x="6537960" y="2971800"/>
            <a:ext cx="5013655" cy="402336"/>
          </a:xfrm>
          <a:prstGeom prst="rect">
            <a:avLst/>
          </a:prstGeom>
          <a:noFill/>
          <a:ln/>
        </p:spPr>
        <p:txBody>
          <a:bodyPr wrap="square" lIns="0" tIns="0" rIns="0" bIns="0" rtlCol="0" anchor="t"/>
          <a:lstStyle/>
          <a:p>
            <a:pPr indent="0" marL="0">
              <a:buNone/>
            </a:pPr>
            <a:r>
              <a:rPr lang="en-US" sz="1450" dirty="0">
                <a:solidFill>
                  <a:srgbClr val="2B2D5C"/>
                </a:solidFill>
                <a:latin typeface="微軟正黑體" pitchFamily="34" charset="0"/>
                <a:ea typeface="微軟正黑體" pitchFamily="34" charset="-122"/>
                <a:cs typeface="微軟正黑體" pitchFamily="34" charset="-120"/>
              </a:rPr>
              <a:t>AI 圖片生成的原理、提示詞撰寫與實務應用</a:t>
            </a:r>
            <a:endParaRPr lang="en-US" sz="1450" dirty="0"/>
          </a:p>
        </p:txBody>
      </p:sp>
      <p:sp>
        <p:nvSpPr>
          <p:cNvPr id="10" name="Text 8"/>
          <p:cNvSpPr/>
          <p:nvPr/>
        </p:nvSpPr>
        <p:spPr>
          <a:xfrm>
            <a:off x="6537960" y="3429000"/>
            <a:ext cx="5013655" cy="274320"/>
          </a:xfrm>
          <a:prstGeom prst="rect">
            <a:avLst/>
          </a:prstGeom>
          <a:noFill/>
          <a:ln/>
        </p:spPr>
        <p:txBody>
          <a:bodyPr wrap="square" lIns="0" tIns="0" rIns="0" bIns="0" rtlCol="0" anchor="ctr"/>
          <a:lstStyle/>
          <a:p>
            <a:pPr indent="0" marL="0">
              <a:buNone/>
            </a:pPr>
            <a:r>
              <a:rPr lang="en-US" sz="1250" b="1" dirty="0">
                <a:solidFill>
                  <a:srgbClr val="D95F2B"/>
                </a:solidFill>
                <a:latin typeface="微軟正黑體" pitchFamily="34" charset="0"/>
                <a:ea typeface="微軟正黑體" pitchFamily="34" charset="-122"/>
                <a:cs typeface="微軟正黑體" pitchFamily="34" charset="-120"/>
              </a:rPr>
              <a:t>對象</a:t>
            </a:r>
            <a:endParaRPr lang="en-US" sz="1250" dirty="0"/>
          </a:p>
        </p:txBody>
      </p:sp>
      <p:sp>
        <p:nvSpPr>
          <p:cNvPr id="11" name="Text 9"/>
          <p:cNvSpPr/>
          <p:nvPr/>
        </p:nvSpPr>
        <p:spPr>
          <a:xfrm>
            <a:off x="6537960" y="3703320"/>
            <a:ext cx="5013655" cy="402336"/>
          </a:xfrm>
          <a:prstGeom prst="rect">
            <a:avLst/>
          </a:prstGeom>
          <a:noFill/>
          <a:ln/>
        </p:spPr>
        <p:txBody>
          <a:bodyPr wrap="square" lIns="0" tIns="0" rIns="0" bIns="0" rtlCol="0" anchor="t"/>
          <a:lstStyle/>
          <a:p>
            <a:pPr indent="0" marL="0">
              <a:buNone/>
            </a:pPr>
            <a:r>
              <a:rPr lang="en-US" sz="1450" dirty="0">
                <a:solidFill>
                  <a:srgbClr val="D95F2B"/>
                </a:solidFill>
                <a:latin typeface="微軟正黑體" pitchFamily="34" charset="0"/>
                <a:ea typeface="微軟正黑體" pitchFamily="34" charset="-122"/>
                <a:cs typeface="微軟正黑體" pitchFamily="34" charset="-120"/>
              </a:rPr>
              <a:t>【待補：面向對象】</a:t>
            </a:r>
            <a:endParaRPr lang="en-US" sz="1450" dirty="0"/>
          </a:p>
        </p:txBody>
      </p:sp>
      <p:sp>
        <p:nvSpPr>
          <p:cNvPr id="12" name="Text 10"/>
          <p:cNvSpPr/>
          <p:nvPr/>
        </p:nvSpPr>
        <p:spPr>
          <a:xfrm>
            <a:off x="6537960" y="4160520"/>
            <a:ext cx="5013655" cy="274320"/>
          </a:xfrm>
          <a:prstGeom prst="rect">
            <a:avLst/>
          </a:prstGeom>
          <a:noFill/>
          <a:ln/>
        </p:spPr>
        <p:txBody>
          <a:bodyPr wrap="square" lIns="0" tIns="0" rIns="0" bIns="0" rtlCol="0" anchor="ctr"/>
          <a:lstStyle/>
          <a:p>
            <a:pPr indent="0" marL="0">
              <a:buNone/>
            </a:pPr>
            <a:r>
              <a:rPr lang="en-US" sz="1250" b="1" dirty="0">
                <a:solidFill>
                  <a:srgbClr val="D95F2B"/>
                </a:solidFill>
                <a:latin typeface="微軟正黑體" pitchFamily="34" charset="0"/>
                <a:ea typeface="微軟正黑體" pitchFamily="34" charset="-122"/>
                <a:cs typeface="微軟正黑體" pitchFamily="34" charset="-120"/>
              </a:rPr>
              <a:t>規模</a:t>
            </a:r>
            <a:endParaRPr lang="en-US" sz="1250" dirty="0"/>
          </a:p>
        </p:txBody>
      </p:sp>
      <p:sp>
        <p:nvSpPr>
          <p:cNvPr id="13" name="Text 11"/>
          <p:cNvSpPr/>
          <p:nvPr/>
        </p:nvSpPr>
        <p:spPr>
          <a:xfrm>
            <a:off x="6537960" y="4434840"/>
            <a:ext cx="5013655" cy="402336"/>
          </a:xfrm>
          <a:prstGeom prst="rect">
            <a:avLst/>
          </a:prstGeom>
          <a:noFill/>
          <a:ln/>
        </p:spPr>
        <p:txBody>
          <a:bodyPr wrap="square" lIns="0" tIns="0" rIns="0" bIns="0" rtlCol="0" anchor="t"/>
          <a:lstStyle/>
          <a:p>
            <a:pPr indent="0" marL="0">
              <a:buNone/>
            </a:pPr>
            <a:r>
              <a:rPr lang="en-US" sz="1450" dirty="0">
                <a:solidFill>
                  <a:srgbClr val="D95F2B"/>
                </a:solidFill>
                <a:latin typeface="微軟正黑體" pitchFamily="34" charset="0"/>
                <a:ea typeface="微軟正黑體" pitchFamily="34" charset="-122"/>
                <a:cs typeface="微軟正黑體" pitchFamily="34" charset="-120"/>
              </a:rPr>
              <a:t>【待補：時數／教材頁數／案例數】</a:t>
            </a:r>
            <a:endParaRPr lang="en-US" sz="1450" dirty="0"/>
          </a:p>
        </p:txBody>
      </p:sp>
      <p:sp>
        <p:nvSpPr>
          <p:cNvPr id="14" name="Text 12"/>
          <p:cNvSpPr/>
          <p:nvPr/>
        </p:nvSpPr>
        <p:spPr>
          <a:xfrm>
            <a:off x="6537960" y="5029200"/>
            <a:ext cx="5013655" cy="1051560"/>
          </a:xfrm>
          <a:prstGeom prst="roundRect">
            <a:avLst>
              <a:gd name="adj" fmla="val 6957"/>
            </a:avLst>
          </a:prstGeom>
          <a:solidFill>
            <a:srgbClr val="D6D9F0"/>
          </a:solidFill>
          <a:ln/>
        </p:spPr>
        <p:txBody>
          <a:bodyPr wrap="square" lIns="127000" tIns="177800" rIns="177800" bIns="127000" rtlCol="0" anchor="ctr"/>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圖片生成結果不穩定，所以教材重點放在「怎麼描述」與「怎麼修正」，而不是給一堆可複製的提示詞——範本會過期，方法不會。</a:t>
            </a:r>
            <a:endParaRPr lang="en-US" sz="1350" dirty="0"/>
          </a:p>
        </p:txBody>
      </p:sp>
      <p:sp>
        <p:nvSpPr>
          <p:cNvPr id="15" name="Text 13"/>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四、工作成果｜對外</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擔任講師的兩門課</a:t>
            </a:r>
            <a:endParaRPr lang="en-US" sz="3200" dirty="0"/>
          </a:p>
        </p:txBody>
      </p:sp>
      <p:sp>
        <p:nvSpPr>
          <p:cNvPr id="4" name="Shape 2"/>
          <p:cNvSpPr/>
          <p:nvPr/>
        </p:nvSpPr>
        <p:spPr>
          <a:xfrm>
            <a:off x="640080" y="1874520"/>
            <a:ext cx="5272888" cy="2788920"/>
          </a:xfrm>
          <a:prstGeom prst="roundRect">
            <a:avLst>
              <a:gd name="adj" fmla="val 1967"/>
            </a:avLst>
          </a:prstGeom>
          <a:solidFill>
            <a:srgbClr val="ECEEF8"/>
          </a:solidFill>
          <a:ln/>
          <a:effectLst>
            <a:outerShdw sx="100000" sy="100000" kx="0" ky="0" algn="bl" rotWithShape="0" blurRad="101600" dist="25400" dir="5400000">
              <a:srgbClr val="9AA0BF">
                <a:alpha val="22000"/>
              </a:srgbClr>
            </a:outerShdw>
          </a:effectLst>
        </p:spPr>
      </p:sp>
      <p:sp>
        <p:nvSpPr>
          <p:cNvPr id="5" name="Text 3"/>
          <p:cNvSpPr/>
          <p:nvPr/>
        </p:nvSpPr>
        <p:spPr>
          <a:xfrm>
            <a:off x="914400" y="2057400"/>
            <a:ext cx="4724248" cy="685800"/>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③　AI 輔助 UI/UX 與原型設計</a:t>
            </a:r>
            <a:endParaRPr lang="en-US" sz="1800" dirty="0"/>
          </a:p>
        </p:txBody>
      </p:sp>
      <p:sp>
        <p:nvSpPr>
          <p:cNvPr id="6" name="Text 4"/>
          <p:cNvSpPr/>
          <p:nvPr/>
        </p:nvSpPr>
        <p:spPr>
          <a:xfrm>
            <a:off x="914400" y="2834640"/>
            <a:ext cx="4724248" cy="822960"/>
          </a:xfrm>
          <a:prstGeom prst="rect">
            <a:avLst/>
          </a:prstGeom>
          <a:noFill/>
          <a:ln/>
        </p:spPr>
        <p:txBody>
          <a:bodyPr wrap="square" lIns="0" tIns="0" rIns="0" bIns="0" rtlCol="0" anchor="t"/>
          <a:lstStyle/>
          <a:p>
            <a:pPr indent="0" marL="0">
              <a:lnSpc>
                <a:spcPct val="130000"/>
              </a:lnSpc>
              <a:buNone/>
            </a:pPr>
            <a:r>
              <a:rPr lang="en-US" sz="1350" dirty="0">
                <a:solidFill>
                  <a:srgbClr val="2B2D5C"/>
                </a:solidFill>
                <a:latin typeface="微軟正黑體" pitchFamily="34" charset="0"/>
                <a:ea typeface="微軟正黑體" pitchFamily="34" charset="-122"/>
                <a:cs typeface="微軟正黑體" pitchFamily="34" charset="-120"/>
              </a:rPr>
              <a:t>教材：同事撰寫　／　我負責：授課</a:t>
            </a:r>
            <a:endParaRPr lang="en-US" sz="1350" dirty="0"/>
          </a:p>
          <a:p>
            <a:pPr indent="0" marL="0">
              <a:lnSpc>
                <a:spcPct val="130000"/>
              </a:lnSpc>
              <a:buNone/>
            </a:pPr>
            <a:r>
              <a:rPr lang="en-US" sz="1350" dirty="0">
                <a:solidFill>
                  <a:srgbClr val="D95F2B"/>
                </a:solidFill>
                <a:latin typeface="微軟正黑體" pitchFamily="34" charset="0"/>
                <a:ea typeface="微軟正黑體" pitchFamily="34" charset="-122"/>
                <a:cs typeface="微軟正黑體" pitchFamily="34" charset="-120"/>
              </a:rPr>
              <a:t>【待補：時數／對象／場次】</a:t>
            </a:r>
            <a:endParaRPr lang="en-US" sz="1350" dirty="0"/>
          </a:p>
        </p:txBody>
      </p:sp>
      <p:sp>
        <p:nvSpPr>
          <p:cNvPr id="7" name="Shape 5"/>
          <p:cNvSpPr/>
          <p:nvPr/>
        </p:nvSpPr>
        <p:spPr>
          <a:xfrm>
            <a:off x="914400" y="3703320"/>
            <a:ext cx="4724248" cy="841248"/>
          </a:xfrm>
          <a:prstGeom prst="roundRect">
            <a:avLst>
              <a:gd name="adj" fmla="val 8696"/>
            </a:avLst>
          </a:prstGeom>
          <a:solidFill>
            <a:srgbClr val="E4E6F0"/>
          </a:solidFill>
          <a:ln w="12700">
            <a:solidFill>
              <a:srgbClr val="AEB4E4"/>
            </a:solidFill>
            <a:prstDash val="dash"/>
          </a:ln>
        </p:spPr>
      </p:sp>
      <p:sp>
        <p:nvSpPr>
          <p:cNvPr id="8" name="Text 6"/>
          <p:cNvSpPr/>
          <p:nvPr/>
        </p:nvSpPr>
        <p:spPr>
          <a:xfrm>
            <a:off x="1051560" y="3703320"/>
            <a:ext cx="4449928" cy="841248"/>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【待放圖】③ 教材頁</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course-03-slide.png</a:t>
            </a:r>
            <a:endParaRPr lang="en-US" sz="1100" dirty="0"/>
          </a:p>
        </p:txBody>
      </p:sp>
      <p:sp>
        <p:nvSpPr>
          <p:cNvPr id="9" name="Shape 7"/>
          <p:cNvSpPr/>
          <p:nvPr/>
        </p:nvSpPr>
        <p:spPr>
          <a:xfrm>
            <a:off x="6278728" y="1874520"/>
            <a:ext cx="5272888" cy="2788920"/>
          </a:xfrm>
          <a:prstGeom prst="roundRect">
            <a:avLst>
              <a:gd name="adj" fmla="val 1967"/>
            </a:avLst>
          </a:prstGeom>
          <a:solidFill>
            <a:srgbClr val="D6D9F0"/>
          </a:solidFill>
          <a:ln/>
          <a:effectLst>
            <a:outerShdw sx="100000" sy="100000" kx="0" ky="0" algn="bl" rotWithShape="0" blurRad="101600" dist="25400" dir="5400000">
              <a:srgbClr val="9AA0BF">
                <a:alpha val="22000"/>
              </a:srgbClr>
            </a:outerShdw>
          </a:effectLst>
        </p:spPr>
      </p:sp>
      <p:sp>
        <p:nvSpPr>
          <p:cNvPr id="10" name="Text 8"/>
          <p:cNvSpPr/>
          <p:nvPr/>
        </p:nvSpPr>
        <p:spPr>
          <a:xfrm>
            <a:off x="6553048" y="2057400"/>
            <a:ext cx="4724248" cy="685800"/>
          </a:xfrm>
          <a:prstGeom prst="rect">
            <a:avLst/>
          </a:prstGeom>
          <a:noFill/>
          <a:ln/>
        </p:spPr>
        <p:txBody>
          <a:bodyPr wrap="square" lIns="0" tIns="0" rIns="0" bIns="0" rtlCol="0" anchor="ctr"/>
          <a:lstStyle/>
          <a:p>
            <a:pPr indent="0" marL="0">
              <a:buNone/>
            </a:pPr>
            <a:r>
              <a:rPr lang="en-US" sz="1800" b="1" dirty="0">
                <a:solidFill>
                  <a:srgbClr val="2B2D5C"/>
                </a:solidFill>
                <a:latin typeface="微軟正黑體" pitchFamily="34" charset="0"/>
                <a:ea typeface="微軟正黑體" pitchFamily="34" charset="-122"/>
                <a:cs typeface="微軟正黑體" pitchFamily="34" charset="-120"/>
              </a:rPr>
              <a:t>④　AI 輔助 vibe-coding 程式開發</a:t>
            </a:r>
            <a:endParaRPr lang="en-US" sz="1800" dirty="0"/>
          </a:p>
        </p:txBody>
      </p:sp>
      <p:sp>
        <p:nvSpPr>
          <p:cNvPr id="11" name="Text 9"/>
          <p:cNvSpPr/>
          <p:nvPr/>
        </p:nvSpPr>
        <p:spPr>
          <a:xfrm>
            <a:off x="6553048" y="2834640"/>
            <a:ext cx="4724248" cy="822960"/>
          </a:xfrm>
          <a:prstGeom prst="rect">
            <a:avLst/>
          </a:prstGeom>
          <a:noFill/>
          <a:ln/>
        </p:spPr>
        <p:txBody>
          <a:bodyPr wrap="square" lIns="0" tIns="0" rIns="0" bIns="0" rtlCol="0" anchor="t"/>
          <a:lstStyle/>
          <a:p>
            <a:pPr indent="0" marL="0">
              <a:lnSpc>
                <a:spcPct val="130000"/>
              </a:lnSpc>
              <a:buNone/>
            </a:pPr>
            <a:r>
              <a:rPr lang="en-US" sz="1350" dirty="0">
                <a:solidFill>
                  <a:srgbClr val="2B2D5C"/>
                </a:solidFill>
                <a:latin typeface="微軟正黑體" pitchFamily="34" charset="0"/>
                <a:ea typeface="微軟正黑體" pitchFamily="34" charset="-122"/>
                <a:cs typeface="微軟正黑體" pitchFamily="34" charset="-120"/>
              </a:rPr>
              <a:t>教材：同事撰寫　／　我負責：授課</a:t>
            </a:r>
            <a:endParaRPr lang="en-US" sz="1350" dirty="0"/>
          </a:p>
          <a:p>
            <a:pPr indent="0" marL="0">
              <a:lnSpc>
                <a:spcPct val="130000"/>
              </a:lnSpc>
              <a:buNone/>
            </a:pPr>
            <a:r>
              <a:rPr lang="en-US" sz="1350" dirty="0">
                <a:solidFill>
                  <a:srgbClr val="D95F2B"/>
                </a:solidFill>
                <a:latin typeface="微軟正黑體" pitchFamily="34" charset="0"/>
                <a:ea typeface="微軟正黑體" pitchFamily="34" charset="-122"/>
                <a:cs typeface="微軟正黑體" pitchFamily="34" charset="-120"/>
              </a:rPr>
              <a:t>【待補：時數／對象／場次】</a:t>
            </a:r>
            <a:endParaRPr lang="en-US" sz="1350" dirty="0"/>
          </a:p>
        </p:txBody>
      </p:sp>
      <p:sp>
        <p:nvSpPr>
          <p:cNvPr id="12" name="Shape 10"/>
          <p:cNvSpPr/>
          <p:nvPr/>
        </p:nvSpPr>
        <p:spPr>
          <a:xfrm>
            <a:off x="6553048" y="3703320"/>
            <a:ext cx="4724248" cy="841248"/>
          </a:xfrm>
          <a:prstGeom prst="roundRect">
            <a:avLst>
              <a:gd name="adj" fmla="val 8696"/>
            </a:avLst>
          </a:prstGeom>
          <a:solidFill>
            <a:srgbClr val="E4E6F0"/>
          </a:solidFill>
          <a:ln w="12700">
            <a:solidFill>
              <a:srgbClr val="AEB4E4"/>
            </a:solidFill>
            <a:prstDash val="dash"/>
          </a:ln>
        </p:spPr>
      </p:sp>
      <p:sp>
        <p:nvSpPr>
          <p:cNvPr id="13" name="Text 11"/>
          <p:cNvSpPr/>
          <p:nvPr/>
        </p:nvSpPr>
        <p:spPr>
          <a:xfrm>
            <a:off x="6690208" y="3703320"/>
            <a:ext cx="4449928" cy="841248"/>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【待放圖】④ 教材頁</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course-04-slide.png</a:t>
            </a:r>
            <a:endParaRPr lang="en-US" sz="1100" dirty="0"/>
          </a:p>
        </p:txBody>
      </p:sp>
      <p:sp>
        <p:nvSpPr>
          <p:cNvPr id="14" name="Text 12"/>
          <p:cNvSpPr/>
          <p:nvPr/>
        </p:nvSpPr>
        <p:spPr>
          <a:xfrm>
            <a:off x="640080" y="4937760"/>
            <a:ext cx="10911535" cy="960120"/>
          </a:xfrm>
          <a:prstGeom prst="roundRect">
            <a:avLst>
              <a:gd name="adj" fmla="val 7619"/>
            </a:avLst>
          </a:prstGeom>
          <a:solidFill>
            <a:srgbClr val="F7F1CE"/>
          </a:solidFill>
          <a:ln/>
        </p:spPr>
        <p:txBody>
          <a:bodyPr wrap="square" lIns="127000" tIns="203200" rIns="203200" bIns="127000" rtlCol="0" anchor="ctr"/>
          <a:lstStyle/>
          <a:p>
            <a:pPr indent="0" marL="0">
              <a:lnSpc>
                <a:spcPct val="125000"/>
              </a:lnSpc>
              <a:buNone/>
            </a:pPr>
            <a:r>
              <a:rPr lang="en-US" sz="1450" b="1" dirty="0">
                <a:solidFill>
                  <a:srgbClr val="2B2D5C"/>
                </a:solidFill>
                <a:latin typeface="微軟正黑體" pitchFamily="34" charset="0"/>
                <a:ea typeface="微軟正黑體" pitchFamily="34" charset="-122"/>
                <a:cs typeface="微軟正黑體" pitchFamily="34" charset="-120"/>
              </a:rPr>
              <a:t>vibe-coding 這門課教的方法，就是我後來開發神秘客系統實際用的方法——先教別人怎麼用 AI 寫程式，然後自己拿這套方法做出一個真的上線的系統。</a:t>
            </a:r>
            <a:endParaRPr lang="en-US" sz="1450" dirty="0"/>
          </a:p>
        </p:txBody>
      </p:sp>
      <p:sp>
        <p:nvSpPr>
          <p:cNvPr id="15" name="Text 13"/>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四、工作成果｜對外</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教材與課堂實況</a:t>
            </a:r>
            <a:endParaRPr lang="en-US" sz="3200" dirty="0"/>
          </a:p>
        </p:txBody>
      </p:sp>
      <p:sp>
        <p:nvSpPr>
          <p:cNvPr id="4" name="Shape 2"/>
          <p:cNvSpPr/>
          <p:nvPr/>
        </p:nvSpPr>
        <p:spPr>
          <a:xfrm>
            <a:off x="640080" y="1965960"/>
            <a:ext cx="3332378" cy="3566160"/>
          </a:xfrm>
          <a:prstGeom prst="roundRect">
            <a:avLst>
              <a:gd name="adj" fmla="val 2195"/>
            </a:avLst>
          </a:prstGeom>
          <a:solidFill>
            <a:srgbClr val="E4E6F0"/>
          </a:solidFill>
          <a:ln w="12700">
            <a:solidFill>
              <a:srgbClr val="AEB4E4"/>
            </a:solidFill>
            <a:prstDash val="dash"/>
          </a:ln>
        </p:spPr>
      </p:sp>
      <p:sp>
        <p:nvSpPr>
          <p:cNvPr id="5" name="Text 3"/>
          <p:cNvSpPr/>
          <p:nvPr/>
        </p:nvSpPr>
        <p:spPr>
          <a:xfrm>
            <a:off x="777240" y="1965960"/>
            <a:ext cx="3058058" cy="356616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【待放圖】教材展示 1</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course-showcase-01.png</a:t>
            </a:r>
            <a:endParaRPr lang="en-US" sz="1100" dirty="0"/>
          </a:p>
        </p:txBody>
      </p:sp>
      <p:sp>
        <p:nvSpPr>
          <p:cNvPr id="6" name="Shape 4"/>
          <p:cNvSpPr/>
          <p:nvPr/>
        </p:nvSpPr>
        <p:spPr>
          <a:xfrm>
            <a:off x="4429658" y="1965960"/>
            <a:ext cx="3332378" cy="3566160"/>
          </a:xfrm>
          <a:prstGeom prst="roundRect">
            <a:avLst>
              <a:gd name="adj" fmla="val 2195"/>
            </a:avLst>
          </a:prstGeom>
          <a:solidFill>
            <a:srgbClr val="E4E6F0"/>
          </a:solidFill>
          <a:ln w="12700">
            <a:solidFill>
              <a:srgbClr val="AEB4E4"/>
            </a:solidFill>
            <a:prstDash val="dash"/>
          </a:ln>
        </p:spPr>
      </p:sp>
      <p:sp>
        <p:nvSpPr>
          <p:cNvPr id="7" name="Text 5"/>
          <p:cNvSpPr/>
          <p:nvPr/>
        </p:nvSpPr>
        <p:spPr>
          <a:xfrm>
            <a:off x="4566818" y="1965960"/>
            <a:ext cx="3058058" cy="356616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【待放圖】教材展示 2</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course-showcase-02.png</a:t>
            </a:r>
            <a:endParaRPr lang="en-US" sz="1100" dirty="0"/>
          </a:p>
        </p:txBody>
      </p:sp>
      <p:sp>
        <p:nvSpPr>
          <p:cNvPr id="8" name="Shape 6"/>
          <p:cNvSpPr/>
          <p:nvPr/>
        </p:nvSpPr>
        <p:spPr>
          <a:xfrm>
            <a:off x="8219237" y="1965960"/>
            <a:ext cx="3332378" cy="3566160"/>
          </a:xfrm>
          <a:prstGeom prst="roundRect">
            <a:avLst>
              <a:gd name="adj" fmla="val 2195"/>
            </a:avLst>
          </a:prstGeom>
          <a:solidFill>
            <a:srgbClr val="E4E6F0"/>
          </a:solidFill>
          <a:ln w="12700">
            <a:solidFill>
              <a:srgbClr val="AEB4E4"/>
            </a:solidFill>
            <a:prstDash val="dash"/>
          </a:ln>
        </p:spPr>
      </p:sp>
      <p:sp>
        <p:nvSpPr>
          <p:cNvPr id="9" name="Text 7"/>
          <p:cNvSpPr/>
          <p:nvPr/>
        </p:nvSpPr>
        <p:spPr>
          <a:xfrm>
            <a:off x="8356397" y="1965960"/>
            <a:ext cx="3058058" cy="356616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【待放圖】教材展示 3</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course-showcase-03.png</a:t>
            </a:r>
            <a:endParaRPr lang="en-US" sz="1100" dirty="0"/>
          </a:p>
        </p:txBody>
      </p:sp>
      <p:sp>
        <p:nvSpPr>
          <p:cNvPr id="10" name="Text 8"/>
          <p:cNvSpPr/>
          <p:nvPr/>
        </p:nvSpPr>
        <p:spPr>
          <a:xfrm>
            <a:off x="640080" y="5715000"/>
            <a:ext cx="10911535" cy="384048"/>
          </a:xfrm>
          <a:prstGeom prst="rect">
            <a:avLst/>
          </a:prstGeom>
          <a:noFill/>
          <a:ln/>
        </p:spPr>
        <p:txBody>
          <a:bodyPr wrap="square" lIns="0" tIns="0" rIns="0" bIns="0" rtlCol="0" anchor="ctr"/>
          <a:lstStyle/>
          <a:p>
            <a:pPr indent="0" marL="0">
              <a:buNone/>
            </a:pPr>
            <a:r>
              <a:rPr lang="en-US" sz="1300" dirty="0">
                <a:solidFill>
                  <a:srgbClr val="6E7191"/>
                </a:solidFill>
                <a:latin typeface="微軟正黑體" pitchFamily="34" charset="0"/>
                <a:ea typeface="微軟正黑體" pitchFamily="34" charset="-122"/>
                <a:cs typeface="微軟正黑體" pitchFamily="34" charset="-120"/>
              </a:rPr>
              <a:t>完整教材可於課後單獨提供。</a:t>
            </a:r>
            <a:endParaRPr lang="en-US" sz="1300" dirty="0"/>
          </a:p>
        </p:txBody>
      </p:sp>
      <p:sp>
        <p:nvSpPr>
          <p:cNvPr id="11" name="Text 9"/>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四、工作成果｜對外</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對外線現況與後續</a:t>
            </a:r>
            <a:endParaRPr lang="en-US" sz="3200" dirty="0"/>
          </a:p>
        </p:txBody>
      </p:sp>
      <p:sp>
        <p:nvSpPr>
          <p:cNvPr id="4" name="Shape 2"/>
          <p:cNvSpPr/>
          <p:nvPr/>
        </p:nvSpPr>
        <p:spPr>
          <a:xfrm>
            <a:off x="640080" y="1965960"/>
            <a:ext cx="3393338" cy="1828800"/>
          </a:xfrm>
          <a:prstGeom prst="roundRect">
            <a:avLst>
              <a:gd name="adj" fmla="val 3000"/>
            </a:avLst>
          </a:prstGeom>
          <a:solidFill>
            <a:srgbClr val="6DCFA5"/>
          </a:solidFill>
          <a:ln w="12700">
            <a:solidFill>
              <a:srgbClr val="FFFFFF"/>
            </a:solidFill>
            <a:prstDash val="solid"/>
          </a:ln>
          <a:effectLst>
            <a:outerShdw sx="100000" sy="100000" kx="0" ky="0" algn="bl" rotWithShape="0" blurRad="101600" dist="25400" dir="5400000">
              <a:srgbClr val="9AA0BF">
                <a:alpha val="22000"/>
              </a:srgbClr>
            </a:outerShdw>
          </a:effectLst>
        </p:spPr>
      </p:sp>
      <p:sp>
        <p:nvSpPr>
          <p:cNvPr id="5" name="Text 3"/>
          <p:cNvSpPr/>
          <p:nvPr/>
        </p:nvSpPr>
        <p:spPr>
          <a:xfrm>
            <a:off x="932688" y="2185416"/>
            <a:ext cx="2808122" cy="384048"/>
          </a:xfrm>
          <a:prstGeom prst="rect">
            <a:avLst/>
          </a:prstGeom>
          <a:noFill/>
          <a:ln/>
        </p:spPr>
        <p:txBody>
          <a:bodyPr wrap="square" lIns="0" tIns="0" rIns="0" bIns="0" rtlCol="0" anchor="ctr"/>
          <a:lstStyle/>
          <a:p>
            <a:pPr indent="0" marL="0">
              <a:buNone/>
            </a:pPr>
            <a:r>
              <a:rPr lang="en-US" sz="1900" b="1" dirty="0">
                <a:solidFill>
                  <a:srgbClr val="2B2D5C"/>
                </a:solidFill>
                <a:latin typeface="微軟正黑體" pitchFamily="34" charset="0"/>
                <a:ea typeface="微軟正黑體" pitchFamily="34" charset="-122"/>
                <a:cs typeface="微軟正黑體" pitchFamily="34" charset="-120"/>
              </a:rPr>
              <a:t>現況</a:t>
            </a:r>
            <a:endParaRPr lang="en-US" sz="1900" dirty="0"/>
          </a:p>
        </p:txBody>
      </p:sp>
      <p:sp>
        <p:nvSpPr>
          <p:cNvPr id="6" name="Text 4"/>
          <p:cNvSpPr/>
          <p:nvPr/>
        </p:nvSpPr>
        <p:spPr>
          <a:xfrm>
            <a:off x="932688" y="2624328"/>
            <a:ext cx="2808122" cy="932688"/>
          </a:xfrm>
          <a:prstGeom prst="rect">
            <a:avLst/>
          </a:prstGeom>
          <a:noFill/>
          <a:ln/>
        </p:spPr>
        <p:txBody>
          <a:bodyPr wrap="square" lIns="0" tIns="0" rIns="0" bIns="0" rtlCol="0" anchor="t"/>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四門課教材皆已完成</a:t>
            </a:r>
            <a:endParaRPr lang="en-US" sz="1350" dirty="0"/>
          </a:p>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具備對外開課條件</a:t>
            </a:r>
            <a:endParaRPr lang="en-US" sz="1350" dirty="0"/>
          </a:p>
        </p:txBody>
      </p:sp>
      <p:sp>
        <p:nvSpPr>
          <p:cNvPr id="7" name="Shape 5"/>
          <p:cNvSpPr/>
          <p:nvPr/>
        </p:nvSpPr>
        <p:spPr>
          <a:xfrm>
            <a:off x="4399178" y="1965960"/>
            <a:ext cx="3393338" cy="1828800"/>
          </a:xfrm>
          <a:prstGeom prst="roundRect">
            <a:avLst>
              <a:gd name="adj" fmla="val 3000"/>
            </a:avLst>
          </a:prstGeom>
          <a:solidFill>
            <a:srgbClr val="F7F1CE"/>
          </a:solidFill>
          <a:ln w="12700">
            <a:solidFill>
              <a:srgbClr val="FFFFFF"/>
            </a:solidFill>
            <a:prstDash val="solid"/>
          </a:ln>
          <a:effectLst>
            <a:outerShdw sx="100000" sy="100000" kx="0" ky="0" algn="bl" rotWithShape="0" blurRad="101600" dist="25400" dir="5400000">
              <a:srgbClr val="9AA0BF">
                <a:alpha val="22000"/>
              </a:srgbClr>
            </a:outerShdw>
          </a:effectLst>
        </p:spPr>
      </p:sp>
      <p:sp>
        <p:nvSpPr>
          <p:cNvPr id="8" name="Text 6"/>
          <p:cNvSpPr/>
          <p:nvPr/>
        </p:nvSpPr>
        <p:spPr>
          <a:xfrm>
            <a:off x="4691786" y="2185416"/>
            <a:ext cx="2808122" cy="384048"/>
          </a:xfrm>
          <a:prstGeom prst="rect">
            <a:avLst/>
          </a:prstGeom>
          <a:noFill/>
          <a:ln/>
        </p:spPr>
        <p:txBody>
          <a:bodyPr wrap="square" lIns="0" tIns="0" rIns="0" bIns="0" rtlCol="0" anchor="ctr"/>
          <a:lstStyle/>
          <a:p>
            <a:pPr indent="0" marL="0">
              <a:buNone/>
            </a:pPr>
            <a:r>
              <a:rPr lang="en-US" sz="1900" b="1" dirty="0">
                <a:solidFill>
                  <a:srgbClr val="2B2D5C"/>
                </a:solidFill>
                <a:latin typeface="微軟正黑體" pitchFamily="34" charset="0"/>
                <a:ea typeface="微軟正黑體" pitchFamily="34" charset="-122"/>
                <a:cs typeface="微軟正黑體" pitchFamily="34" charset="-120"/>
              </a:rPr>
              <a:t>下一步</a:t>
            </a:r>
            <a:endParaRPr lang="en-US" sz="1900" dirty="0"/>
          </a:p>
        </p:txBody>
      </p:sp>
      <p:sp>
        <p:nvSpPr>
          <p:cNvPr id="9" name="Text 7"/>
          <p:cNvSpPr/>
          <p:nvPr/>
        </p:nvSpPr>
        <p:spPr>
          <a:xfrm>
            <a:off x="4691786" y="2624328"/>
            <a:ext cx="2808122" cy="932688"/>
          </a:xfrm>
          <a:prstGeom prst="rect">
            <a:avLst/>
          </a:prstGeom>
          <a:noFill/>
          <a:ln/>
        </p:spPr>
        <p:txBody>
          <a:bodyPr wrap="square" lIns="0" tIns="0" rIns="0" bIns="0" rtlCol="0" anchor="t"/>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待對外開賣</a:t>
            </a:r>
            <a:endParaRPr lang="en-US" sz="1350" dirty="0"/>
          </a:p>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【待補：預計開賣時間】</a:t>
            </a:r>
            <a:endParaRPr lang="en-US" sz="1350" dirty="0"/>
          </a:p>
        </p:txBody>
      </p:sp>
      <p:sp>
        <p:nvSpPr>
          <p:cNvPr id="10" name="Shape 8"/>
          <p:cNvSpPr/>
          <p:nvPr/>
        </p:nvSpPr>
        <p:spPr>
          <a:xfrm>
            <a:off x="8158277" y="1965960"/>
            <a:ext cx="3393338" cy="1828800"/>
          </a:xfrm>
          <a:prstGeom prst="roundRect">
            <a:avLst>
              <a:gd name="adj" fmla="val 3000"/>
            </a:avLst>
          </a:prstGeom>
          <a:solidFill>
            <a:srgbClr val="D6D9F0"/>
          </a:solidFill>
          <a:ln w="12700">
            <a:solidFill>
              <a:srgbClr val="FFFFFF"/>
            </a:solidFill>
            <a:prstDash val="solid"/>
          </a:ln>
          <a:effectLst>
            <a:outerShdw sx="100000" sy="100000" kx="0" ky="0" algn="bl" rotWithShape="0" blurRad="101600" dist="25400" dir="5400000">
              <a:srgbClr val="9AA0BF">
                <a:alpha val="22000"/>
              </a:srgbClr>
            </a:outerShdw>
          </a:effectLst>
        </p:spPr>
      </p:sp>
      <p:sp>
        <p:nvSpPr>
          <p:cNvPr id="11" name="Text 9"/>
          <p:cNvSpPr/>
          <p:nvPr/>
        </p:nvSpPr>
        <p:spPr>
          <a:xfrm>
            <a:off x="8450885" y="2185416"/>
            <a:ext cx="2808122" cy="384048"/>
          </a:xfrm>
          <a:prstGeom prst="rect">
            <a:avLst/>
          </a:prstGeom>
          <a:noFill/>
          <a:ln/>
        </p:spPr>
        <p:txBody>
          <a:bodyPr wrap="square" lIns="0" tIns="0" rIns="0" bIns="0" rtlCol="0" anchor="ctr"/>
          <a:lstStyle/>
          <a:p>
            <a:pPr indent="0" marL="0">
              <a:buNone/>
            </a:pPr>
            <a:r>
              <a:rPr lang="en-US" sz="1900" b="1" dirty="0">
                <a:solidFill>
                  <a:srgbClr val="2B2D5C"/>
                </a:solidFill>
                <a:latin typeface="微軟正黑體" pitchFamily="34" charset="0"/>
                <a:ea typeface="微軟正黑體" pitchFamily="34" charset="-122"/>
                <a:cs typeface="微軟正黑體" pitchFamily="34" charset="-120"/>
              </a:rPr>
              <a:t>我可以再做的</a:t>
            </a:r>
            <a:endParaRPr lang="en-US" sz="1900" dirty="0"/>
          </a:p>
        </p:txBody>
      </p:sp>
      <p:sp>
        <p:nvSpPr>
          <p:cNvPr id="12" name="Text 10"/>
          <p:cNvSpPr/>
          <p:nvPr/>
        </p:nvSpPr>
        <p:spPr>
          <a:xfrm>
            <a:off x="8450885" y="2624328"/>
            <a:ext cx="2808122" cy="932688"/>
          </a:xfrm>
          <a:prstGeom prst="rect">
            <a:avLst/>
          </a:prstGeom>
          <a:noFill/>
          <a:ln/>
        </p:spPr>
        <p:txBody>
          <a:bodyPr wrap="square" lIns="0" tIns="0" rIns="0" bIns="0" rtlCol="0" anchor="t"/>
          <a:lstStyle/>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依招生回饋修訂教材</a:t>
            </a:r>
            <a:endParaRPr lang="en-US" sz="1350" dirty="0"/>
          </a:p>
          <a:p>
            <a:pPr indent="0" marL="0">
              <a:lnSpc>
                <a:spcPct val="125000"/>
              </a:lnSpc>
              <a:buNone/>
            </a:pPr>
            <a:r>
              <a:rPr lang="en-US" sz="1350" dirty="0">
                <a:solidFill>
                  <a:srgbClr val="2B2D5C"/>
                </a:solidFill>
                <a:latin typeface="微軟正黑體" pitchFamily="34" charset="0"/>
                <a:ea typeface="微軟正黑體" pitchFamily="34" charset="-122"/>
                <a:cs typeface="微軟正黑體" pitchFamily="34" charset="-120"/>
              </a:rPr>
              <a:t>擴充案例、開發進階課程</a:t>
            </a:r>
            <a:endParaRPr lang="en-US" sz="1350" dirty="0"/>
          </a:p>
        </p:txBody>
      </p:sp>
      <p:sp>
        <p:nvSpPr>
          <p:cNvPr id="13" name="Text 11"/>
          <p:cNvSpPr/>
          <p:nvPr/>
        </p:nvSpPr>
        <p:spPr>
          <a:xfrm>
            <a:off x="640080" y="4206240"/>
            <a:ext cx="10911535" cy="1005840"/>
          </a:xfrm>
          <a:prstGeom prst="roundRect">
            <a:avLst>
              <a:gd name="adj" fmla="val 7273"/>
            </a:avLst>
          </a:prstGeom>
          <a:solidFill>
            <a:srgbClr val="ECEEF8"/>
          </a:solidFill>
          <a:ln/>
        </p:spPr>
        <p:txBody>
          <a:bodyPr wrap="square" lIns="152400" tIns="228600" rIns="228600" bIns="152400" rtlCol="0" anchor="ctr"/>
          <a:lstStyle/>
          <a:p>
            <a:pPr indent="0" marL="0">
              <a:lnSpc>
                <a:spcPct val="130000"/>
              </a:lnSpc>
              <a:buNone/>
            </a:pPr>
            <a:r>
              <a:rPr lang="en-US" sz="1500" dirty="0">
                <a:solidFill>
                  <a:srgbClr val="2B2D5C"/>
                </a:solidFill>
                <a:latin typeface="微軟正黑體" pitchFamily="34" charset="0"/>
                <a:ea typeface="微軟正黑體" pitchFamily="34" charset="-122"/>
                <a:cs typeface="微軟正黑體" pitchFamily="34" charset="-120"/>
              </a:rPr>
              <a:t>教材完成只是第一步。真正會讓課變好的是實際開課後的學員回饋，後續若有招生與開課，我希望能持續參與。</a:t>
            </a:r>
            <a:endParaRPr lang="en-US" sz="1500" dirty="0"/>
          </a:p>
        </p:txBody>
      </p:sp>
      <p:sp>
        <p:nvSpPr>
          <p:cNvPr id="14" name="Text 12"/>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048"/>
        </a:solidFill>
      </p:bgPr>
    </p:bg>
    <p:spTree>
      <p:nvGrpSpPr>
        <p:cNvPr id="1" name=""/>
        <p:cNvGrpSpPr/>
        <p:nvPr/>
      </p:nvGrpSpPr>
      <p:grpSpPr>
        <a:xfrm>
          <a:off x="0" y="0"/>
          <a:ext cx="0" cy="0"/>
          <a:chOff x="0" y="0"/>
          <a:chExt cx="0" cy="0"/>
        </a:xfrm>
      </p:grpSpPr>
      <p:sp>
        <p:nvSpPr>
          <p:cNvPr id="2" name="Text 0"/>
          <p:cNvSpPr/>
          <p:nvPr/>
        </p:nvSpPr>
        <p:spPr>
          <a:xfrm>
            <a:off x="640080" y="1920240"/>
            <a:ext cx="4572000" cy="822960"/>
          </a:xfrm>
          <a:prstGeom prst="rect">
            <a:avLst/>
          </a:prstGeom>
          <a:noFill/>
          <a:ln/>
        </p:spPr>
        <p:txBody>
          <a:bodyPr wrap="square" lIns="0" tIns="0" rIns="0" bIns="0" rtlCol="0" anchor="ctr"/>
          <a:lstStyle/>
          <a:p>
            <a:pPr indent="0" marL="0">
              <a:buNone/>
            </a:pPr>
            <a:r>
              <a:rPr lang="en-US" sz="2200" b="1" dirty="0">
                <a:solidFill>
                  <a:srgbClr val="AEB4E4"/>
                </a:solidFill>
                <a:latin typeface="微軟正黑體" pitchFamily="34" charset="0"/>
                <a:ea typeface="微軟正黑體" pitchFamily="34" charset="-122"/>
                <a:cs typeface="微軟正黑體" pitchFamily="34" charset="-120"/>
              </a:rPr>
              <a:t>四、工作成果｜對內</a:t>
            </a:r>
            <a:endParaRPr lang="en-US" sz="2200" dirty="0"/>
          </a:p>
        </p:txBody>
      </p:sp>
      <p:sp>
        <p:nvSpPr>
          <p:cNvPr id="3" name="Text 1"/>
          <p:cNvSpPr/>
          <p:nvPr/>
        </p:nvSpPr>
        <p:spPr>
          <a:xfrm>
            <a:off x="640080" y="2606040"/>
            <a:ext cx="10911535" cy="1143000"/>
          </a:xfrm>
          <a:prstGeom prst="rect">
            <a:avLst/>
          </a:prstGeom>
          <a:noFill/>
          <a:ln/>
        </p:spPr>
        <p:txBody>
          <a:bodyPr wrap="square" lIns="0" tIns="0" rIns="0" bIns="0" rtlCol="0" anchor="ctr"/>
          <a:lstStyle/>
          <a:p>
            <a:pPr indent="0" marL="0">
              <a:buNone/>
            </a:pPr>
            <a:r>
              <a:rPr lang="en-US" sz="5200" b="1" dirty="0">
                <a:solidFill>
                  <a:srgbClr val="FFFFFF"/>
                </a:solidFill>
                <a:latin typeface="微軟正黑體" pitchFamily="34" charset="0"/>
                <a:ea typeface="微軟正黑體" pitchFamily="34" charset="-122"/>
                <a:cs typeface="微軟正黑體" pitchFamily="34" charset="-120"/>
              </a:rPr>
              <a:t>神秘客訪問電話系統</a:t>
            </a:r>
            <a:endParaRPr lang="en-US" sz="5200" dirty="0"/>
          </a:p>
        </p:txBody>
      </p:sp>
      <p:sp>
        <p:nvSpPr>
          <p:cNvPr id="4" name="Text 2"/>
          <p:cNvSpPr/>
          <p:nvPr/>
        </p:nvSpPr>
        <p:spPr>
          <a:xfrm>
            <a:off x="640080" y="3931920"/>
            <a:ext cx="10911535" cy="457200"/>
          </a:xfrm>
          <a:prstGeom prst="rect">
            <a:avLst/>
          </a:prstGeom>
          <a:noFill/>
          <a:ln/>
        </p:spPr>
        <p:txBody>
          <a:bodyPr wrap="square" lIns="0" tIns="0" rIns="0" bIns="0" rtlCol="0" anchor="ctr"/>
          <a:lstStyle/>
          <a:p>
            <a:pPr indent="0" marL="0">
              <a:buNone/>
            </a:pPr>
            <a:r>
              <a:rPr lang="en-US" sz="1700" dirty="0">
                <a:solidFill>
                  <a:srgbClr val="AEB4E4"/>
                </a:solidFill>
                <a:latin typeface="微軟正黑體" pitchFamily="34" charset="0"/>
                <a:ea typeface="微軟正黑體" pitchFamily="34" charset="-122"/>
                <a:cs typeface="微軟正黑體" pitchFamily="34" charset="-120"/>
              </a:rPr>
              <a:t>從需求訪談到實際上線　｜　目前已在使用中</a:t>
            </a:r>
            <a:endParaRPr lang="en-US" sz="1700" dirty="0"/>
          </a:p>
        </p:txBody>
      </p:sp>
      <p:sp>
        <p:nvSpPr>
          <p:cNvPr id="5" name="Text 3"/>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7A80AE"/>
                </a:solidFill>
                <a:latin typeface="微軟正黑體" pitchFamily="34" charset="0"/>
                <a:ea typeface="微軟正黑體" pitchFamily="34" charset="-122"/>
                <a:cs typeface="微軟正黑體"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神秘客訪問電話是什麼</a:t>
            </a:r>
            <a:endParaRPr lang="en-US" sz="3200" dirty="0"/>
          </a:p>
        </p:txBody>
      </p:sp>
      <p:sp>
        <p:nvSpPr>
          <p:cNvPr id="4" name="Shape 2"/>
          <p:cNvSpPr/>
          <p:nvPr/>
        </p:nvSpPr>
        <p:spPr>
          <a:xfrm>
            <a:off x="640080" y="2011680"/>
            <a:ext cx="2494712" cy="2743200"/>
          </a:xfrm>
          <a:prstGeom prst="roundRect">
            <a:avLst>
              <a:gd name="adj" fmla="val 2199"/>
            </a:avLst>
          </a:prstGeom>
          <a:solidFill>
            <a:srgbClr val="ECEEF8"/>
          </a:solidFill>
          <a:ln/>
          <a:effectLst>
            <a:outerShdw sx="100000" sy="100000" kx="0" ky="0" algn="bl" rotWithShape="0" blurRad="101600" dist="25400" dir="5400000">
              <a:srgbClr val="9AA0BF">
                <a:alpha val="22000"/>
              </a:srgbClr>
            </a:outerShdw>
          </a:effectLst>
        </p:spPr>
      </p:sp>
      <p:sp>
        <p:nvSpPr>
          <p:cNvPr id="5" name="Shape 3"/>
          <p:cNvSpPr/>
          <p:nvPr/>
        </p:nvSpPr>
        <p:spPr>
          <a:xfrm>
            <a:off x="1622260" y="2286000"/>
            <a:ext cx="530352" cy="530352"/>
          </a:xfrm>
          <a:prstGeom prst="ellipse">
            <a:avLst/>
          </a:prstGeom>
          <a:solidFill>
            <a:srgbClr val="2B2D5C"/>
          </a:solidFill>
          <a:ln/>
        </p:spPr>
      </p:sp>
      <p:sp>
        <p:nvSpPr>
          <p:cNvPr id="6" name="Text 4"/>
          <p:cNvSpPr/>
          <p:nvPr/>
        </p:nvSpPr>
        <p:spPr>
          <a:xfrm>
            <a:off x="1622260" y="2286000"/>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1</a:t>
            </a:r>
            <a:endParaRPr lang="en-US" sz="1700" dirty="0"/>
          </a:p>
        </p:txBody>
      </p:sp>
      <p:sp>
        <p:nvSpPr>
          <p:cNvPr id="7" name="Text 5"/>
          <p:cNvSpPr/>
          <p:nvPr/>
        </p:nvSpPr>
        <p:spPr>
          <a:xfrm>
            <a:off x="822960" y="2971800"/>
            <a:ext cx="2128952" cy="502920"/>
          </a:xfrm>
          <a:prstGeom prst="rect">
            <a:avLst/>
          </a:prstGeom>
          <a:noFill/>
          <a:ln/>
        </p:spPr>
        <p:txBody>
          <a:bodyPr wrap="square" lIns="0" tIns="0" rIns="0" bIns="0" rtlCol="0" anchor="ctr"/>
          <a:lstStyle/>
          <a:p>
            <a:pPr algn="ctr" indent="0" marL="0">
              <a:buNone/>
            </a:pPr>
            <a:r>
              <a:rPr lang="en-US" sz="2100" b="1" dirty="0">
                <a:solidFill>
                  <a:srgbClr val="2B2D5C"/>
                </a:solidFill>
                <a:latin typeface="微軟正黑體" pitchFamily="34" charset="0"/>
                <a:ea typeface="微軟正黑體" pitchFamily="34" charset="-122"/>
                <a:cs typeface="微軟正黑體" pitchFamily="34" charset="-120"/>
              </a:rPr>
              <a:t>互打</a:t>
            </a:r>
            <a:endParaRPr lang="en-US" sz="2100" dirty="0"/>
          </a:p>
        </p:txBody>
      </p:sp>
      <p:sp>
        <p:nvSpPr>
          <p:cNvPr id="8" name="Text 6"/>
          <p:cNvSpPr/>
          <p:nvPr/>
        </p:nvSpPr>
        <p:spPr>
          <a:xfrm>
            <a:off x="868680" y="3520440"/>
            <a:ext cx="2037512" cy="1417320"/>
          </a:xfrm>
          <a:prstGeom prst="rect">
            <a:avLst/>
          </a:prstGeom>
          <a:noFill/>
          <a:ln/>
        </p:spPr>
        <p:txBody>
          <a:bodyPr wrap="square" lIns="0" tIns="0" rIns="0" bIns="0" rtlCol="0" anchor="t"/>
          <a:lstStyle/>
          <a:p>
            <a:pPr algn="ct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各專案組每月隨機撥打電話給其他專案組</a:t>
            </a:r>
            <a:endParaRPr lang="en-US" sz="1250" dirty="0"/>
          </a:p>
        </p:txBody>
      </p:sp>
      <p:sp>
        <p:nvSpPr>
          <p:cNvPr id="9" name="Shape 7"/>
          <p:cNvSpPr/>
          <p:nvPr/>
        </p:nvSpPr>
        <p:spPr>
          <a:xfrm rot="5400000">
            <a:off x="3203372" y="3246120"/>
            <a:ext cx="173736" cy="219456"/>
          </a:xfrm>
          <a:prstGeom prst="triangle">
            <a:avLst/>
          </a:prstGeom>
          <a:solidFill>
            <a:srgbClr val="AEB4E4"/>
          </a:solidFill>
          <a:ln/>
        </p:spPr>
      </p:sp>
      <p:sp>
        <p:nvSpPr>
          <p:cNvPr id="10" name="Shape 8"/>
          <p:cNvSpPr/>
          <p:nvPr/>
        </p:nvSpPr>
        <p:spPr>
          <a:xfrm>
            <a:off x="3445688" y="2011680"/>
            <a:ext cx="2494712" cy="2743200"/>
          </a:xfrm>
          <a:prstGeom prst="roundRect">
            <a:avLst>
              <a:gd name="adj" fmla="val 2199"/>
            </a:avLst>
          </a:prstGeom>
          <a:solidFill>
            <a:srgbClr val="D6D9F0"/>
          </a:solidFill>
          <a:ln/>
          <a:effectLst>
            <a:outerShdw sx="100000" sy="100000" kx="0" ky="0" algn="bl" rotWithShape="0" blurRad="101600" dist="25400" dir="5400000">
              <a:srgbClr val="9AA0BF">
                <a:alpha val="22000"/>
              </a:srgbClr>
            </a:outerShdw>
          </a:effectLst>
        </p:spPr>
      </p:sp>
      <p:sp>
        <p:nvSpPr>
          <p:cNvPr id="11" name="Shape 9"/>
          <p:cNvSpPr/>
          <p:nvPr/>
        </p:nvSpPr>
        <p:spPr>
          <a:xfrm>
            <a:off x="4427868" y="2286000"/>
            <a:ext cx="530352" cy="530352"/>
          </a:xfrm>
          <a:prstGeom prst="ellipse">
            <a:avLst/>
          </a:prstGeom>
          <a:solidFill>
            <a:srgbClr val="2B2D5C"/>
          </a:solidFill>
          <a:ln/>
        </p:spPr>
      </p:sp>
      <p:sp>
        <p:nvSpPr>
          <p:cNvPr id="12" name="Text 10"/>
          <p:cNvSpPr/>
          <p:nvPr/>
        </p:nvSpPr>
        <p:spPr>
          <a:xfrm>
            <a:off x="4427868" y="2286000"/>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2</a:t>
            </a:r>
            <a:endParaRPr lang="en-US" sz="1700" dirty="0"/>
          </a:p>
        </p:txBody>
      </p:sp>
      <p:sp>
        <p:nvSpPr>
          <p:cNvPr id="13" name="Text 11"/>
          <p:cNvSpPr/>
          <p:nvPr/>
        </p:nvSpPr>
        <p:spPr>
          <a:xfrm>
            <a:off x="3628568" y="2971800"/>
            <a:ext cx="2128952" cy="502920"/>
          </a:xfrm>
          <a:prstGeom prst="rect">
            <a:avLst/>
          </a:prstGeom>
          <a:noFill/>
          <a:ln/>
        </p:spPr>
        <p:txBody>
          <a:bodyPr wrap="square" lIns="0" tIns="0" rIns="0" bIns="0" rtlCol="0" anchor="ctr"/>
          <a:lstStyle/>
          <a:p>
            <a:pPr algn="ctr" indent="0" marL="0">
              <a:buNone/>
            </a:pPr>
            <a:r>
              <a:rPr lang="en-US" sz="2100" b="1" dirty="0">
                <a:solidFill>
                  <a:srgbClr val="2B2D5C"/>
                </a:solidFill>
                <a:latin typeface="微軟正黑體" pitchFamily="34" charset="0"/>
                <a:ea typeface="微軟正黑體" pitchFamily="34" charset="-122"/>
                <a:cs typeface="微軟正黑體" pitchFamily="34" charset="-120"/>
              </a:rPr>
              <a:t>檢核</a:t>
            </a:r>
            <a:endParaRPr lang="en-US" sz="2100" dirty="0"/>
          </a:p>
        </p:txBody>
      </p:sp>
      <p:sp>
        <p:nvSpPr>
          <p:cNvPr id="14" name="Text 12"/>
          <p:cNvSpPr/>
          <p:nvPr/>
        </p:nvSpPr>
        <p:spPr>
          <a:xfrm>
            <a:off x="3674288" y="3520440"/>
            <a:ext cx="2037512" cy="1417320"/>
          </a:xfrm>
          <a:prstGeom prst="rect">
            <a:avLst/>
          </a:prstGeom>
          <a:noFill/>
          <a:ln/>
        </p:spPr>
        <p:txBody>
          <a:bodyPr wrap="square" lIns="0" tIns="0" rIns="0" bIns="0" rtlCol="0" anchor="t"/>
          <a:lstStyle/>
          <a:p>
            <a:pPr algn="ct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以腳本上的常見 FAQ，檢驗接聽同仁是否合乎禮儀、使用標準起手台詞、答案正確</a:t>
            </a:r>
            <a:endParaRPr lang="en-US" sz="1250" dirty="0"/>
          </a:p>
        </p:txBody>
      </p:sp>
      <p:sp>
        <p:nvSpPr>
          <p:cNvPr id="15" name="Shape 13"/>
          <p:cNvSpPr/>
          <p:nvPr/>
        </p:nvSpPr>
        <p:spPr>
          <a:xfrm rot="5400000">
            <a:off x="6008980" y="3246120"/>
            <a:ext cx="173736" cy="219456"/>
          </a:xfrm>
          <a:prstGeom prst="triangle">
            <a:avLst/>
          </a:prstGeom>
          <a:solidFill>
            <a:srgbClr val="AEB4E4"/>
          </a:solidFill>
          <a:ln/>
        </p:spPr>
      </p:sp>
      <p:sp>
        <p:nvSpPr>
          <p:cNvPr id="16" name="Shape 14"/>
          <p:cNvSpPr/>
          <p:nvPr/>
        </p:nvSpPr>
        <p:spPr>
          <a:xfrm>
            <a:off x="6251296" y="2011680"/>
            <a:ext cx="2494712" cy="2743200"/>
          </a:xfrm>
          <a:prstGeom prst="roundRect">
            <a:avLst>
              <a:gd name="adj" fmla="val 2199"/>
            </a:avLst>
          </a:prstGeom>
          <a:solidFill>
            <a:srgbClr val="ECEEF8"/>
          </a:solidFill>
          <a:ln/>
          <a:effectLst>
            <a:outerShdw sx="100000" sy="100000" kx="0" ky="0" algn="bl" rotWithShape="0" blurRad="101600" dist="25400" dir="5400000">
              <a:srgbClr val="9AA0BF">
                <a:alpha val="22000"/>
              </a:srgbClr>
            </a:outerShdw>
          </a:effectLst>
        </p:spPr>
      </p:sp>
      <p:sp>
        <p:nvSpPr>
          <p:cNvPr id="17" name="Shape 15"/>
          <p:cNvSpPr/>
          <p:nvPr/>
        </p:nvSpPr>
        <p:spPr>
          <a:xfrm>
            <a:off x="7233476" y="2286000"/>
            <a:ext cx="530352" cy="530352"/>
          </a:xfrm>
          <a:prstGeom prst="ellipse">
            <a:avLst/>
          </a:prstGeom>
          <a:solidFill>
            <a:srgbClr val="2B2D5C"/>
          </a:solidFill>
          <a:ln/>
        </p:spPr>
      </p:sp>
      <p:sp>
        <p:nvSpPr>
          <p:cNvPr id="18" name="Text 16"/>
          <p:cNvSpPr/>
          <p:nvPr/>
        </p:nvSpPr>
        <p:spPr>
          <a:xfrm>
            <a:off x="7233476" y="2286000"/>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3</a:t>
            </a:r>
            <a:endParaRPr lang="en-US" sz="1700" dirty="0"/>
          </a:p>
        </p:txBody>
      </p:sp>
      <p:sp>
        <p:nvSpPr>
          <p:cNvPr id="19" name="Text 17"/>
          <p:cNvSpPr/>
          <p:nvPr/>
        </p:nvSpPr>
        <p:spPr>
          <a:xfrm>
            <a:off x="6434176" y="2971800"/>
            <a:ext cx="2128952" cy="502920"/>
          </a:xfrm>
          <a:prstGeom prst="rect">
            <a:avLst/>
          </a:prstGeom>
          <a:noFill/>
          <a:ln/>
        </p:spPr>
        <p:txBody>
          <a:bodyPr wrap="square" lIns="0" tIns="0" rIns="0" bIns="0" rtlCol="0" anchor="ctr"/>
          <a:lstStyle/>
          <a:p>
            <a:pPr algn="ctr" indent="0" marL="0">
              <a:buNone/>
            </a:pPr>
            <a:r>
              <a:rPr lang="en-US" sz="2100" b="1" dirty="0">
                <a:solidFill>
                  <a:srgbClr val="2B2D5C"/>
                </a:solidFill>
                <a:latin typeface="微軟正黑體" pitchFamily="34" charset="0"/>
                <a:ea typeface="微軟正黑體" pitchFamily="34" charset="-122"/>
                <a:cs typeface="微軟正黑體" pitchFamily="34" charset="-120"/>
              </a:rPr>
              <a:t>彙整</a:t>
            </a:r>
            <a:endParaRPr lang="en-US" sz="2100" dirty="0"/>
          </a:p>
        </p:txBody>
      </p:sp>
      <p:sp>
        <p:nvSpPr>
          <p:cNvPr id="20" name="Text 18"/>
          <p:cNvSpPr/>
          <p:nvPr/>
        </p:nvSpPr>
        <p:spPr>
          <a:xfrm>
            <a:off x="6479896" y="3520440"/>
            <a:ext cx="2037512" cy="1417320"/>
          </a:xfrm>
          <a:prstGeom prst="rect">
            <a:avLst/>
          </a:prstGeom>
          <a:noFill/>
          <a:ln/>
        </p:spPr>
        <p:txBody>
          <a:bodyPr wrap="square" lIns="0" tIns="0" rIns="0" bIns="0" rtlCol="0" anchor="t"/>
          <a:lstStyle/>
          <a:p>
            <a:pPr algn="ct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各組寫抽查成果與分數給主管，主管彙整報表與未達滿分的經緯報告</a:t>
            </a:r>
            <a:endParaRPr lang="en-US" sz="1250" dirty="0"/>
          </a:p>
        </p:txBody>
      </p:sp>
      <p:sp>
        <p:nvSpPr>
          <p:cNvPr id="21" name="Shape 19"/>
          <p:cNvSpPr/>
          <p:nvPr/>
        </p:nvSpPr>
        <p:spPr>
          <a:xfrm rot="5400000">
            <a:off x="8814587" y="3246120"/>
            <a:ext cx="173736" cy="219456"/>
          </a:xfrm>
          <a:prstGeom prst="triangle">
            <a:avLst/>
          </a:prstGeom>
          <a:solidFill>
            <a:srgbClr val="AEB4E4"/>
          </a:solidFill>
          <a:ln/>
        </p:spPr>
      </p:sp>
      <p:sp>
        <p:nvSpPr>
          <p:cNvPr id="22" name="Shape 20"/>
          <p:cNvSpPr/>
          <p:nvPr/>
        </p:nvSpPr>
        <p:spPr>
          <a:xfrm>
            <a:off x="9056903" y="2011680"/>
            <a:ext cx="2494712" cy="2743200"/>
          </a:xfrm>
          <a:prstGeom prst="roundRect">
            <a:avLst>
              <a:gd name="adj" fmla="val 2199"/>
            </a:avLst>
          </a:prstGeom>
          <a:solidFill>
            <a:srgbClr val="D6D9F0"/>
          </a:solidFill>
          <a:ln/>
          <a:effectLst>
            <a:outerShdw sx="100000" sy="100000" kx="0" ky="0" algn="bl" rotWithShape="0" blurRad="101600" dist="25400" dir="5400000">
              <a:srgbClr val="9AA0BF">
                <a:alpha val="22000"/>
              </a:srgbClr>
            </a:outerShdw>
          </a:effectLst>
        </p:spPr>
      </p:sp>
      <p:sp>
        <p:nvSpPr>
          <p:cNvPr id="23" name="Shape 21"/>
          <p:cNvSpPr/>
          <p:nvPr/>
        </p:nvSpPr>
        <p:spPr>
          <a:xfrm>
            <a:off x="10039083" y="2286000"/>
            <a:ext cx="530352" cy="530352"/>
          </a:xfrm>
          <a:prstGeom prst="ellipse">
            <a:avLst/>
          </a:prstGeom>
          <a:solidFill>
            <a:srgbClr val="2B2D5C"/>
          </a:solidFill>
          <a:ln/>
        </p:spPr>
      </p:sp>
      <p:sp>
        <p:nvSpPr>
          <p:cNvPr id="24" name="Text 22"/>
          <p:cNvSpPr/>
          <p:nvPr/>
        </p:nvSpPr>
        <p:spPr>
          <a:xfrm>
            <a:off x="10039083" y="2286000"/>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4</a:t>
            </a:r>
            <a:endParaRPr lang="en-US" sz="1700" dirty="0"/>
          </a:p>
        </p:txBody>
      </p:sp>
      <p:sp>
        <p:nvSpPr>
          <p:cNvPr id="25" name="Text 23"/>
          <p:cNvSpPr/>
          <p:nvPr/>
        </p:nvSpPr>
        <p:spPr>
          <a:xfrm>
            <a:off x="9239783" y="2971800"/>
            <a:ext cx="2128952" cy="502920"/>
          </a:xfrm>
          <a:prstGeom prst="rect">
            <a:avLst/>
          </a:prstGeom>
          <a:noFill/>
          <a:ln/>
        </p:spPr>
        <p:txBody>
          <a:bodyPr wrap="square" lIns="0" tIns="0" rIns="0" bIns="0" rtlCol="0" anchor="ctr"/>
          <a:lstStyle/>
          <a:p>
            <a:pPr algn="ctr" indent="0" marL="0">
              <a:buNone/>
            </a:pPr>
            <a:r>
              <a:rPr lang="en-US" sz="2100" b="1" dirty="0">
                <a:solidFill>
                  <a:srgbClr val="2B2D5C"/>
                </a:solidFill>
                <a:latin typeface="微軟正黑體" pitchFamily="34" charset="0"/>
                <a:ea typeface="微軟正黑體" pitchFamily="34" charset="-122"/>
                <a:cs typeface="微軟正黑體" pitchFamily="34" charset="-120"/>
              </a:rPr>
              <a:t>發布</a:t>
            </a:r>
            <a:endParaRPr lang="en-US" sz="2100" dirty="0"/>
          </a:p>
        </p:txBody>
      </p:sp>
      <p:sp>
        <p:nvSpPr>
          <p:cNvPr id="26" name="Text 24"/>
          <p:cNvSpPr/>
          <p:nvPr/>
        </p:nvSpPr>
        <p:spPr>
          <a:xfrm>
            <a:off x="9285503" y="3520440"/>
            <a:ext cx="2037512" cy="1417320"/>
          </a:xfrm>
          <a:prstGeom prst="rect">
            <a:avLst/>
          </a:prstGeom>
          <a:noFill/>
          <a:ln/>
        </p:spPr>
        <p:txBody>
          <a:bodyPr wrap="square" lIns="0" tIns="0" rIns="0" bIns="0" rtlCol="0" anchor="t"/>
          <a:lstStyle/>
          <a:p>
            <a:pPr algn="ct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分數向下發給各專案組、向上呈報高級主管</a:t>
            </a:r>
            <a:endParaRPr lang="en-US" sz="1250" dirty="0"/>
          </a:p>
        </p:txBody>
      </p:sp>
      <p:sp>
        <p:nvSpPr>
          <p:cNvPr id="27" name="Text 25"/>
          <p:cNvSpPr/>
          <p:nvPr/>
        </p:nvSpPr>
        <p:spPr>
          <a:xfrm>
            <a:off x="640080" y="5029200"/>
            <a:ext cx="10911535" cy="548640"/>
          </a:xfrm>
          <a:prstGeom prst="rect">
            <a:avLst/>
          </a:prstGeom>
          <a:noFill/>
          <a:ln/>
        </p:spPr>
        <p:txBody>
          <a:bodyPr wrap="square" lIns="0" tIns="0" rIns="0" bIns="0" rtlCol="0" anchor="ctr"/>
          <a:lstStyle/>
          <a:p>
            <a:pPr algn="ctr" indent="0" marL="0">
              <a:buNone/>
            </a:pPr>
            <a:r>
              <a:rPr lang="en-US" sz="1500" b="1" dirty="0">
                <a:solidFill>
                  <a:srgbClr val="D95F2B"/>
                </a:solidFill>
                <a:latin typeface="微軟正黑體" pitchFamily="34" charset="0"/>
                <a:ea typeface="微軟正黑體" pitchFamily="34" charset="-122"/>
                <a:cs typeface="微軟正黑體" pitchFamily="34" charset="-120"/>
              </a:rPr>
              <a:t>這整套流程每個月都要跑一次。</a:t>
            </a:r>
            <a:endParaRPr lang="en-US" sz="1500" dirty="0"/>
          </a:p>
        </p:txBody>
      </p:sp>
      <p:sp>
        <p:nvSpPr>
          <p:cNvPr id="28" name="Text 26"/>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舊流程的痛點</a:t>
            </a:r>
            <a:endParaRPr lang="en-US" sz="3200" dirty="0"/>
          </a:p>
        </p:txBody>
      </p:sp>
      <p:sp>
        <p:nvSpPr>
          <p:cNvPr id="4" name="Shape 2"/>
          <p:cNvSpPr/>
          <p:nvPr/>
        </p:nvSpPr>
        <p:spPr>
          <a:xfrm>
            <a:off x="640080" y="1920240"/>
            <a:ext cx="3393338" cy="3703320"/>
          </a:xfrm>
          <a:prstGeom prst="roundRect">
            <a:avLst>
              <a:gd name="adj" fmla="val 1617"/>
            </a:avLst>
          </a:prstGeom>
          <a:solidFill>
            <a:srgbClr val="F2E2DA"/>
          </a:solidFill>
          <a:ln/>
          <a:effectLst>
            <a:outerShdw sx="100000" sy="100000" kx="0" ky="0" algn="bl" rotWithShape="0" blurRad="101600" dist="25400" dir="5400000">
              <a:srgbClr val="9AA0BF">
                <a:alpha val="22000"/>
              </a:srgbClr>
            </a:outerShdw>
          </a:effectLst>
        </p:spPr>
      </p:sp>
      <p:sp>
        <p:nvSpPr>
          <p:cNvPr id="5" name="Text 3"/>
          <p:cNvSpPr/>
          <p:nvPr/>
        </p:nvSpPr>
        <p:spPr>
          <a:xfrm>
            <a:off x="868680" y="2103120"/>
            <a:ext cx="2936138" cy="457200"/>
          </a:xfrm>
          <a:prstGeom prst="rect">
            <a:avLst/>
          </a:prstGeom>
          <a:noFill/>
          <a:ln/>
        </p:spPr>
        <p:txBody>
          <a:bodyPr wrap="square" lIns="0" tIns="0" rIns="0" bIns="0" rtlCol="0" anchor="ctr"/>
          <a:lstStyle/>
          <a:p>
            <a:pPr algn="ctr" indent="0" marL="0">
              <a:buNone/>
            </a:pPr>
            <a:r>
              <a:rPr lang="en-US" sz="2300" b="1" dirty="0">
                <a:solidFill>
                  <a:srgbClr val="D95F2B"/>
                </a:solidFill>
                <a:latin typeface="微軟正黑體" pitchFamily="34" charset="0"/>
                <a:ea typeface="微軟正黑體" pitchFamily="34" charset="-122"/>
                <a:cs typeface="微軟正黑體" pitchFamily="34" charset="-120"/>
              </a:rPr>
              <a:t>五份以上</a:t>
            </a:r>
            <a:endParaRPr lang="en-US" sz="2300" dirty="0"/>
          </a:p>
        </p:txBody>
      </p:sp>
      <p:sp>
        <p:nvSpPr>
          <p:cNvPr id="6" name="Text 4"/>
          <p:cNvSpPr/>
          <p:nvPr/>
        </p:nvSpPr>
        <p:spPr>
          <a:xfrm>
            <a:off x="868680" y="2542032"/>
            <a:ext cx="2936138" cy="457200"/>
          </a:xfrm>
          <a:prstGeom prst="rect">
            <a:avLst/>
          </a:prstGeom>
          <a:noFill/>
          <a:ln/>
        </p:spPr>
        <p:txBody>
          <a:bodyPr wrap="square" lIns="0" tIns="0" rIns="0" bIns="0" rtlCol="0" anchor="ctr"/>
          <a:lstStyle/>
          <a:p>
            <a:pPr algn="ctr" indent="0" marL="0">
              <a:buNone/>
            </a:pPr>
            <a:r>
              <a:rPr lang="en-US" sz="2300" b="1" dirty="0">
                <a:solidFill>
                  <a:srgbClr val="D95F2B"/>
                </a:solidFill>
                <a:latin typeface="微軟正黑體" pitchFamily="34" charset="0"/>
                <a:ea typeface="微軟正黑體" pitchFamily="34" charset="-122"/>
                <a:cs typeface="微軟正黑體" pitchFamily="34" charset="-120"/>
              </a:rPr>
              <a:t>的 Excel</a:t>
            </a:r>
            <a:endParaRPr lang="en-US" sz="2300" dirty="0"/>
          </a:p>
        </p:txBody>
      </p:sp>
      <p:sp>
        <p:nvSpPr>
          <p:cNvPr id="7" name="Text 5"/>
          <p:cNvSpPr/>
          <p:nvPr/>
        </p:nvSpPr>
        <p:spPr>
          <a:xfrm>
            <a:off x="914400" y="3063240"/>
            <a:ext cx="2844698" cy="1051560"/>
          </a:xfrm>
          <a:prstGeom prst="rect">
            <a:avLst/>
          </a:prstGeom>
          <a:noFill/>
          <a:ln/>
        </p:spPr>
        <p:txBody>
          <a:bodyPr wrap="square" lIns="0" tIns="0" rIns="0" bIns="0" rtlCol="0" anchor="t"/>
          <a:lstStyle/>
          <a:p>
            <a:pPr algn="ctr" indent="0" marL="0">
              <a:lnSpc>
                <a:spcPct val="125000"/>
              </a:lnSpc>
              <a:buNone/>
            </a:pPr>
            <a:r>
              <a:rPr lang="en-US" sz="1300" dirty="0">
                <a:solidFill>
                  <a:srgbClr val="2B2D5C"/>
                </a:solidFill>
                <a:latin typeface="微軟正黑體" pitchFamily="34" charset="0"/>
                <a:ea typeface="微軟正黑體" pitchFamily="34" charset="-122"/>
                <a:cs typeface="微軟正黑體" pitchFamily="34" charset="-120"/>
              </a:rPr>
              <a:t>同一件事的資料散在五份以上的表單裡，一份工作要開一堆檔案。</a:t>
            </a:r>
            <a:endParaRPr lang="en-US" sz="1300" dirty="0"/>
          </a:p>
        </p:txBody>
      </p:sp>
      <p:sp>
        <p:nvSpPr>
          <p:cNvPr id="8" name="Shape 6"/>
          <p:cNvSpPr/>
          <p:nvPr/>
        </p:nvSpPr>
        <p:spPr>
          <a:xfrm>
            <a:off x="914400" y="4114800"/>
            <a:ext cx="2844698" cy="1280160"/>
          </a:xfrm>
          <a:prstGeom prst="roundRect">
            <a:avLst>
              <a:gd name="adj" fmla="val 5714"/>
            </a:avLst>
          </a:prstGeom>
          <a:solidFill>
            <a:srgbClr val="E4E6F0"/>
          </a:solidFill>
          <a:ln w="12700">
            <a:solidFill>
              <a:srgbClr val="AEB4E4"/>
            </a:solidFill>
            <a:prstDash val="dash"/>
          </a:ln>
        </p:spPr>
      </p:sp>
      <p:sp>
        <p:nvSpPr>
          <p:cNvPr id="9" name="Text 7"/>
          <p:cNvSpPr/>
          <p:nvPr/>
        </p:nvSpPr>
        <p:spPr>
          <a:xfrm>
            <a:off x="1051560" y="4114800"/>
            <a:ext cx="2570378" cy="128016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【待放圖】舊流程截圖</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legacy-excel-01.png</a:t>
            </a:r>
            <a:endParaRPr lang="en-US" sz="1100" dirty="0"/>
          </a:p>
        </p:txBody>
      </p:sp>
      <p:sp>
        <p:nvSpPr>
          <p:cNvPr id="10" name="Shape 8"/>
          <p:cNvSpPr/>
          <p:nvPr/>
        </p:nvSpPr>
        <p:spPr>
          <a:xfrm>
            <a:off x="4399178" y="1920240"/>
            <a:ext cx="3393338" cy="3703320"/>
          </a:xfrm>
          <a:prstGeom prst="roundRect">
            <a:avLst>
              <a:gd name="adj" fmla="val 1617"/>
            </a:avLst>
          </a:prstGeom>
          <a:solidFill>
            <a:srgbClr val="F2E2DA"/>
          </a:solidFill>
          <a:ln/>
          <a:effectLst>
            <a:outerShdw sx="100000" sy="100000" kx="0" ky="0" algn="bl" rotWithShape="0" blurRad="101600" dist="25400" dir="5400000">
              <a:srgbClr val="9AA0BF">
                <a:alpha val="22000"/>
              </a:srgbClr>
            </a:outerShdw>
          </a:effectLst>
        </p:spPr>
      </p:sp>
      <p:sp>
        <p:nvSpPr>
          <p:cNvPr id="11" name="Text 9"/>
          <p:cNvSpPr/>
          <p:nvPr/>
        </p:nvSpPr>
        <p:spPr>
          <a:xfrm>
            <a:off x="4627778" y="2103120"/>
            <a:ext cx="2936138" cy="457200"/>
          </a:xfrm>
          <a:prstGeom prst="rect">
            <a:avLst/>
          </a:prstGeom>
          <a:noFill/>
          <a:ln/>
        </p:spPr>
        <p:txBody>
          <a:bodyPr wrap="square" lIns="0" tIns="0" rIns="0" bIns="0" rtlCol="0" anchor="ctr"/>
          <a:lstStyle/>
          <a:p>
            <a:pPr algn="ctr" indent="0" marL="0">
              <a:buNone/>
            </a:pPr>
            <a:r>
              <a:rPr lang="en-US" sz="2300" b="1" dirty="0">
                <a:solidFill>
                  <a:srgbClr val="D95F2B"/>
                </a:solidFill>
                <a:latin typeface="微軟正黑體" pitchFamily="34" charset="0"/>
                <a:ea typeface="微軟正黑體" pitchFamily="34" charset="-122"/>
                <a:cs typeface="微軟正黑體" pitchFamily="34" charset="-120"/>
              </a:rPr>
              <a:t>每個月</a:t>
            </a:r>
            <a:endParaRPr lang="en-US" sz="2300" dirty="0"/>
          </a:p>
        </p:txBody>
      </p:sp>
      <p:sp>
        <p:nvSpPr>
          <p:cNvPr id="12" name="Text 10"/>
          <p:cNvSpPr/>
          <p:nvPr/>
        </p:nvSpPr>
        <p:spPr>
          <a:xfrm>
            <a:off x="4627778" y="2542032"/>
            <a:ext cx="2936138" cy="457200"/>
          </a:xfrm>
          <a:prstGeom prst="rect">
            <a:avLst/>
          </a:prstGeom>
          <a:noFill/>
          <a:ln/>
        </p:spPr>
        <p:txBody>
          <a:bodyPr wrap="square" lIns="0" tIns="0" rIns="0" bIns="0" rtlCol="0" anchor="ctr"/>
          <a:lstStyle/>
          <a:p>
            <a:pPr algn="ctr" indent="0" marL="0">
              <a:buNone/>
            </a:pPr>
            <a:r>
              <a:rPr lang="en-US" sz="2300" b="1" dirty="0">
                <a:solidFill>
                  <a:srgbClr val="D95F2B"/>
                </a:solidFill>
                <a:latin typeface="微軟正黑體" pitchFamily="34" charset="0"/>
                <a:ea typeface="微軟正黑體" pitchFamily="34" charset="-122"/>
                <a:cs typeface="微軟正黑體" pitchFamily="34" charset="-120"/>
              </a:rPr>
              <a:t>都要重來</a:t>
            </a:r>
            <a:endParaRPr lang="en-US" sz="2300" dirty="0"/>
          </a:p>
        </p:txBody>
      </p:sp>
      <p:sp>
        <p:nvSpPr>
          <p:cNvPr id="13" name="Text 11"/>
          <p:cNvSpPr/>
          <p:nvPr/>
        </p:nvSpPr>
        <p:spPr>
          <a:xfrm>
            <a:off x="4673498" y="3063240"/>
            <a:ext cx="2844698" cy="1051560"/>
          </a:xfrm>
          <a:prstGeom prst="rect">
            <a:avLst/>
          </a:prstGeom>
          <a:noFill/>
          <a:ln/>
        </p:spPr>
        <p:txBody>
          <a:bodyPr wrap="square" lIns="0" tIns="0" rIns="0" bIns="0" rtlCol="0" anchor="t"/>
          <a:lstStyle/>
          <a:p>
            <a:pPr algn="ctr" indent="0" marL="0">
              <a:lnSpc>
                <a:spcPct val="125000"/>
              </a:lnSpc>
              <a:buNone/>
            </a:pPr>
            <a:r>
              <a:rPr lang="en-US" sz="1300" dirty="0">
                <a:solidFill>
                  <a:srgbClr val="2B2D5C"/>
                </a:solidFill>
                <a:latin typeface="微軟正黑體" pitchFamily="34" charset="0"/>
                <a:ea typeface="微軟正黑體" pitchFamily="34" charset="-122"/>
                <a:cs typeface="微軟正黑體" pitchFamily="34" charset="-120"/>
              </a:rPr>
              <a:t>每到月底就要重開報表、重設一次 Google 表單給人填。</a:t>
            </a:r>
            <a:endParaRPr lang="en-US" sz="1300" dirty="0"/>
          </a:p>
        </p:txBody>
      </p:sp>
      <p:sp>
        <p:nvSpPr>
          <p:cNvPr id="14" name="Shape 12"/>
          <p:cNvSpPr/>
          <p:nvPr/>
        </p:nvSpPr>
        <p:spPr>
          <a:xfrm>
            <a:off x="4673498" y="4114800"/>
            <a:ext cx="2844698" cy="1280160"/>
          </a:xfrm>
          <a:prstGeom prst="roundRect">
            <a:avLst>
              <a:gd name="adj" fmla="val 5714"/>
            </a:avLst>
          </a:prstGeom>
          <a:solidFill>
            <a:srgbClr val="E4E6F0"/>
          </a:solidFill>
          <a:ln w="12700">
            <a:solidFill>
              <a:srgbClr val="AEB4E4"/>
            </a:solidFill>
            <a:prstDash val="dash"/>
          </a:ln>
        </p:spPr>
      </p:sp>
      <p:sp>
        <p:nvSpPr>
          <p:cNvPr id="15" name="Text 13"/>
          <p:cNvSpPr/>
          <p:nvPr/>
        </p:nvSpPr>
        <p:spPr>
          <a:xfrm>
            <a:off x="4810658" y="4114800"/>
            <a:ext cx="2570378" cy="128016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【待放圖】舊流程截圖</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legacy-form-01.png</a:t>
            </a:r>
            <a:endParaRPr lang="en-US" sz="1100" dirty="0"/>
          </a:p>
        </p:txBody>
      </p:sp>
      <p:sp>
        <p:nvSpPr>
          <p:cNvPr id="16" name="Shape 14"/>
          <p:cNvSpPr/>
          <p:nvPr/>
        </p:nvSpPr>
        <p:spPr>
          <a:xfrm>
            <a:off x="8158277" y="1920240"/>
            <a:ext cx="3393338" cy="3703320"/>
          </a:xfrm>
          <a:prstGeom prst="roundRect">
            <a:avLst>
              <a:gd name="adj" fmla="val 1617"/>
            </a:avLst>
          </a:prstGeom>
          <a:solidFill>
            <a:srgbClr val="F2E2DA"/>
          </a:solidFill>
          <a:ln/>
          <a:effectLst>
            <a:outerShdw sx="100000" sy="100000" kx="0" ky="0" algn="bl" rotWithShape="0" blurRad="101600" dist="25400" dir="5400000">
              <a:srgbClr val="9AA0BF">
                <a:alpha val="22000"/>
              </a:srgbClr>
            </a:outerShdw>
          </a:effectLst>
        </p:spPr>
      </p:sp>
      <p:sp>
        <p:nvSpPr>
          <p:cNvPr id="17" name="Text 15"/>
          <p:cNvSpPr/>
          <p:nvPr/>
        </p:nvSpPr>
        <p:spPr>
          <a:xfrm>
            <a:off x="8386877" y="2103120"/>
            <a:ext cx="2936138" cy="457200"/>
          </a:xfrm>
          <a:prstGeom prst="rect">
            <a:avLst/>
          </a:prstGeom>
          <a:noFill/>
          <a:ln/>
        </p:spPr>
        <p:txBody>
          <a:bodyPr wrap="square" lIns="0" tIns="0" rIns="0" bIns="0" rtlCol="0" anchor="ctr"/>
          <a:lstStyle/>
          <a:p>
            <a:pPr algn="ctr" indent="0" marL="0">
              <a:buNone/>
            </a:pPr>
            <a:r>
              <a:rPr lang="en-US" sz="2300" b="1" dirty="0">
                <a:solidFill>
                  <a:srgbClr val="D95F2B"/>
                </a:solidFill>
                <a:latin typeface="微軟正黑體" pitchFamily="34" charset="0"/>
                <a:ea typeface="微軟正黑體" pitchFamily="34" charset="-122"/>
                <a:cs typeface="微軟正黑體" pitchFamily="34" charset="-120"/>
              </a:rPr>
              <a:t>手動算分</a:t>
            </a:r>
            <a:endParaRPr lang="en-US" sz="2300" dirty="0"/>
          </a:p>
        </p:txBody>
      </p:sp>
      <p:sp>
        <p:nvSpPr>
          <p:cNvPr id="18" name="Text 16"/>
          <p:cNvSpPr/>
          <p:nvPr/>
        </p:nvSpPr>
        <p:spPr>
          <a:xfrm>
            <a:off x="8386877" y="2542032"/>
            <a:ext cx="2936138" cy="457200"/>
          </a:xfrm>
          <a:prstGeom prst="rect">
            <a:avLst/>
          </a:prstGeom>
          <a:noFill/>
          <a:ln/>
        </p:spPr>
        <p:txBody>
          <a:bodyPr wrap="square" lIns="0" tIns="0" rIns="0" bIns="0" rtlCol="0" anchor="ctr"/>
          <a:lstStyle/>
          <a:p>
            <a:pPr algn="ctr" indent="0" marL="0">
              <a:buNone/>
            </a:pPr>
            <a:r>
              <a:rPr lang="en-US" sz="2300" b="1" dirty="0">
                <a:solidFill>
                  <a:srgbClr val="D95F2B"/>
                </a:solidFill>
                <a:latin typeface="微軟正黑體" pitchFamily="34" charset="0"/>
                <a:ea typeface="微軟正黑體" pitchFamily="34" charset="-122"/>
                <a:cs typeface="微軟正黑體" pitchFamily="34" charset="-120"/>
              </a:rPr>
              <a:t>反覆貼上</a:t>
            </a:r>
            <a:endParaRPr lang="en-US" sz="2300" dirty="0"/>
          </a:p>
        </p:txBody>
      </p:sp>
      <p:sp>
        <p:nvSpPr>
          <p:cNvPr id="19" name="Text 17"/>
          <p:cNvSpPr/>
          <p:nvPr/>
        </p:nvSpPr>
        <p:spPr>
          <a:xfrm>
            <a:off x="8432597" y="3063240"/>
            <a:ext cx="2844698" cy="1051560"/>
          </a:xfrm>
          <a:prstGeom prst="rect">
            <a:avLst/>
          </a:prstGeom>
          <a:noFill/>
          <a:ln/>
        </p:spPr>
        <p:txBody>
          <a:bodyPr wrap="square" lIns="0" tIns="0" rIns="0" bIns="0" rtlCol="0" anchor="t"/>
          <a:lstStyle/>
          <a:p>
            <a:pPr algn="ctr" indent="0" marL="0">
              <a:lnSpc>
                <a:spcPct val="125000"/>
              </a:lnSpc>
              <a:buNone/>
            </a:pPr>
            <a:r>
              <a:rPr lang="en-US" sz="1300" dirty="0">
                <a:solidFill>
                  <a:srgbClr val="2B2D5C"/>
                </a:solidFill>
                <a:latin typeface="微軟正黑體" pitchFamily="34" charset="0"/>
                <a:ea typeface="微軟正黑體" pitchFamily="34" charset="-122"/>
                <a:cs typeface="微軟正黑體" pitchFamily="34" charset="-120"/>
              </a:rPr>
              <a:t>收回來的資料要手動計算分數，再一直複製貼上到給不同對象的 Excel。</a:t>
            </a:r>
            <a:endParaRPr lang="en-US" sz="1300" dirty="0"/>
          </a:p>
        </p:txBody>
      </p:sp>
      <p:sp>
        <p:nvSpPr>
          <p:cNvPr id="20" name="Shape 18"/>
          <p:cNvSpPr/>
          <p:nvPr/>
        </p:nvSpPr>
        <p:spPr>
          <a:xfrm>
            <a:off x="8432597" y="4114800"/>
            <a:ext cx="2844698" cy="1280160"/>
          </a:xfrm>
          <a:prstGeom prst="roundRect">
            <a:avLst>
              <a:gd name="adj" fmla="val 5714"/>
            </a:avLst>
          </a:prstGeom>
          <a:solidFill>
            <a:srgbClr val="E4E6F0"/>
          </a:solidFill>
          <a:ln w="12700">
            <a:solidFill>
              <a:srgbClr val="AEB4E4"/>
            </a:solidFill>
            <a:prstDash val="dash"/>
          </a:ln>
        </p:spPr>
      </p:sp>
      <p:sp>
        <p:nvSpPr>
          <p:cNvPr id="21" name="Text 19"/>
          <p:cNvSpPr/>
          <p:nvPr/>
        </p:nvSpPr>
        <p:spPr>
          <a:xfrm>
            <a:off x="8569757" y="4114800"/>
            <a:ext cx="2570378" cy="128016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【待放圖】舊流程截圖</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legacy-excel-02.png</a:t>
            </a:r>
            <a:endParaRPr lang="en-US" sz="1100" dirty="0"/>
          </a:p>
        </p:txBody>
      </p:sp>
      <p:sp>
        <p:nvSpPr>
          <p:cNvPr id="22" name="Text 20"/>
          <p:cNvSpPr/>
          <p:nvPr/>
        </p:nvSpPr>
        <p:spPr>
          <a:xfrm>
            <a:off x="640080" y="5806440"/>
            <a:ext cx="10911535" cy="411480"/>
          </a:xfrm>
          <a:prstGeom prst="rect">
            <a:avLst/>
          </a:prstGeom>
          <a:noFill/>
          <a:ln/>
        </p:spPr>
        <p:txBody>
          <a:bodyPr wrap="square" lIns="0" tIns="0" rIns="0" bIns="0" rtlCol="0" anchor="ctr"/>
          <a:lstStyle/>
          <a:p>
            <a:pPr algn="ctr" indent="0" marL="0">
              <a:buNone/>
            </a:pPr>
            <a:r>
              <a:rPr lang="en-US" sz="1500" b="1" dirty="0">
                <a:solidFill>
                  <a:srgbClr val="2B2D5C"/>
                </a:solidFill>
                <a:latin typeface="微軟正黑體" pitchFamily="34" charset="0"/>
                <a:ea typeface="微軟正黑體" pitchFamily="34" charset="-122"/>
                <a:cs typeface="微軟正黑體" pitchFamily="34" charset="-120"/>
              </a:rPr>
              <a:t>最花時間的不是判斷，是搬資料。</a:t>
            </a:r>
            <a:endParaRPr lang="en-US" sz="1500" dirty="0"/>
          </a:p>
        </p:txBody>
      </p:sp>
      <p:sp>
        <p:nvSpPr>
          <p:cNvPr id="23" name="Text 21"/>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我的解法：單一後台 × 三層權限</a:t>
            </a:r>
            <a:endParaRPr lang="en-US" sz="3200" dirty="0"/>
          </a:p>
        </p:txBody>
      </p:sp>
      <p:sp>
        <p:nvSpPr>
          <p:cNvPr id="4" name="Shape 2"/>
          <p:cNvSpPr/>
          <p:nvPr/>
        </p:nvSpPr>
        <p:spPr>
          <a:xfrm>
            <a:off x="640080" y="1965960"/>
            <a:ext cx="5760720" cy="1024128"/>
          </a:xfrm>
          <a:prstGeom prst="roundRect">
            <a:avLst>
              <a:gd name="adj" fmla="val 5357"/>
            </a:avLst>
          </a:prstGeom>
          <a:solidFill>
            <a:srgbClr val="ECEEF8"/>
          </a:solidFill>
          <a:ln/>
        </p:spPr>
      </p:sp>
      <p:sp>
        <p:nvSpPr>
          <p:cNvPr id="5" name="Shape 3"/>
          <p:cNvSpPr/>
          <p:nvPr/>
        </p:nvSpPr>
        <p:spPr>
          <a:xfrm>
            <a:off x="896112" y="2240280"/>
            <a:ext cx="475488" cy="475488"/>
          </a:xfrm>
          <a:prstGeom prst="ellipse">
            <a:avLst/>
          </a:prstGeom>
          <a:solidFill>
            <a:srgbClr val="2B2D5C"/>
          </a:solidFill>
          <a:ln/>
        </p:spPr>
      </p:sp>
      <p:sp>
        <p:nvSpPr>
          <p:cNvPr id="6" name="Text 4"/>
          <p:cNvSpPr/>
          <p:nvPr/>
        </p:nvSpPr>
        <p:spPr>
          <a:xfrm>
            <a:off x="896112" y="2240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微軟正黑體" pitchFamily="34" charset="0"/>
                <a:ea typeface="微軟正黑體" pitchFamily="34" charset="-122"/>
                <a:cs typeface="微軟正黑體" pitchFamily="34" charset="-120"/>
              </a:rPr>
              <a:t>1</a:t>
            </a:r>
            <a:endParaRPr lang="en-US" sz="1600" dirty="0"/>
          </a:p>
        </p:txBody>
      </p:sp>
      <p:sp>
        <p:nvSpPr>
          <p:cNvPr id="7" name="Text 5"/>
          <p:cNvSpPr/>
          <p:nvPr/>
        </p:nvSpPr>
        <p:spPr>
          <a:xfrm>
            <a:off x="1508760" y="2093976"/>
            <a:ext cx="4663440" cy="384048"/>
          </a:xfrm>
          <a:prstGeom prst="rect">
            <a:avLst/>
          </a:prstGeom>
          <a:noFill/>
          <a:ln/>
        </p:spPr>
        <p:txBody>
          <a:bodyPr wrap="square" lIns="0" tIns="0" rIns="0" bIns="0" rtlCol="0" anchor="ctr"/>
          <a:lstStyle/>
          <a:p>
            <a:pPr indent="0" marL="0">
              <a:buNone/>
            </a:pPr>
            <a:r>
              <a:rPr lang="en-US" sz="1600" b="1" dirty="0">
                <a:solidFill>
                  <a:srgbClr val="D95F2B"/>
                </a:solidFill>
                <a:latin typeface="微軟正黑體" pitchFamily="34" charset="0"/>
                <a:ea typeface="微軟正黑體" pitchFamily="34" charset="-122"/>
                <a:cs typeface="微軟正黑體" pitchFamily="34" charset="-120"/>
              </a:rPr>
              <a:t>整併</a:t>
            </a:r>
            <a:endParaRPr lang="en-US" sz="1600" dirty="0"/>
          </a:p>
        </p:txBody>
      </p:sp>
      <p:sp>
        <p:nvSpPr>
          <p:cNvPr id="8" name="Text 6"/>
          <p:cNvSpPr/>
          <p:nvPr/>
        </p:nvSpPr>
        <p:spPr>
          <a:xfrm>
            <a:off x="1508760" y="2468880"/>
            <a:ext cx="4617720" cy="457200"/>
          </a:xfrm>
          <a:prstGeom prst="rect">
            <a:avLst/>
          </a:prstGeom>
          <a:noFill/>
          <a:ln/>
        </p:spPr>
        <p:txBody>
          <a:bodyPr wrap="square" lIns="0" tIns="0" rIns="0" bIns="0" rtlCol="0" anchor="t"/>
          <a:lstStyle/>
          <a:p>
            <a:pPr indent="0" marL="0">
              <a:lnSpc>
                <a:spcPct val="120000"/>
              </a:lnSpc>
              <a:buNone/>
            </a:pPr>
            <a:r>
              <a:rPr lang="en-US" sz="1250" dirty="0">
                <a:solidFill>
                  <a:srgbClr val="2B2D5C"/>
                </a:solidFill>
                <a:latin typeface="微軟正黑體" pitchFamily="34" charset="0"/>
                <a:ea typeface="微軟正黑體" pitchFamily="34" charset="-122"/>
                <a:cs typeface="微軟正黑體" pitchFamily="34" charset="-120"/>
              </a:rPr>
              <a:t>把散在五份以上 Excel 的流程，整併進同一個網站、同一個後台。</a:t>
            </a:r>
            <a:endParaRPr lang="en-US" sz="1250" dirty="0"/>
          </a:p>
        </p:txBody>
      </p:sp>
      <p:sp>
        <p:nvSpPr>
          <p:cNvPr id="9" name="Shape 7"/>
          <p:cNvSpPr/>
          <p:nvPr/>
        </p:nvSpPr>
        <p:spPr>
          <a:xfrm>
            <a:off x="640080" y="3136392"/>
            <a:ext cx="5760720" cy="1024128"/>
          </a:xfrm>
          <a:prstGeom prst="roundRect">
            <a:avLst>
              <a:gd name="adj" fmla="val 5357"/>
            </a:avLst>
          </a:prstGeom>
          <a:solidFill>
            <a:srgbClr val="ECEEF8"/>
          </a:solidFill>
          <a:ln/>
        </p:spPr>
      </p:sp>
      <p:sp>
        <p:nvSpPr>
          <p:cNvPr id="10" name="Shape 8"/>
          <p:cNvSpPr/>
          <p:nvPr/>
        </p:nvSpPr>
        <p:spPr>
          <a:xfrm>
            <a:off x="896112" y="3410712"/>
            <a:ext cx="475488" cy="475488"/>
          </a:xfrm>
          <a:prstGeom prst="ellipse">
            <a:avLst/>
          </a:prstGeom>
          <a:solidFill>
            <a:srgbClr val="2B2D5C"/>
          </a:solidFill>
          <a:ln/>
        </p:spPr>
      </p:sp>
      <p:sp>
        <p:nvSpPr>
          <p:cNvPr id="11" name="Text 9"/>
          <p:cNvSpPr/>
          <p:nvPr/>
        </p:nvSpPr>
        <p:spPr>
          <a:xfrm>
            <a:off x="896112" y="341071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微軟正黑體" pitchFamily="34" charset="0"/>
                <a:ea typeface="微軟正黑體" pitchFamily="34" charset="-122"/>
                <a:cs typeface="微軟正黑體" pitchFamily="34" charset="-120"/>
              </a:rPr>
              <a:t>2</a:t>
            </a:r>
            <a:endParaRPr lang="en-US" sz="1600" dirty="0"/>
          </a:p>
        </p:txBody>
      </p:sp>
      <p:sp>
        <p:nvSpPr>
          <p:cNvPr id="12" name="Text 10"/>
          <p:cNvSpPr/>
          <p:nvPr/>
        </p:nvSpPr>
        <p:spPr>
          <a:xfrm>
            <a:off x="1508760" y="3264408"/>
            <a:ext cx="4663440" cy="384048"/>
          </a:xfrm>
          <a:prstGeom prst="rect">
            <a:avLst/>
          </a:prstGeom>
          <a:noFill/>
          <a:ln/>
        </p:spPr>
        <p:txBody>
          <a:bodyPr wrap="square" lIns="0" tIns="0" rIns="0" bIns="0" rtlCol="0" anchor="ctr"/>
          <a:lstStyle/>
          <a:p>
            <a:pPr indent="0" marL="0">
              <a:buNone/>
            </a:pPr>
            <a:r>
              <a:rPr lang="en-US" sz="1600" b="1" dirty="0">
                <a:solidFill>
                  <a:srgbClr val="D95F2B"/>
                </a:solidFill>
                <a:latin typeface="微軟正黑體" pitchFamily="34" charset="0"/>
                <a:ea typeface="微軟正黑體" pitchFamily="34" charset="-122"/>
                <a:cs typeface="微軟正黑體" pitchFamily="34" charset="-120"/>
              </a:rPr>
              <a:t>不搬資料</a:t>
            </a:r>
            <a:endParaRPr lang="en-US" sz="1600" dirty="0"/>
          </a:p>
        </p:txBody>
      </p:sp>
      <p:sp>
        <p:nvSpPr>
          <p:cNvPr id="13" name="Text 11"/>
          <p:cNvSpPr/>
          <p:nvPr/>
        </p:nvSpPr>
        <p:spPr>
          <a:xfrm>
            <a:off x="1508760" y="3639312"/>
            <a:ext cx="4617720" cy="457200"/>
          </a:xfrm>
          <a:prstGeom prst="rect">
            <a:avLst/>
          </a:prstGeom>
          <a:noFill/>
          <a:ln/>
        </p:spPr>
        <p:txBody>
          <a:bodyPr wrap="square" lIns="0" tIns="0" rIns="0" bIns="0" rtlCol="0" anchor="t"/>
          <a:lstStyle/>
          <a:p>
            <a:pPr indent="0" marL="0">
              <a:lnSpc>
                <a:spcPct val="120000"/>
              </a:lnSpc>
              <a:buNone/>
            </a:pPr>
            <a:r>
              <a:rPr lang="en-US" sz="1250" dirty="0">
                <a:solidFill>
                  <a:srgbClr val="2B2D5C"/>
                </a:solidFill>
                <a:latin typeface="微軟正黑體" pitchFamily="34" charset="0"/>
                <a:ea typeface="微軟正黑體" pitchFamily="34" charset="-122"/>
                <a:cs typeface="微軟正黑體" pitchFamily="34" charset="-120"/>
              </a:rPr>
              <a:t>資料不需要再搬移，只針對不同對象切換顯示內容。</a:t>
            </a:r>
            <a:endParaRPr lang="en-US" sz="1250" dirty="0"/>
          </a:p>
        </p:txBody>
      </p:sp>
      <p:sp>
        <p:nvSpPr>
          <p:cNvPr id="14" name="Shape 12"/>
          <p:cNvSpPr/>
          <p:nvPr/>
        </p:nvSpPr>
        <p:spPr>
          <a:xfrm>
            <a:off x="640080" y="4306824"/>
            <a:ext cx="5760720" cy="1024128"/>
          </a:xfrm>
          <a:prstGeom prst="roundRect">
            <a:avLst>
              <a:gd name="adj" fmla="val 5357"/>
            </a:avLst>
          </a:prstGeom>
          <a:solidFill>
            <a:srgbClr val="F7F1CE"/>
          </a:solidFill>
          <a:ln/>
        </p:spPr>
      </p:sp>
      <p:sp>
        <p:nvSpPr>
          <p:cNvPr id="15" name="Shape 13"/>
          <p:cNvSpPr/>
          <p:nvPr/>
        </p:nvSpPr>
        <p:spPr>
          <a:xfrm>
            <a:off x="896112" y="4581144"/>
            <a:ext cx="475488" cy="475488"/>
          </a:xfrm>
          <a:prstGeom prst="ellipse">
            <a:avLst/>
          </a:prstGeom>
          <a:solidFill>
            <a:srgbClr val="2B2D5C"/>
          </a:solidFill>
          <a:ln/>
        </p:spPr>
      </p:sp>
      <p:sp>
        <p:nvSpPr>
          <p:cNvPr id="16" name="Text 14"/>
          <p:cNvSpPr/>
          <p:nvPr/>
        </p:nvSpPr>
        <p:spPr>
          <a:xfrm>
            <a:off x="896112" y="45811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微軟正黑體" pitchFamily="34" charset="0"/>
                <a:ea typeface="微軟正黑體" pitchFamily="34" charset="-122"/>
                <a:cs typeface="微軟正黑體" pitchFamily="34" charset="-120"/>
              </a:rPr>
              <a:t>3</a:t>
            </a:r>
            <a:endParaRPr lang="en-US" sz="1600" dirty="0"/>
          </a:p>
        </p:txBody>
      </p:sp>
      <p:sp>
        <p:nvSpPr>
          <p:cNvPr id="17" name="Text 15"/>
          <p:cNvSpPr/>
          <p:nvPr/>
        </p:nvSpPr>
        <p:spPr>
          <a:xfrm>
            <a:off x="1508760" y="4434840"/>
            <a:ext cx="4663440" cy="384048"/>
          </a:xfrm>
          <a:prstGeom prst="rect">
            <a:avLst/>
          </a:prstGeom>
          <a:noFill/>
          <a:ln/>
        </p:spPr>
        <p:txBody>
          <a:bodyPr wrap="square" lIns="0" tIns="0" rIns="0" bIns="0" rtlCol="0" anchor="ctr"/>
          <a:lstStyle/>
          <a:p>
            <a:pPr indent="0" marL="0">
              <a:buNone/>
            </a:pPr>
            <a:r>
              <a:rPr lang="en-US" sz="1600" b="1" dirty="0">
                <a:solidFill>
                  <a:srgbClr val="D95F2B"/>
                </a:solidFill>
                <a:latin typeface="微軟正黑體" pitchFamily="34" charset="0"/>
                <a:ea typeface="微軟正黑體" pitchFamily="34" charset="-122"/>
                <a:cs typeface="微軟正黑體" pitchFamily="34" charset="-120"/>
              </a:rPr>
              <a:t>設定一次</a:t>
            </a:r>
            <a:endParaRPr lang="en-US" sz="1600" dirty="0"/>
          </a:p>
        </p:txBody>
      </p:sp>
      <p:sp>
        <p:nvSpPr>
          <p:cNvPr id="18" name="Text 16"/>
          <p:cNvSpPr/>
          <p:nvPr/>
        </p:nvSpPr>
        <p:spPr>
          <a:xfrm>
            <a:off x="1508760" y="4809744"/>
            <a:ext cx="4617720" cy="457200"/>
          </a:xfrm>
          <a:prstGeom prst="rect">
            <a:avLst/>
          </a:prstGeom>
          <a:noFill/>
          <a:ln/>
        </p:spPr>
        <p:txBody>
          <a:bodyPr wrap="square" lIns="0" tIns="0" rIns="0" bIns="0" rtlCol="0" anchor="t"/>
          <a:lstStyle/>
          <a:p>
            <a:pPr indent="0" marL="0">
              <a:lnSpc>
                <a:spcPct val="120000"/>
              </a:lnSpc>
              <a:buNone/>
            </a:pPr>
            <a:r>
              <a:rPr lang="en-US" sz="1250" dirty="0">
                <a:solidFill>
                  <a:srgbClr val="2B2D5C"/>
                </a:solidFill>
                <a:latin typeface="微軟正黑體" pitchFamily="34" charset="0"/>
                <a:ea typeface="微軟正黑體" pitchFamily="34" charset="-122"/>
                <a:cs typeface="微軟正黑體" pitchFamily="34" charset="-120"/>
              </a:rPr>
              <a:t>設定一次就長期適用，不必每月重做，直到當事人轉職或離職。</a:t>
            </a:r>
            <a:endParaRPr lang="en-US" sz="1250" dirty="0"/>
          </a:p>
        </p:txBody>
      </p:sp>
      <p:sp>
        <p:nvSpPr>
          <p:cNvPr id="19" name="Text 17"/>
          <p:cNvSpPr/>
          <p:nvPr/>
        </p:nvSpPr>
        <p:spPr>
          <a:xfrm>
            <a:off x="640080" y="5577840"/>
            <a:ext cx="5760720" cy="502920"/>
          </a:xfrm>
          <a:prstGeom prst="rect">
            <a:avLst/>
          </a:prstGeom>
          <a:noFill/>
          <a:ln/>
        </p:spPr>
        <p:txBody>
          <a:bodyPr wrap="square" lIns="0" tIns="0" rIns="0" bIns="0" rtlCol="0" anchor="ctr"/>
          <a:lstStyle/>
          <a:p>
            <a:pPr indent="0" marL="0">
              <a:buNone/>
            </a:pPr>
            <a:r>
              <a:rPr lang="en-US" sz="1350" b="1" dirty="0">
                <a:solidFill>
                  <a:srgbClr val="2B2D5C"/>
                </a:solidFill>
                <a:latin typeface="微軟正黑體" pitchFamily="34" charset="0"/>
                <a:ea typeface="微軟正黑體" pitchFamily="34" charset="-122"/>
                <a:cs typeface="微軟正黑體" pitchFamily="34" charset="-120"/>
              </a:rPr>
              <a:t>開發方式：全程使用 replit 等 AI 工具開發</a:t>
            </a:r>
            <a:endParaRPr lang="en-US" sz="1350" dirty="0"/>
          </a:p>
        </p:txBody>
      </p:sp>
      <p:sp>
        <p:nvSpPr>
          <p:cNvPr id="20" name="Shape 18"/>
          <p:cNvSpPr/>
          <p:nvPr/>
        </p:nvSpPr>
        <p:spPr>
          <a:xfrm>
            <a:off x="6812280" y="1965960"/>
            <a:ext cx="4739335" cy="4114800"/>
          </a:xfrm>
          <a:prstGeom prst="roundRect">
            <a:avLst>
              <a:gd name="adj" fmla="val 1778"/>
            </a:avLst>
          </a:prstGeom>
          <a:solidFill>
            <a:srgbClr val="E4E6F0"/>
          </a:solidFill>
          <a:ln w="12700">
            <a:solidFill>
              <a:srgbClr val="AEB4E4"/>
            </a:solidFill>
            <a:prstDash val="dash"/>
          </a:ln>
        </p:spPr>
      </p:sp>
      <p:sp>
        <p:nvSpPr>
          <p:cNvPr id="21" name="Text 19"/>
          <p:cNvSpPr/>
          <p:nvPr/>
        </p:nvSpPr>
        <p:spPr>
          <a:xfrm>
            <a:off x="6949440" y="1965960"/>
            <a:ext cx="4465015" cy="411480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【待放圖】系統首頁／登入頁</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mystery-01-login.png</a:t>
            </a:r>
            <a:endParaRPr lang="en-US" sz="1100" dirty="0"/>
          </a:p>
        </p:txBody>
      </p:sp>
      <p:sp>
        <p:nvSpPr>
          <p:cNvPr id="22" name="Text 20"/>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權限設計：三種角色，三種畫面</a:t>
            </a:r>
            <a:endParaRPr lang="en-US" sz="3200" dirty="0"/>
          </a:p>
        </p:txBody>
      </p:sp>
      <p:sp>
        <p:nvSpPr>
          <p:cNvPr id="4" name="Text 2"/>
          <p:cNvSpPr/>
          <p:nvPr/>
        </p:nvSpPr>
        <p:spPr>
          <a:xfrm>
            <a:off x="640080" y="1783080"/>
            <a:ext cx="10911535" cy="384048"/>
          </a:xfrm>
          <a:prstGeom prst="rect">
            <a:avLst/>
          </a:prstGeom>
          <a:noFill/>
          <a:ln/>
        </p:spPr>
        <p:txBody>
          <a:bodyPr wrap="square" lIns="0" tIns="0" rIns="0" bIns="0" rtlCol="0" anchor="ctr"/>
          <a:lstStyle/>
          <a:p>
            <a:pPr indent="0" marL="0">
              <a:buNone/>
            </a:pPr>
            <a:r>
              <a:rPr lang="en-US" sz="1400" dirty="0">
                <a:solidFill>
                  <a:srgbClr val="6E7191"/>
                </a:solidFill>
                <a:latin typeface="微軟正黑體" pitchFamily="34" charset="0"/>
                <a:ea typeface="微軟正黑體" pitchFamily="34" charset="-122"/>
                <a:cs typeface="微軟正黑體" pitchFamily="34" charset="-120"/>
              </a:rPr>
              <a:t>依涉入神秘客電訪的人員層級分為三種權限等級，不同帳號開放不同功能。</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1554480"/>
                <a:gridCol w="4572000"/>
                <a:gridCol w="4785055"/>
              </a:tblGrid>
              <a:tr h="658368">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層級</a:t>
                      </a:r>
                      <a:endParaRPr lang="en-US" sz="13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大致角色</a:t>
                      </a:r>
                      <a:endParaRPr lang="en-US" sz="13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開放範圍</a:t>
                      </a:r>
                      <a:endParaRPr lang="en-US" sz="135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r>
              <a:tr h="658368">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第一層</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執行電訪與被檢核的專案組同仁</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執行與提交相關功能</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r h="658368">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第二層</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管理神秘客電訪的管理者</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出題、派發、評分、報表</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r h="658368">
                <a:tc>
                  <a:txBody>
                    <a:bodyPr/>
                    <a:lstStyle/>
                    <a:p>
                      <a:pPr algn="ctr" indent="0" marL="0">
                        <a:buNone/>
                      </a:pPr>
                      <a:r>
                        <a:rPr lang="en-US" sz="1350" b="1" dirty="0">
                          <a:solidFill>
                            <a:srgbClr val="2B2D5C"/>
                          </a:solidFill>
                          <a:latin typeface="微軟正黑體" pitchFamily="34" charset="0"/>
                          <a:ea typeface="微軟正黑體" pitchFamily="34" charset="-122"/>
                          <a:cs typeface="微軟正黑體" pitchFamily="34" charset="-120"/>
                        </a:rPr>
                        <a:t>第三層</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需要看結果的高級主管</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50" dirty="0">
                          <a:solidFill>
                            <a:srgbClr val="2B2D5C"/>
                          </a:solidFill>
                          <a:latin typeface="微軟正黑體" pitchFamily="34" charset="0"/>
                          <a:ea typeface="微軟正黑體" pitchFamily="34" charset="-122"/>
                          <a:cs typeface="微軟正黑體" pitchFamily="34" charset="-120"/>
                        </a:rPr>
                        <a:t>彙總報表與結果檢視</a:t>
                      </a:r>
                      <a:endParaRPr lang="en-US" sz="135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956048"/>
            <a:ext cx="5120640" cy="1143000"/>
          </a:xfrm>
          <a:prstGeom prst="roundRect">
            <a:avLst>
              <a:gd name="adj" fmla="val 6400"/>
            </a:avLst>
          </a:prstGeom>
          <a:solidFill>
            <a:srgbClr val="E4E6F0"/>
          </a:solidFill>
          <a:ln w="12700">
            <a:solidFill>
              <a:srgbClr val="AEB4E4"/>
            </a:solidFill>
            <a:prstDash val="dash"/>
          </a:ln>
        </p:spPr>
      </p:sp>
      <p:sp>
        <p:nvSpPr>
          <p:cNvPr id="7" name="Text 4"/>
          <p:cNvSpPr/>
          <p:nvPr/>
        </p:nvSpPr>
        <p:spPr>
          <a:xfrm>
            <a:off x="777240" y="4956048"/>
            <a:ext cx="4846320" cy="114300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【待放圖】權限分層畫面</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mystery-02-permission.png</a:t>
            </a:r>
            <a:endParaRPr lang="en-US" sz="1100" dirty="0"/>
          </a:p>
        </p:txBody>
      </p:sp>
      <p:sp>
        <p:nvSpPr>
          <p:cNvPr id="8" name="Text 5"/>
          <p:cNvSpPr/>
          <p:nvPr/>
        </p:nvSpPr>
        <p:spPr>
          <a:xfrm>
            <a:off x="6126480" y="4956048"/>
            <a:ext cx="5425135" cy="1143000"/>
          </a:xfrm>
          <a:prstGeom prst="roundRect">
            <a:avLst>
              <a:gd name="adj" fmla="val 6400"/>
            </a:avLst>
          </a:prstGeom>
          <a:solidFill>
            <a:srgbClr val="F7F1CE"/>
          </a:solidFill>
          <a:ln/>
        </p:spPr>
        <p:txBody>
          <a:bodyPr wrap="square" lIns="127000" tIns="203200" rIns="203200" bIns="127000" rtlCol="0" anchor="ctr"/>
          <a:lstStyle/>
          <a:p>
            <a:pPr indent="0" marL="0">
              <a:lnSpc>
                <a:spcPct val="130000"/>
              </a:lnSpc>
              <a:buNone/>
            </a:pPr>
            <a:r>
              <a:rPr lang="en-US" sz="1350" dirty="0">
                <a:solidFill>
                  <a:srgbClr val="2B2D5C"/>
                </a:solidFill>
                <a:latin typeface="微軟正黑體" pitchFamily="34" charset="0"/>
                <a:ea typeface="微軟正黑體" pitchFamily="34" charset="-122"/>
                <a:cs typeface="微軟正黑體" pitchFamily="34" charset="-120"/>
              </a:rPr>
              <a:t>先有權限分層，才有辦法把資料集中——過去要拆成好幾份 Excel，本來就是為了讓不同的人看到不同的東西。</a:t>
            </a:r>
            <a:endParaRPr lang="en-US" sz="1350" dirty="0"/>
          </a:p>
        </p:txBody>
      </p:sp>
      <p:sp>
        <p:nvSpPr>
          <p:cNvPr id="9" name="Text 6"/>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功能 ①②③：出題 → 抽選派發 → 評分</a:t>
            </a:r>
            <a:endParaRPr lang="en-US" sz="3200" dirty="0"/>
          </a:p>
        </p:txBody>
      </p:sp>
      <p:sp>
        <p:nvSpPr>
          <p:cNvPr id="4" name="Shape 2"/>
          <p:cNvSpPr/>
          <p:nvPr/>
        </p:nvSpPr>
        <p:spPr>
          <a:xfrm>
            <a:off x="640080" y="1920240"/>
            <a:ext cx="3393338" cy="3566160"/>
          </a:xfrm>
          <a:prstGeom prst="roundRect">
            <a:avLst>
              <a:gd name="adj" fmla="val 1617"/>
            </a:avLst>
          </a:prstGeom>
          <a:solidFill>
            <a:srgbClr val="D6D9F0"/>
          </a:solidFill>
          <a:ln/>
          <a:effectLst>
            <a:outerShdw sx="100000" sy="100000" kx="0" ky="0" algn="bl" rotWithShape="0" blurRad="101600" dist="25400" dir="5400000">
              <a:srgbClr val="9AA0BF">
                <a:alpha val="22000"/>
              </a:srgbClr>
            </a:outerShdw>
          </a:effectLst>
        </p:spPr>
      </p:sp>
      <p:sp>
        <p:nvSpPr>
          <p:cNvPr id="5" name="Shape 3"/>
          <p:cNvSpPr/>
          <p:nvPr/>
        </p:nvSpPr>
        <p:spPr>
          <a:xfrm>
            <a:off x="896112" y="2121408"/>
            <a:ext cx="512064" cy="512064"/>
          </a:xfrm>
          <a:prstGeom prst="ellipse">
            <a:avLst/>
          </a:prstGeom>
          <a:solidFill>
            <a:srgbClr val="2B2D5C"/>
          </a:solidFill>
          <a:ln/>
        </p:spPr>
      </p:sp>
      <p:sp>
        <p:nvSpPr>
          <p:cNvPr id="6" name="Text 4"/>
          <p:cNvSpPr/>
          <p:nvPr/>
        </p:nvSpPr>
        <p:spPr>
          <a:xfrm>
            <a:off x="896112" y="212140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1</a:t>
            </a:r>
            <a:endParaRPr lang="en-US" sz="1700" dirty="0"/>
          </a:p>
        </p:txBody>
      </p:sp>
      <p:sp>
        <p:nvSpPr>
          <p:cNvPr id="7" name="Text 5"/>
          <p:cNvSpPr/>
          <p:nvPr/>
        </p:nvSpPr>
        <p:spPr>
          <a:xfrm>
            <a:off x="1508760" y="2103120"/>
            <a:ext cx="2296058" cy="54864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設計新問題</a:t>
            </a:r>
            <a:endParaRPr lang="en-US" sz="1600" dirty="0"/>
          </a:p>
        </p:txBody>
      </p:sp>
      <p:sp>
        <p:nvSpPr>
          <p:cNvPr id="8" name="Text 6"/>
          <p:cNvSpPr/>
          <p:nvPr/>
        </p:nvSpPr>
        <p:spPr>
          <a:xfrm>
            <a:off x="914400" y="2743200"/>
            <a:ext cx="2844698" cy="7772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建立檢核用的題目。</a:t>
            </a:r>
            <a:endParaRPr lang="en-US" sz="1250" dirty="0"/>
          </a:p>
        </p:txBody>
      </p:sp>
      <p:sp>
        <p:nvSpPr>
          <p:cNvPr id="9" name="Shape 7"/>
          <p:cNvSpPr/>
          <p:nvPr/>
        </p:nvSpPr>
        <p:spPr>
          <a:xfrm>
            <a:off x="914400" y="3566160"/>
            <a:ext cx="2844698" cy="1691640"/>
          </a:xfrm>
          <a:prstGeom prst="roundRect">
            <a:avLst>
              <a:gd name="adj" fmla="val 4324"/>
            </a:avLst>
          </a:prstGeom>
          <a:solidFill>
            <a:srgbClr val="E4E6F0"/>
          </a:solidFill>
          <a:ln w="12700">
            <a:solidFill>
              <a:srgbClr val="AEB4E4"/>
            </a:solidFill>
            <a:prstDash val="dash"/>
          </a:ln>
        </p:spPr>
      </p:sp>
      <p:sp>
        <p:nvSpPr>
          <p:cNvPr id="10" name="Text 8"/>
          <p:cNvSpPr/>
          <p:nvPr/>
        </p:nvSpPr>
        <p:spPr>
          <a:xfrm>
            <a:off x="1051560" y="3566160"/>
            <a:ext cx="2570378" cy="169164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【待放圖】設計新問題</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mystery-03-question.png</a:t>
            </a:r>
            <a:endParaRPr lang="en-US" sz="1100" dirty="0"/>
          </a:p>
        </p:txBody>
      </p:sp>
      <p:sp>
        <p:nvSpPr>
          <p:cNvPr id="11" name="Shape 9"/>
          <p:cNvSpPr/>
          <p:nvPr/>
        </p:nvSpPr>
        <p:spPr>
          <a:xfrm>
            <a:off x="4399178" y="1920240"/>
            <a:ext cx="3393338" cy="3566160"/>
          </a:xfrm>
          <a:prstGeom prst="roundRect">
            <a:avLst>
              <a:gd name="adj" fmla="val 1617"/>
            </a:avLst>
          </a:prstGeom>
          <a:solidFill>
            <a:srgbClr val="ECEEF8"/>
          </a:solidFill>
          <a:ln/>
          <a:effectLst>
            <a:outerShdw sx="100000" sy="100000" kx="0" ky="0" algn="bl" rotWithShape="0" blurRad="101600" dist="25400" dir="5400000">
              <a:srgbClr val="9AA0BF">
                <a:alpha val="22000"/>
              </a:srgbClr>
            </a:outerShdw>
          </a:effectLst>
        </p:spPr>
      </p:sp>
      <p:sp>
        <p:nvSpPr>
          <p:cNvPr id="12" name="Shape 10"/>
          <p:cNvSpPr/>
          <p:nvPr/>
        </p:nvSpPr>
        <p:spPr>
          <a:xfrm>
            <a:off x="4655210" y="2121408"/>
            <a:ext cx="512064" cy="512064"/>
          </a:xfrm>
          <a:prstGeom prst="ellipse">
            <a:avLst/>
          </a:prstGeom>
          <a:solidFill>
            <a:srgbClr val="2B2D5C"/>
          </a:solidFill>
          <a:ln/>
        </p:spPr>
      </p:sp>
      <p:sp>
        <p:nvSpPr>
          <p:cNvPr id="13" name="Text 11"/>
          <p:cNvSpPr/>
          <p:nvPr/>
        </p:nvSpPr>
        <p:spPr>
          <a:xfrm>
            <a:off x="4655210" y="212140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2</a:t>
            </a:r>
            <a:endParaRPr lang="en-US" sz="1700" dirty="0"/>
          </a:p>
        </p:txBody>
      </p:sp>
      <p:sp>
        <p:nvSpPr>
          <p:cNvPr id="14" name="Text 12"/>
          <p:cNvSpPr/>
          <p:nvPr/>
        </p:nvSpPr>
        <p:spPr>
          <a:xfrm>
            <a:off x="5267858" y="2103120"/>
            <a:ext cx="2296058" cy="54864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抽選並分配專案組</a:t>
            </a:r>
            <a:endParaRPr lang="en-US" sz="1600" dirty="0"/>
          </a:p>
        </p:txBody>
      </p:sp>
      <p:sp>
        <p:nvSpPr>
          <p:cNvPr id="15" name="Text 13"/>
          <p:cNvSpPr/>
          <p:nvPr/>
        </p:nvSpPr>
        <p:spPr>
          <a:xfrm>
            <a:off x="4673498" y="2743200"/>
            <a:ext cx="2844698" cy="7772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取代每月重設一次 Google 表單的工作。</a:t>
            </a:r>
            <a:endParaRPr lang="en-US" sz="1250" dirty="0"/>
          </a:p>
        </p:txBody>
      </p:sp>
      <p:sp>
        <p:nvSpPr>
          <p:cNvPr id="16" name="Shape 14"/>
          <p:cNvSpPr/>
          <p:nvPr/>
        </p:nvSpPr>
        <p:spPr>
          <a:xfrm>
            <a:off x="4673498" y="3566160"/>
            <a:ext cx="2844698" cy="1691640"/>
          </a:xfrm>
          <a:prstGeom prst="roundRect">
            <a:avLst>
              <a:gd name="adj" fmla="val 4324"/>
            </a:avLst>
          </a:prstGeom>
          <a:solidFill>
            <a:srgbClr val="E4E6F0"/>
          </a:solidFill>
          <a:ln w="12700">
            <a:solidFill>
              <a:srgbClr val="AEB4E4"/>
            </a:solidFill>
            <a:prstDash val="dash"/>
          </a:ln>
        </p:spPr>
      </p:sp>
      <p:sp>
        <p:nvSpPr>
          <p:cNvPr id="17" name="Text 15"/>
          <p:cNvSpPr/>
          <p:nvPr/>
        </p:nvSpPr>
        <p:spPr>
          <a:xfrm>
            <a:off x="4810658" y="3566160"/>
            <a:ext cx="2570378" cy="169164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【待放圖】抽選並分配專案組</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mystery-04-assign.png</a:t>
            </a:r>
            <a:endParaRPr lang="en-US" sz="1100" dirty="0"/>
          </a:p>
        </p:txBody>
      </p:sp>
      <p:sp>
        <p:nvSpPr>
          <p:cNvPr id="18" name="Shape 16"/>
          <p:cNvSpPr/>
          <p:nvPr/>
        </p:nvSpPr>
        <p:spPr>
          <a:xfrm>
            <a:off x="8158277" y="1920240"/>
            <a:ext cx="3393338" cy="3566160"/>
          </a:xfrm>
          <a:prstGeom prst="roundRect">
            <a:avLst>
              <a:gd name="adj" fmla="val 1617"/>
            </a:avLst>
          </a:prstGeom>
          <a:solidFill>
            <a:srgbClr val="D6D9F0"/>
          </a:solidFill>
          <a:ln/>
          <a:effectLst>
            <a:outerShdw sx="100000" sy="100000" kx="0" ky="0" algn="bl" rotWithShape="0" blurRad="101600" dist="25400" dir="5400000">
              <a:srgbClr val="9AA0BF">
                <a:alpha val="22000"/>
              </a:srgbClr>
            </a:outerShdw>
          </a:effectLst>
        </p:spPr>
      </p:sp>
      <p:sp>
        <p:nvSpPr>
          <p:cNvPr id="19" name="Shape 17"/>
          <p:cNvSpPr/>
          <p:nvPr/>
        </p:nvSpPr>
        <p:spPr>
          <a:xfrm>
            <a:off x="8414309" y="2121408"/>
            <a:ext cx="512064" cy="512064"/>
          </a:xfrm>
          <a:prstGeom prst="ellipse">
            <a:avLst/>
          </a:prstGeom>
          <a:solidFill>
            <a:srgbClr val="2B2D5C"/>
          </a:solidFill>
          <a:ln/>
        </p:spPr>
      </p:sp>
      <p:sp>
        <p:nvSpPr>
          <p:cNvPr id="20" name="Text 18"/>
          <p:cNvSpPr/>
          <p:nvPr/>
        </p:nvSpPr>
        <p:spPr>
          <a:xfrm>
            <a:off x="8414309" y="212140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3</a:t>
            </a:r>
            <a:endParaRPr lang="en-US" sz="1700" dirty="0"/>
          </a:p>
        </p:txBody>
      </p:sp>
      <p:sp>
        <p:nvSpPr>
          <p:cNvPr id="21" name="Text 19"/>
          <p:cNvSpPr/>
          <p:nvPr/>
        </p:nvSpPr>
        <p:spPr>
          <a:xfrm>
            <a:off x="9026957" y="2103120"/>
            <a:ext cx="2296058" cy="54864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更簡單的分數評鑑介面</a:t>
            </a:r>
            <a:endParaRPr lang="en-US" sz="1600" dirty="0"/>
          </a:p>
        </p:txBody>
      </p:sp>
      <p:sp>
        <p:nvSpPr>
          <p:cNvPr id="22" name="Text 20"/>
          <p:cNvSpPr/>
          <p:nvPr/>
        </p:nvSpPr>
        <p:spPr>
          <a:xfrm>
            <a:off x="8432597" y="2743200"/>
            <a:ext cx="2844698" cy="7772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取代手動計算與貼上分數。</a:t>
            </a:r>
            <a:endParaRPr lang="en-US" sz="1250" dirty="0"/>
          </a:p>
        </p:txBody>
      </p:sp>
      <p:sp>
        <p:nvSpPr>
          <p:cNvPr id="23" name="Shape 21"/>
          <p:cNvSpPr/>
          <p:nvPr/>
        </p:nvSpPr>
        <p:spPr>
          <a:xfrm>
            <a:off x="8432597" y="3566160"/>
            <a:ext cx="2844698" cy="1691640"/>
          </a:xfrm>
          <a:prstGeom prst="roundRect">
            <a:avLst>
              <a:gd name="adj" fmla="val 4324"/>
            </a:avLst>
          </a:prstGeom>
          <a:solidFill>
            <a:srgbClr val="E4E6F0"/>
          </a:solidFill>
          <a:ln w="12700">
            <a:solidFill>
              <a:srgbClr val="AEB4E4"/>
            </a:solidFill>
            <a:prstDash val="dash"/>
          </a:ln>
        </p:spPr>
      </p:sp>
      <p:sp>
        <p:nvSpPr>
          <p:cNvPr id="24" name="Text 22"/>
          <p:cNvSpPr/>
          <p:nvPr/>
        </p:nvSpPr>
        <p:spPr>
          <a:xfrm>
            <a:off x="8569757" y="3566160"/>
            <a:ext cx="2570378" cy="169164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【待放圖】更簡單的分數評鑑介面</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mystery-05-scoring.png</a:t>
            </a:r>
            <a:endParaRPr lang="en-US" sz="1100" dirty="0"/>
          </a:p>
        </p:txBody>
      </p:sp>
      <p:sp>
        <p:nvSpPr>
          <p:cNvPr id="25" name="Text 23"/>
          <p:cNvSpPr/>
          <p:nvPr/>
        </p:nvSpPr>
        <p:spPr>
          <a:xfrm>
            <a:off x="640080" y="5623560"/>
            <a:ext cx="10911535" cy="658368"/>
          </a:xfrm>
          <a:prstGeom prst="roundRect">
            <a:avLst>
              <a:gd name="adj" fmla="val 11111"/>
            </a:avLst>
          </a:prstGeom>
          <a:solidFill>
            <a:srgbClr val="F7F1CE"/>
          </a:solidFill>
          <a:ln/>
        </p:spPr>
        <p:txBody>
          <a:bodyPr wrap="square" lIns="0" tIns="0" rIns="0" bIns="0" rtlCol="0" anchor="ctr"/>
          <a:lstStyle/>
          <a:p>
            <a:pPr algn="ctr" indent="0" marL="0">
              <a:buNone/>
            </a:pPr>
            <a:r>
              <a:rPr lang="en-US" sz="1400" dirty="0">
                <a:solidFill>
                  <a:srgbClr val="2B2D5C"/>
                </a:solidFill>
                <a:latin typeface="微軟正黑體" pitchFamily="34" charset="0"/>
                <a:ea typeface="微軟正黑體" pitchFamily="34" charset="-122"/>
                <a:cs typeface="微軟正黑體" pitchFamily="34" charset="-120"/>
              </a:rPr>
              <a:t>這三項合起來，解決了「每個月都要重來一次」這個痛點。</a:t>
            </a:r>
            <a:endParaRPr lang="en-US" sz="1400" dirty="0"/>
          </a:p>
        </p:txBody>
      </p:sp>
      <p:sp>
        <p:nvSpPr>
          <p:cNvPr id="26" name="Text 24"/>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功能 ④⑤⑥：報表匯出 → 檢討報告 → 申覆</a:t>
            </a:r>
            <a:endParaRPr lang="en-US" sz="3200" dirty="0"/>
          </a:p>
        </p:txBody>
      </p:sp>
      <p:sp>
        <p:nvSpPr>
          <p:cNvPr id="4" name="Shape 2"/>
          <p:cNvSpPr/>
          <p:nvPr/>
        </p:nvSpPr>
        <p:spPr>
          <a:xfrm>
            <a:off x="640080" y="1920240"/>
            <a:ext cx="3393338" cy="3566160"/>
          </a:xfrm>
          <a:prstGeom prst="roundRect">
            <a:avLst>
              <a:gd name="adj" fmla="val 1617"/>
            </a:avLst>
          </a:prstGeom>
          <a:solidFill>
            <a:srgbClr val="D6D9F0"/>
          </a:solidFill>
          <a:ln/>
          <a:effectLst>
            <a:outerShdw sx="100000" sy="100000" kx="0" ky="0" algn="bl" rotWithShape="0" blurRad="101600" dist="25400" dir="5400000">
              <a:srgbClr val="9AA0BF">
                <a:alpha val="22000"/>
              </a:srgbClr>
            </a:outerShdw>
          </a:effectLst>
        </p:spPr>
      </p:sp>
      <p:sp>
        <p:nvSpPr>
          <p:cNvPr id="5" name="Shape 3"/>
          <p:cNvSpPr/>
          <p:nvPr/>
        </p:nvSpPr>
        <p:spPr>
          <a:xfrm>
            <a:off x="896112" y="2121408"/>
            <a:ext cx="512064" cy="512064"/>
          </a:xfrm>
          <a:prstGeom prst="ellipse">
            <a:avLst/>
          </a:prstGeom>
          <a:solidFill>
            <a:srgbClr val="2B2D5C"/>
          </a:solidFill>
          <a:ln/>
        </p:spPr>
      </p:sp>
      <p:sp>
        <p:nvSpPr>
          <p:cNvPr id="6" name="Text 4"/>
          <p:cNvSpPr/>
          <p:nvPr/>
        </p:nvSpPr>
        <p:spPr>
          <a:xfrm>
            <a:off x="896112" y="212140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4</a:t>
            </a:r>
            <a:endParaRPr lang="en-US" sz="1700" dirty="0"/>
          </a:p>
        </p:txBody>
      </p:sp>
      <p:sp>
        <p:nvSpPr>
          <p:cNvPr id="7" name="Text 5"/>
          <p:cNvSpPr/>
          <p:nvPr/>
        </p:nvSpPr>
        <p:spPr>
          <a:xfrm>
            <a:off x="1508760" y="2103120"/>
            <a:ext cx="2296058" cy="54864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報表匯出</a:t>
            </a:r>
            <a:endParaRPr lang="en-US" sz="1600" dirty="0"/>
          </a:p>
        </p:txBody>
      </p:sp>
      <p:sp>
        <p:nvSpPr>
          <p:cNvPr id="8" name="Text 6"/>
          <p:cNvSpPr/>
          <p:nvPr/>
        </p:nvSpPr>
        <p:spPr>
          <a:xfrm>
            <a:off x="914400" y="2743200"/>
            <a:ext cx="2844698" cy="7772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各對象所需的報表直接從系統產生，不用再複製貼上。</a:t>
            </a:r>
            <a:endParaRPr lang="en-US" sz="1250" dirty="0"/>
          </a:p>
        </p:txBody>
      </p:sp>
      <p:sp>
        <p:nvSpPr>
          <p:cNvPr id="9" name="Shape 7"/>
          <p:cNvSpPr/>
          <p:nvPr/>
        </p:nvSpPr>
        <p:spPr>
          <a:xfrm>
            <a:off x="914400" y="3566160"/>
            <a:ext cx="2844698" cy="1691640"/>
          </a:xfrm>
          <a:prstGeom prst="roundRect">
            <a:avLst>
              <a:gd name="adj" fmla="val 4324"/>
            </a:avLst>
          </a:prstGeom>
          <a:solidFill>
            <a:srgbClr val="E4E6F0"/>
          </a:solidFill>
          <a:ln w="12700">
            <a:solidFill>
              <a:srgbClr val="AEB4E4"/>
            </a:solidFill>
            <a:prstDash val="dash"/>
          </a:ln>
        </p:spPr>
      </p:sp>
      <p:sp>
        <p:nvSpPr>
          <p:cNvPr id="10" name="Text 8"/>
          <p:cNvSpPr/>
          <p:nvPr/>
        </p:nvSpPr>
        <p:spPr>
          <a:xfrm>
            <a:off x="1051560" y="3566160"/>
            <a:ext cx="2570378" cy="169164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【待放圖】報表匯出</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mystery-06-report.png</a:t>
            </a:r>
            <a:endParaRPr lang="en-US" sz="1100" dirty="0"/>
          </a:p>
        </p:txBody>
      </p:sp>
      <p:sp>
        <p:nvSpPr>
          <p:cNvPr id="11" name="Shape 9"/>
          <p:cNvSpPr/>
          <p:nvPr/>
        </p:nvSpPr>
        <p:spPr>
          <a:xfrm>
            <a:off x="4399178" y="1920240"/>
            <a:ext cx="3393338" cy="3566160"/>
          </a:xfrm>
          <a:prstGeom prst="roundRect">
            <a:avLst>
              <a:gd name="adj" fmla="val 1617"/>
            </a:avLst>
          </a:prstGeom>
          <a:solidFill>
            <a:srgbClr val="ECEEF8"/>
          </a:solidFill>
          <a:ln/>
          <a:effectLst>
            <a:outerShdw sx="100000" sy="100000" kx="0" ky="0" algn="bl" rotWithShape="0" blurRad="101600" dist="25400" dir="5400000">
              <a:srgbClr val="9AA0BF">
                <a:alpha val="22000"/>
              </a:srgbClr>
            </a:outerShdw>
          </a:effectLst>
        </p:spPr>
      </p:sp>
      <p:sp>
        <p:nvSpPr>
          <p:cNvPr id="12" name="Shape 10"/>
          <p:cNvSpPr/>
          <p:nvPr/>
        </p:nvSpPr>
        <p:spPr>
          <a:xfrm>
            <a:off x="4655210" y="2121408"/>
            <a:ext cx="512064" cy="512064"/>
          </a:xfrm>
          <a:prstGeom prst="ellipse">
            <a:avLst/>
          </a:prstGeom>
          <a:solidFill>
            <a:srgbClr val="2B2D5C"/>
          </a:solidFill>
          <a:ln/>
        </p:spPr>
      </p:sp>
      <p:sp>
        <p:nvSpPr>
          <p:cNvPr id="13" name="Text 11"/>
          <p:cNvSpPr/>
          <p:nvPr/>
        </p:nvSpPr>
        <p:spPr>
          <a:xfrm>
            <a:off x="4655210" y="212140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5</a:t>
            </a:r>
            <a:endParaRPr lang="en-US" sz="1700" dirty="0"/>
          </a:p>
        </p:txBody>
      </p:sp>
      <p:sp>
        <p:nvSpPr>
          <p:cNvPr id="14" name="Text 12"/>
          <p:cNvSpPr/>
          <p:nvPr/>
        </p:nvSpPr>
        <p:spPr>
          <a:xfrm>
            <a:off x="5267858" y="2103120"/>
            <a:ext cx="2296058" cy="54864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提交檢討報告</a:t>
            </a:r>
            <a:endParaRPr lang="en-US" sz="1600" dirty="0"/>
          </a:p>
        </p:txBody>
      </p:sp>
      <p:sp>
        <p:nvSpPr>
          <p:cNvPr id="15" name="Text 13"/>
          <p:cNvSpPr/>
          <p:nvPr/>
        </p:nvSpPr>
        <p:spPr>
          <a:xfrm>
            <a:off x="4673498" y="2743200"/>
            <a:ext cx="2844698" cy="7772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未達滿分的經緯報告直接在系統內提交。</a:t>
            </a:r>
            <a:endParaRPr lang="en-US" sz="1250" dirty="0"/>
          </a:p>
        </p:txBody>
      </p:sp>
      <p:sp>
        <p:nvSpPr>
          <p:cNvPr id="16" name="Shape 14"/>
          <p:cNvSpPr/>
          <p:nvPr/>
        </p:nvSpPr>
        <p:spPr>
          <a:xfrm>
            <a:off x="4673498" y="3566160"/>
            <a:ext cx="2844698" cy="1691640"/>
          </a:xfrm>
          <a:prstGeom prst="roundRect">
            <a:avLst>
              <a:gd name="adj" fmla="val 4324"/>
            </a:avLst>
          </a:prstGeom>
          <a:solidFill>
            <a:srgbClr val="E4E6F0"/>
          </a:solidFill>
          <a:ln w="12700">
            <a:solidFill>
              <a:srgbClr val="AEB4E4"/>
            </a:solidFill>
            <a:prstDash val="dash"/>
          </a:ln>
        </p:spPr>
      </p:sp>
      <p:sp>
        <p:nvSpPr>
          <p:cNvPr id="17" name="Text 15"/>
          <p:cNvSpPr/>
          <p:nvPr/>
        </p:nvSpPr>
        <p:spPr>
          <a:xfrm>
            <a:off x="4810658" y="3566160"/>
            <a:ext cx="2570378" cy="169164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【待放圖】提交檢討報告</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mystery-07-review.png</a:t>
            </a:r>
            <a:endParaRPr lang="en-US" sz="1100" dirty="0"/>
          </a:p>
        </p:txBody>
      </p:sp>
      <p:sp>
        <p:nvSpPr>
          <p:cNvPr id="18" name="Shape 16"/>
          <p:cNvSpPr/>
          <p:nvPr/>
        </p:nvSpPr>
        <p:spPr>
          <a:xfrm>
            <a:off x="8158277" y="1920240"/>
            <a:ext cx="3393338" cy="3566160"/>
          </a:xfrm>
          <a:prstGeom prst="roundRect">
            <a:avLst>
              <a:gd name="adj" fmla="val 1617"/>
            </a:avLst>
          </a:prstGeom>
          <a:solidFill>
            <a:srgbClr val="D6D9F0"/>
          </a:solidFill>
          <a:ln/>
          <a:effectLst>
            <a:outerShdw sx="100000" sy="100000" kx="0" ky="0" algn="bl" rotWithShape="0" blurRad="101600" dist="25400" dir="5400000">
              <a:srgbClr val="9AA0BF">
                <a:alpha val="22000"/>
              </a:srgbClr>
            </a:outerShdw>
          </a:effectLst>
        </p:spPr>
      </p:sp>
      <p:sp>
        <p:nvSpPr>
          <p:cNvPr id="19" name="Shape 17"/>
          <p:cNvSpPr/>
          <p:nvPr/>
        </p:nvSpPr>
        <p:spPr>
          <a:xfrm>
            <a:off x="8414309" y="2121408"/>
            <a:ext cx="512064" cy="512064"/>
          </a:xfrm>
          <a:prstGeom prst="ellipse">
            <a:avLst/>
          </a:prstGeom>
          <a:solidFill>
            <a:srgbClr val="2B2D5C"/>
          </a:solidFill>
          <a:ln/>
        </p:spPr>
      </p:sp>
      <p:sp>
        <p:nvSpPr>
          <p:cNvPr id="20" name="Text 18"/>
          <p:cNvSpPr/>
          <p:nvPr/>
        </p:nvSpPr>
        <p:spPr>
          <a:xfrm>
            <a:off x="8414309" y="212140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6</a:t>
            </a:r>
            <a:endParaRPr lang="en-US" sz="1700" dirty="0"/>
          </a:p>
        </p:txBody>
      </p:sp>
      <p:sp>
        <p:nvSpPr>
          <p:cNvPr id="21" name="Text 19"/>
          <p:cNvSpPr/>
          <p:nvPr/>
        </p:nvSpPr>
        <p:spPr>
          <a:xfrm>
            <a:off x="9026957" y="2103120"/>
            <a:ext cx="2296058" cy="54864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提交申覆系統</a:t>
            </a:r>
            <a:endParaRPr lang="en-US" sz="1600" dirty="0"/>
          </a:p>
        </p:txBody>
      </p:sp>
      <p:sp>
        <p:nvSpPr>
          <p:cNvPr id="22" name="Text 20"/>
          <p:cNvSpPr/>
          <p:nvPr/>
        </p:nvSpPr>
        <p:spPr>
          <a:xfrm>
            <a:off x="8432597" y="2743200"/>
            <a:ext cx="2844698" cy="7772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對評分結果有疑義可線上申覆。</a:t>
            </a:r>
            <a:endParaRPr lang="en-US" sz="1250" dirty="0"/>
          </a:p>
        </p:txBody>
      </p:sp>
      <p:sp>
        <p:nvSpPr>
          <p:cNvPr id="23" name="Shape 21"/>
          <p:cNvSpPr/>
          <p:nvPr/>
        </p:nvSpPr>
        <p:spPr>
          <a:xfrm>
            <a:off x="8432597" y="3566160"/>
            <a:ext cx="2844698" cy="1691640"/>
          </a:xfrm>
          <a:prstGeom prst="roundRect">
            <a:avLst>
              <a:gd name="adj" fmla="val 4324"/>
            </a:avLst>
          </a:prstGeom>
          <a:solidFill>
            <a:srgbClr val="E4E6F0"/>
          </a:solidFill>
          <a:ln w="12700">
            <a:solidFill>
              <a:srgbClr val="AEB4E4"/>
            </a:solidFill>
            <a:prstDash val="dash"/>
          </a:ln>
        </p:spPr>
      </p:sp>
      <p:sp>
        <p:nvSpPr>
          <p:cNvPr id="24" name="Text 22"/>
          <p:cNvSpPr/>
          <p:nvPr/>
        </p:nvSpPr>
        <p:spPr>
          <a:xfrm>
            <a:off x="8569757" y="3566160"/>
            <a:ext cx="2570378" cy="169164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【待放圖】提交申覆系統</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mystery-08-appeal.png</a:t>
            </a:r>
            <a:endParaRPr lang="en-US" sz="1100" dirty="0"/>
          </a:p>
        </p:txBody>
      </p:sp>
      <p:sp>
        <p:nvSpPr>
          <p:cNvPr id="25" name="Text 23"/>
          <p:cNvSpPr/>
          <p:nvPr/>
        </p:nvSpPr>
        <p:spPr>
          <a:xfrm>
            <a:off x="640080" y="5623560"/>
            <a:ext cx="10911535" cy="658368"/>
          </a:xfrm>
          <a:prstGeom prst="roundRect">
            <a:avLst>
              <a:gd name="adj" fmla="val 11111"/>
            </a:avLst>
          </a:prstGeom>
          <a:solidFill>
            <a:srgbClr val="F7F1CE"/>
          </a:solidFill>
          <a:ln/>
        </p:spPr>
        <p:txBody>
          <a:bodyPr wrap="square" lIns="0" tIns="0" rIns="0" bIns="0" rtlCol="0" anchor="ctr"/>
          <a:lstStyle/>
          <a:p>
            <a:pPr algn="ctr" indent="0" marL="0">
              <a:buNone/>
            </a:pPr>
            <a:r>
              <a:rPr lang="en-US" sz="1400" dirty="0">
                <a:solidFill>
                  <a:srgbClr val="2B2D5C"/>
                </a:solidFill>
                <a:latin typeface="微軟正黑體" pitchFamily="34" charset="0"/>
                <a:ea typeface="微軟正黑體" pitchFamily="34" charset="-122"/>
                <a:cs typeface="微軟正黑體" pitchFamily="34" charset="-120"/>
              </a:rPr>
              <a:t>申覆功能不在任何需求文件上——是理解流程之後才發現需要的。</a:t>
            </a:r>
            <a:endParaRPr lang="en-US" sz="1400" dirty="0"/>
          </a:p>
        </p:txBody>
      </p:sp>
      <p:sp>
        <p:nvSpPr>
          <p:cNvPr id="26" name="Text 24"/>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功能 ⑦⑧：帳號與身分組管理、通知系統</a:t>
            </a:r>
            <a:endParaRPr lang="en-US" sz="3200" dirty="0"/>
          </a:p>
        </p:txBody>
      </p:sp>
      <p:sp>
        <p:nvSpPr>
          <p:cNvPr id="4" name="Shape 2"/>
          <p:cNvSpPr/>
          <p:nvPr/>
        </p:nvSpPr>
        <p:spPr>
          <a:xfrm>
            <a:off x="640080" y="1920240"/>
            <a:ext cx="5272888" cy="3566160"/>
          </a:xfrm>
          <a:prstGeom prst="roundRect">
            <a:avLst>
              <a:gd name="adj" fmla="val 1538"/>
            </a:avLst>
          </a:prstGeom>
          <a:solidFill>
            <a:srgbClr val="D6D9F0"/>
          </a:solidFill>
          <a:ln/>
          <a:effectLst>
            <a:outerShdw sx="100000" sy="100000" kx="0" ky="0" algn="bl" rotWithShape="0" blurRad="101600" dist="25400" dir="5400000">
              <a:srgbClr val="9AA0BF">
                <a:alpha val="22000"/>
              </a:srgbClr>
            </a:outerShdw>
          </a:effectLst>
        </p:spPr>
      </p:sp>
      <p:sp>
        <p:nvSpPr>
          <p:cNvPr id="5" name="Shape 3"/>
          <p:cNvSpPr/>
          <p:nvPr/>
        </p:nvSpPr>
        <p:spPr>
          <a:xfrm>
            <a:off x="896112" y="2121408"/>
            <a:ext cx="512064" cy="512064"/>
          </a:xfrm>
          <a:prstGeom prst="ellipse">
            <a:avLst/>
          </a:prstGeom>
          <a:solidFill>
            <a:srgbClr val="2B2D5C"/>
          </a:solidFill>
          <a:ln/>
        </p:spPr>
      </p:sp>
      <p:sp>
        <p:nvSpPr>
          <p:cNvPr id="6" name="Text 4"/>
          <p:cNvSpPr/>
          <p:nvPr/>
        </p:nvSpPr>
        <p:spPr>
          <a:xfrm>
            <a:off x="896112" y="212140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7</a:t>
            </a:r>
            <a:endParaRPr lang="en-US" sz="1700" dirty="0"/>
          </a:p>
        </p:txBody>
      </p:sp>
      <p:sp>
        <p:nvSpPr>
          <p:cNvPr id="7" name="Text 5"/>
          <p:cNvSpPr/>
          <p:nvPr/>
        </p:nvSpPr>
        <p:spPr>
          <a:xfrm>
            <a:off x="1508760" y="2103120"/>
            <a:ext cx="4175608" cy="54864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帳號與身分組管理</a:t>
            </a:r>
            <a:endParaRPr lang="en-US" sz="1600" dirty="0"/>
          </a:p>
        </p:txBody>
      </p:sp>
      <p:sp>
        <p:nvSpPr>
          <p:cNvPr id="8" name="Text 6"/>
          <p:cNvSpPr/>
          <p:nvPr/>
        </p:nvSpPr>
        <p:spPr>
          <a:xfrm>
            <a:off x="914400" y="2743200"/>
            <a:ext cx="4724248" cy="7772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創建帳號、創建身分組，以及帳號／身分組的移轉機制。人事異動時管理者自己就能處理，不必找工程師。</a:t>
            </a:r>
            <a:endParaRPr lang="en-US" sz="1250" dirty="0"/>
          </a:p>
        </p:txBody>
      </p:sp>
      <p:sp>
        <p:nvSpPr>
          <p:cNvPr id="9" name="Shape 7"/>
          <p:cNvSpPr/>
          <p:nvPr/>
        </p:nvSpPr>
        <p:spPr>
          <a:xfrm>
            <a:off x="914400" y="3566160"/>
            <a:ext cx="4724248" cy="1691640"/>
          </a:xfrm>
          <a:prstGeom prst="roundRect">
            <a:avLst>
              <a:gd name="adj" fmla="val 4324"/>
            </a:avLst>
          </a:prstGeom>
          <a:solidFill>
            <a:srgbClr val="E4E6F0"/>
          </a:solidFill>
          <a:ln w="12700">
            <a:solidFill>
              <a:srgbClr val="AEB4E4"/>
            </a:solidFill>
            <a:prstDash val="dash"/>
          </a:ln>
        </p:spPr>
      </p:sp>
      <p:sp>
        <p:nvSpPr>
          <p:cNvPr id="10" name="Text 8"/>
          <p:cNvSpPr/>
          <p:nvPr/>
        </p:nvSpPr>
        <p:spPr>
          <a:xfrm>
            <a:off x="1051560" y="3566160"/>
            <a:ext cx="4449928" cy="169164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【待放圖】帳號與身分組管理</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mystery-09-account.png</a:t>
            </a:r>
            <a:endParaRPr lang="en-US" sz="1100" dirty="0"/>
          </a:p>
        </p:txBody>
      </p:sp>
      <p:sp>
        <p:nvSpPr>
          <p:cNvPr id="11" name="Shape 9"/>
          <p:cNvSpPr/>
          <p:nvPr/>
        </p:nvSpPr>
        <p:spPr>
          <a:xfrm>
            <a:off x="6278728" y="1920240"/>
            <a:ext cx="5272888" cy="3566160"/>
          </a:xfrm>
          <a:prstGeom prst="roundRect">
            <a:avLst>
              <a:gd name="adj" fmla="val 1538"/>
            </a:avLst>
          </a:prstGeom>
          <a:solidFill>
            <a:srgbClr val="ECEEF8"/>
          </a:solidFill>
          <a:ln/>
          <a:effectLst>
            <a:outerShdw sx="100000" sy="100000" kx="0" ky="0" algn="bl" rotWithShape="0" blurRad="101600" dist="25400" dir="5400000">
              <a:srgbClr val="9AA0BF">
                <a:alpha val="22000"/>
              </a:srgbClr>
            </a:outerShdw>
          </a:effectLst>
        </p:spPr>
      </p:sp>
      <p:sp>
        <p:nvSpPr>
          <p:cNvPr id="12" name="Shape 10"/>
          <p:cNvSpPr/>
          <p:nvPr/>
        </p:nvSpPr>
        <p:spPr>
          <a:xfrm>
            <a:off x="6534760" y="2121408"/>
            <a:ext cx="512064" cy="512064"/>
          </a:xfrm>
          <a:prstGeom prst="ellipse">
            <a:avLst/>
          </a:prstGeom>
          <a:solidFill>
            <a:srgbClr val="2B2D5C"/>
          </a:solidFill>
          <a:ln/>
        </p:spPr>
      </p:sp>
      <p:sp>
        <p:nvSpPr>
          <p:cNvPr id="13" name="Text 11"/>
          <p:cNvSpPr/>
          <p:nvPr/>
        </p:nvSpPr>
        <p:spPr>
          <a:xfrm>
            <a:off x="6534760" y="212140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8</a:t>
            </a:r>
            <a:endParaRPr lang="en-US" sz="1700" dirty="0"/>
          </a:p>
        </p:txBody>
      </p:sp>
      <p:sp>
        <p:nvSpPr>
          <p:cNvPr id="14" name="Text 12"/>
          <p:cNvSpPr/>
          <p:nvPr/>
        </p:nvSpPr>
        <p:spPr>
          <a:xfrm>
            <a:off x="7147408" y="2103120"/>
            <a:ext cx="4175608" cy="54864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通知系統（全服／個人）</a:t>
            </a:r>
            <a:endParaRPr lang="en-US" sz="1600" dirty="0"/>
          </a:p>
        </p:txBody>
      </p:sp>
      <p:sp>
        <p:nvSpPr>
          <p:cNvPr id="15" name="Text 13"/>
          <p:cNvSpPr/>
          <p:nvPr/>
        </p:nvSpPr>
        <p:spPr>
          <a:xfrm>
            <a:off x="6553048" y="2743200"/>
            <a:ext cx="4724248" cy="7772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分成全服公告與個人通知兩種，該知道的人在系統裡就會知道，不用另外發訊息提醒。</a:t>
            </a:r>
            <a:endParaRPr lang="en-US" sz="1250" dirty="0"/>
          </a:p>
        </p:txBody>
      </p:sp>
      <p:sp>
        <p:nvSpPr>
          <p:cNvPr id="16" name="Shape 14"/>
          <p:cNvSpPr/>
          <p:nvPr/>
        </p:nvSpPr>
        <p:spPr>
          <a:xfrm>
            <a:off x="6553048" y="3566160"/>
            <a:ext cx="4724248" cy="1691640"/>
          </a:xfrm>
          <a:prstGeom prst="roundRect">
            <a:avLst>
              <a:gd name="adj" fmla="val 4324"/>
            </a:avLst>
          </a:prstGeom>
          <a:solidFill>
            <a:srgbClr val="E4E6F0"/>
          </a:solidFill>
          <a:ln w="12700">
            <a:solidFill>
              <a:srgbClr val="AEB4E4"/>
            </a:solidFill>
            <a:prstDash val="dash"/>
          </a:ln>
        </p:spPr>
      </p:sp>
      <p:sp>
        <p:nvSpPr>
          <p:cNvPr id="17" name="Text 15"/>
          <p:cNvSpPr/>
          <p:nvPr/>
        </p:nvSpPr>
        <p:spPr>
          <a:xfrm>
            <a:off x="6690208" y="3566160"/>
            <a:ext cx="4449928" cy="1691640"/>
          </a:xfrm>
          <a:prstGeom prst="rect">
            <a:avLst/>
          </a:prstGeom>
          <a:noFill/>
          <a:ln/>
        </p:spPr>
        <p:txBody>
          <a:bodyPr wrap="square" lIns="0" tIns="0" rIns="0" bIns="0" rtlCol="0" anchor="ctr"/>
          <a:lstStyle/>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【待放圖】通知系統（全服／個人）</a:t>
            </a:r>
            <a:endParaRPr lang="en-US" sz="1100" dirty="0"/>
          </a:p>
          <a:p>
            <a:pPr algn="ctr" indent="0" marL="0">
              <a:buNone/>
            </a:pPr>
            <a:r>
              <a:rPr lang="en-US" sz="1100" dirty="0">
                <a:solidFill>
                  <a:srgbClr val="6E7191"/>
                </a:solidFill>
                <a:latin typeface="微軟正黑體" pitchFamily="34" charset="0"/>
                <a:ea typeface="微軟正黑體" pitchFamily="34" charset="-122"/>
                <a:cs typeface="微軟正黑體" pitchFamily="34" charset="-120"/>
              </a:rPr>
              <a:t>mystery-10-notify.png</a:t>
            </a:r>
            <a:endParaRPr lang="en-US" sz="1100" dirty="0"/>
          </a:p>
        </p:txBody>
      </p:sp>
      <p:sp>
        <p:nvSpPr>
          <p:cNvPr id="18" name="Text 16"/>
          <p:cNvSpPr/>
          <p:nvPr/>
        </p:nvSpPr>
        <p:spPr>
          <a:xfrm>
            <a:off x="640080" y="5623560"/>
            <a:ext cx="10911535" cy="658368"/>
          </a:xfrm>
          <a:prstGeom prst="roundRect">
            <a:avLst>
              <a:gd name="adj" fmla="val 11111"/>
            </a:avLst>
          </a:prstGeom>
          <a:solidFill>
            <a:srgbClr val="F7F1CE"/>
          </a:solidFill>
          <a:ln/>
        </p:spPr>
        <p:txBody>
          <a:bodyPr wrap="square" lIns="0" tIns="0" rIns="0" bIns="0" rtlCol="0" anchor="ctr"/>
          <a:lstStyle/>
          <a:p>
            <a:pPr algn="ctr" indent="0" marL="0">
              <a:buNone/>
            </a:pPr>
            <a:r>
              <a:rPr lang="en-US" sz="1400" dirty="0">
                <a:solidFill>
                  <a:srgbClr val="2B2D5C"/>
                </a:solidFill>
                <a:latin typeface="微軟正黑體" pitchFamily="34" charset="0"/>
                <a:ea typeface="微軟正黑體" pitchFamily="34" charset="-122"/>
                <a:cs typeface="微軟正黑體" pitchFamily="34" charset="-120"/>
              </a:rPr>
              <a:t>這兩項是讓系統可以長期活下去的功能。</a:t>
            </a:r>
            <a:endParaRPr lang="en-US" sz="1400" dirty="0"/>
          </a:p>
        </p:txBody>
      </p:sp>
      <p:sp>
        <p:nvSpPr>
          <p:cNvPr id="19" name="Text 17"/>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前後對比</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11535" cy="914400"/>
        </p:xfrm>
        <a:graphic>
          <a:graphicData uri="http://schemas.openxmlformats.org/drawingml/2006/table">
            <a:tbl>
              <a:tblPr/>
              <a:tblGrid>
                <a:gridCol w="2377440"/>
                <a:gridCol w="4206240"/>
                <a:gridCol w="4327855"/>
              </a:tblGrid>
              <a:tr h="530352">
                <a:tc>
                  <a:txBody>
                    <a:bodyPr/>
                    <a:lstStyle/>
                    <a:p>
                      <a:pPr algn="ctr" indent="0" marL="0">
                        <a:buNone/>
                      </a:pPr>
                      <a:endParaRPr lang="en-US" sz="130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300" b="1" dirty="0">
                          <a:solidFill>
                            <a:srgbClr val="2B2D5C"/>
                          </a:solidFill>
                          <a:latin typeface="微軟正黑體" pitchFamily="34" charset="0"/>
                          <a:ea typeface="微軟正黑體" pitchFamily="34" charset="-122"/>
                          <a:cs typeface="微軟正黑體" pitchFamily="34" charset="-120"/>
                        </a:rPr>
                        <a:t>舊流程</a:t>
                      </a:r>
                      <a:endParaRPr lang="en-US" sz="130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D6D9F0"/>
                    </a:solidFill>
                  </a:tcPr>
                </a:tc>
                <a:tc>
                  <a:txBody>
                    <a:bodyPr/>
                    <a:lstStyle/>
                    <a:p>
                      <a:pPr algn="ctr" indent="0" marL="0">
                        <a:buNone/>
                      </a:pPr>
                      <a:r>
                        <a:rPr lang="en-US" sz="1300" b="1" dirty="0">
                          <a:solidFill>
                            <a:srgbClr val="FFFFFF"/>
                          </a:solidFill>
                          <a:latin typeface="微軟正黑體" pitchFamily="34" charset="0"/>
                          <a:ea typeface="微軟正黑體" pitchFamily="34" charset="-122"/>
                          <a:cs typeface="微軟正黑體" pitchFamily="34" charset="-120"/>
                        </a:rPr>
                        <a:t>神秘客系統</a:t>
                      </a:r>
                      <a:endParaRPr lang="en-US" sz="1300" dirty="0">
                        <a:latin typeface="微軟正黑體" charset="0"/>
                        <a:ea typeface="微軟正黑體" charset="0"/>
                        <a:cs typeface="微軟正黑體" charset="0"/>
                      </a:endParaRPr>
                    </a:p>
                  </a:txBody>
                  <a:tcPr marL="91440" marR="91440" marT="45720" marB="4572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2B2D5C"/>
                    </a:solidFill>
                  </a:tcPr>
                </a:tc>
              </a:tr>
              <a:tr h="530352">
                <a:tc>
                  <a:txBody>
                    <a:bodyPr/>
                    <a:lstStyle/>
                    <a:p>
                      <a:pPr indent="0" marL="0">
                        <a:buNone/>
                      </a:pPr>
                      <a:r>
                        <a:rPr lang="en-US" sz="1300" b="1" dirty="0">
                          <a:solidFill>
                            <a:srgbClr val="2B2D5C"/>
                          </a:solidFill>
                          <a:latin typeface="微軟正黑體" pitchFamily="34" charset="0"/>
                          <a:ea typeface="微軟正黑體" pitchFamily="34" charset="-122"/>
                          <a:cs typeface="微軟正黑體" pitchFamily="34" charset="-120"/>
                        </a:rPr>
                        <a:t>資料位置</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分散在 5 份以上 Excel</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集中在單一後台</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FF7F3"/>
                    </a:solidFill>
                  </a:tcPr>
                </a:tc>
              </a:tr>
              <a:tr h="530352">
                <a:tc>
                  <a:txBody>
                    <a:bodyPr/>
                    <a:lstStyle/>
                    <a:p>
                      <a:pPr indent="0" marL="0">
                        <a:buNone/>
                      </a:pPr>
                      <a:r>
                        <a:rPr lang="en-US" sz="1300" b="1" dirty="0">
                          <a:solidFill>
                            <a:srgbClr val="2B2D5C"/>
                          </a:solidFill>
                          <a:latin typeface="微軟正黑體" pitchFamily="34" charset="0"/>
                          <a:ea typeface="微軟正黑體" pitchFamily="34" charset="-122"/>
                          <a:cs typeface="微軟正黑體" pitchFamily="34" charset="-120"/>
                        </a:rPr>
                        <a:t>每月作業</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重開報表、重設 Google 表單</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設定一次長期適用</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FF7F3"/>
                    </a:solidFill>
                  </a:tcPr>
                </a:tc>
              </a:tr>
              <a:tr h="530352">
                <a:tc>
                  <a:txBody>
                    <a:bodyPr/>
                    <a:lstStyle/>
                    <a:p>
                      <a:pPr indent="0" marL="0">
                        <a:buNone/>
                      </a:pPr>
                      <a:r>
                        <a:rPr lang="en-US" sz="1300" b="1" dirty="0">
                          <a:solidFill>
                            <a:srgbClr val="2B2D5C"/>
                          </a:solidFill>
                          <a:latin typeface="微軟正黑體" pitchFamily="34" charset="0"/>
                          <a:ea typeface="微軟正黑體" pitchFamily="34" charset="-122"/>
                          <a:cs typeface="微軟正黑體" pitchFamily="34" charset="-120"/>
                        </a:rPr>
                        <a:t>分數計算</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手動計算</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系統評鑑介面</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FF7F3"/>
                    </a:solidFill>
                  </a:tcPr>
                </a:tc>
              </a:tr>
              <a:tr h="530352">
                <a:tc>
                  <a:txBody>
                    <a:bodyPr/>
                    <a:lstStyle/>
                    <a:p>
                      <a:pPr indent="0" marL="0">
                        <a:buNone/>
                      </a:pPr>
                      <a:r>
                        <a:rPr lang="en-US" sz="1300" b="1" dirty="0">
                          <a:solidFill>
                            <a:srgbClr val="2B2D5C"/>
                          </a:solidFill>
                          <a:latin typeface="微軟正黑體" pitchFamily="34" charset="0"/>
                          <a:ea typeface="微軟正黑體" pitchFamily="34" charset="-122"/>
                          <a:cs typeface="微軟正黑體" pitchFamily="34" charset="-120"/>
                        </a:rPr>
                        <a:t>給不同對象</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複製貼上到不同 Excel</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依權限切換顯示內容</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FF7F3"/>
                    </a:solidFill>
                  </a:tcPr>
                </a:tc>
              </a:tr>
              <a:tr h="530352">
                <a:tc>
                  <a:txBody>
                    <a:bodyPr/>
                    <a:lstStyle/>
                    <a:p>
                      <a:pPr indent="0" marL="0">
                        <a:buNone/>
                      </a:pPr>
                      <a:r>
                        <a:rPr lang="en-US" sz="1300" b="1" dirty="0">
                          <a:solidFill>
                            <a:srgbClr val="2B2D5C"/>
                          </a:solidFill>
                          <a:latin typeface="微軟正黑體" pitchFamily="34" charset="0"/>
                          <a:ea typeface="微軟正黑體" pitchFamily="34" charset="-122"/>
                          <a:cs typeface="微軟正黑體" pitchFamily="34" charset="-120"/>
                        </a:rPr>
                        <a:t>檢討與申覆</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另外處理</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系統內提交</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FF7F3"/>
                    </a:solidFill>
                  </a:tcPr>
                </a:tc>
              </a:tr>
              <a:tr h="530352">
                <a:tc>
                  <a:txBody>
                    <a:bodyPr/>
                    <a:lstStyle/>
                    <a:p>
                      <a:pPr indent="0" marL="0">
                        <a:buNone/>
                      </a:pPr>
                      <a:r>
                        <a:rPr lang="en-US" sz="1300" b="1" dirty="0">
                          <a:solidFill>
                            <a:srgbClr val="2B2D5C"/>
                          </a:solidFill>
                          <a:latin typeface="微軟正黑體" pitchFamily="34" charset="0"/>
                          <a:ea typeface="微軟正黑體" pitchFamily="34" charset="-122"/>
                          <a:cs typeface="微軟正黑體" pitchFamily="34" charset="-120"/>
                        </a:rPr>
                        <a:t>人事異動</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CEEF8"/>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需重新整理表單</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FFFFFF"/>
                    </a:solidFill>
                  </a:tcPr>
                </a:tc>
                <a:tc>
                  <a:txBody>
                    <a:bodyPr/>
                    <a:lstStyle/>
                    <a:p>
                      <a:pPr indent="0" marL="0">
                        <a:buNone/>
                      </a:pPr>
                      <a:r>
                        <a:rPr lang="en-US" sz="1300" dirty="0">
                          <a:solidFill>
                            <a:srgbClr val="2B2D5C"/>
                          </a:solidFill>
                          <a:latin typeface="微軟正黑體" pitchFamily="34" charset="0"/>
                          <a:ea typeface="微軟正黑體" pitchFamily="34" charset="-122"/>
                          <a:cs typeface="微軟正黑體" pitchFamily="34" charset="-120"/>
                        </a:rPr>
                        <a:t>帳號／身分組移轉機制</a:t>
                      </a:r>
                      <a:endParaRPr lang="en-US" sz="1300" dirty="0">
                        <a:latin typeface="微軟正黑體" charset="0"/>
                        <a:ea typeface="微軟正黑體" charset="0"/>
                        <a:cs typeface="微軟正黑體" charset="0"/>
                      </a:endParaRPr>
                    </a:p>
                  </a:txBody>
                  <a:tcPr marL="101600" marR="101600" marT="50800" marB="50800" anchor="ctr">
                    <a:lnL w="12700" cap="flat" cmpd="sng" algn="ctr">
                      <a:solidFill>
                        <a:srgbClr val="DDE0EE"/>
                      </a:solidFill>
                      <a:prstDash val="solid"/>
                      <a:round/>
                      <a:headEnd type="none" w="med" len="med"/>
                      <a:tailEnd type="none" w="med" len="med"/>
                    </a:lnL>
                    <a:lnR w="12700" cap="flat" cmpd="sng" algn="ctr">
                      <a:solidFill>
                        <a:srgbClr val="DDE0EE"/>
                      </a:solidFill>
                      <a:prstDash val="solid"/>
                      <a:round/>
                      <a:headEnd type="none" w="med" len="med"/>
                      <a:tailEnd type="none" w="med" len="med"/>
                    </a:lnR>
                    <a:lnT w="12700" cap="flat" cmpd="sng" algn="ctr">
                      <a:solidFill>
                        <a:srgbClr val="DDE0EE"/>
                      </a:solidFill>
                      <a:prstDash val="solid"/>
                      <a:round/>
                      <a:headEnd type="none" w="med" len="med"/>
                      <a:tailEnd type="none" w="med" len="med"/>
                    </a:lnT>
                    <a:lnB w="12700" cap="flat" cmpd="sng" algn="ctr">
                      <a:solidFill>
                        <a:srgbClr val="DDE0EE"/>
                      </a:solidFill>
                      <a:prstDash val="solid"/>
                      <a:round/>
                      <a:headEnd type="none" w="med" len="med"/>
                      <a:tailEnd type="none" w="med" len="med"/>
                    </a:lnB>
                    <a:solidFill>
                      <a:srgbClr val="EFF7F3"/>
                    </a:solidFill>
                  </a:tcPr>
                </a:tc>
              </a:tr>
            </a:tbl>
          </a:graphicData>
        </a:graphic>
      </p:graphicFrame>
      <p:sp>
        <p:nvSpPr>
          <p:cNvPr id="5" name="Text 2"/>
          <p:cNvSpPr/>
          <p:nvPr/>
        </p:nvSpPr>
        <p:spPr>
          <a:xfrm>
            <a:off x="640080" y="5715000"/>
            <a:ext cx="10911535" cy="566928"/>
          </a:xfrm>
          <a:prstGeom prst="rect">
            <a:avLst/>
          </a:prstGeom>
          <a:noFill/>
          <a:ln/>
        </p:spPr>
        <p:txBody>
          <a:bodyPr wrap="square" lIns="0" tIns="0" rIns="0" bIns="0" rtlCol="0" anchor="ctr"/>
          <a:lstStyle/>
          <a:p>
            <a:pPr algn="ctr" indent="0" marL="0">
              <a:buNone/>
            </a:pPr>
            <a:r>
              <a:rPr lang="en-US" sz="1500" b="1" dirty="0">
                <a:solidFill>
                  <a:srgbClr val="2B2D5C"/>
                </a:solidFill>
                <a:latin typeface="微軟正黑體" pitchFamily="34" charset="0"/>
                <a:ea typeface="微軟正黑體" pitchFamily="34" charset="-122"/>
                <a:cs typeface="微軟正黑體" pitchFamily="34" charset="-120"/>
              </a:rPr>
              <a:t>改變的重點不是把工作做得更快，而是把「每個月都要重做一次」變成「設定一次就好」。</a:t>
            </a:r>
            <a:endParaRPr lang="en-US" sz="1500" dirty="0"/>
          </a:p>
        </p:txBody>
      </p:sp>
      <p:sp>
        <p:nvSpPr>
          <p:cNvPr id="6" name="Text 3"/>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四、工作成果｜對內</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成效與現況</a:t>
            </a:r>
            <a:endParaRPr lang="en-US" sz="3200" dirty="0"/>
          </a:p>
        </p:txBody>
      </p:sp>
      <p:sp>
        <p:nvSpPr>
          <p:cNvPr id="4" name="Shape 2"/>
          <p:cNvSpPr/>
          <p:nvPr/>
        </p:nvSpPr>
        <p:spPr>
          <a:xfrm>
            <a:off x="640080" y="1920240"/>
            <a:ext cx="4663440" cy="2423160"/>
          </a:xfrm>
          <a:prstGeom prst="roundRect">
            <a:avLst>
              <a:gd name="adj" fmla="val 2264"/>
            </a:avLst>
          </a:prstGeom>
          <a:solidFill>
            <a:srgbClr val="2B2D5C"/>
          </a:solidFill>
          <a:ln/>
        </p:spPr>
      </p:sp>
      <p:sp>
        <p:nvSpPr>
          <p:cNvPr id="5" name="Text 3"/>
          <p:cNvSpPr/>
          <p:nvPr/>
        </p:nvSpPr>
        <p:spPr>
          <a:xfrm>
            <a:off x="914400" y="2148840"/>
            <a:ext cx="4114800" cy="1051560"/>
          </a:xfrm>
          <a:prstGeom prst="rect">
            <a:avLst/>
          </a:prstGeom>
          <a:noFill/>
          <a:ln/>
        </p:spPr>
        <p:txBody>
          <a:bodyPr wrap="square" lIns="0" tIns="0" rIns="0" bIns="0" rtlCol="0" anchor="ctr"/>
          <a:lstStyle/>
          <a:p>
            <a:pPr indent="0" marL="0">
              <a:buNone/>
            </a:pPr>
            <a:r>
              <a:rPr lang="en-US" sz="5400" b="1" dirty="0">
                <a:solidFill>
                  <a:srgbClr val="FFFFFF"/>
                </a:solidFill>
                <a:latin typeface="微軟正黑體" pitchFamily="34" charset="0"/>
                <a:ea typeface="微軟正黑體" pitchFamily="34" charset="-122"/>
                <a:cs typeface="微軟正黑體" pitchFamily="34" charset="-120"/>
              </a:rPr>
              <a:t>約 90%</a:t>
            </a:r>
            <a:endParaRPr lang="en-US" sz="5400" dirty="0"/>
          </a:p>
        </p:txBody>
      </p:sp>
      <p:sp>
        <p:nvSpPr>
          <p:cNvPr id="6" name="Text 4"/>
          <p:cNvSpPr/>
          <p:nvPr/>
        </p:nvSpPr>
        <p:spPr>
          <a:xfrm>
            <a:off x="914400" y="3200400"/>
            <a:ext cx="4114800" cy="384048"/>
          </a:xfrm>
          <a:prstGeom prst="rect">
            <a:avLst/>
          </a:prstGeom>
          <a:noFill/>
          <a:ln/>
        </p:spPr>
        <p:txBody>
          <a:bodyPr wrap="square" lIns="0" tIns="0" rIns="0" bIns="0" rtlCol="0" anchor="ctr"/>
          <a:lstStyle/>
          <a:p>
            <a:pPr indent="0" marL="0">
              <a:buNone/>
            </a:pPr>
            <a:r>
              <a:rPr lang="en-US" sz="1600" b="1" dirty="0">
                <a:solidFill>
                  <a:srgbClr val="D6D9F0"/>
                </a:solidFill>
                <a:latin typeface="微軟正黑體" pitchFamily="34" charset="0"/>
                <a:ea typeface="微軟正黑體" pitchFamily="34" charset="-122"/>
                <a:cs typeface="微軟正黑體" pitchFamily="34" charset="-120"/>
              </a:rPr>
              <a:t>推估節省的作業時間</a:t>
            </a:r>
            <a:endParaRPr lang="en-US" sz="1600" dirty="0"/>
          </a:p>
        </p:txBody>
      </p:sp>
      <p:sp>
        <p:nvSpPr>
          <p:cNvPr id="7" name="Text 5"/>
          <p:cNvSpPr/>
          <p:nvPr/>
        </p:nvSpPr>
        <p:spPr>
          <a:xfrm>
            <a:off x="914400" y="3611880"/>
            <a:ext cx="4114800" cy="502920"/>
          </a:xfrm>
          <a:prstGeom prst="rect">
            <a:avLst/>
          </a:prstGeom>
          <a:noFill/>
          <a:ln/>
        </p:spPr>
        <p:txBody>
          <a:bodyPr wrap="square" lIns="0" tIns="0" rIns="0" bIns="0" rtlCol="0" anchor="ctr"/>
          <a:lstStyle/>
          <a:p>
            <a:pPr indent="0" marL="0">
              <a:lnSpc>
                <a:spcPct val="120000"/>
              </a:lnSpc>
              <a:buNone/>
            </a:pPr>
            <a:r>
              <a:rPr lang="en-US" sz="1200" i="1" dirty="0">
                <a:solidFill>
                  <a:srgbClr val="AEB4E4"/>
                </a:solidFill>
                <a:latin typeface="微軟正黑體" pitchFamily="34" charset="0"/>
                <a:ea typeface="微軟正黑體" pitchFamily="34" charset="-122"/>
                <a:cs typeface="微軟正黑體" pitchFamily="34" charset="-120"/>
              </a:rPr>
              <a:t>＊本數字為個人推估，尚未經實測驗證</a:t>
            </a:r>
            <a:endParaRPr lang="en-US" sz="1200" dirty="0"/>
          </a:p>
        </p:txBody>
      </p:sp>
      <p:sp>
        <p:nvSpPr>
          <p:cNvPr id="8" name="Shape 6"/>
          <p:cNvSpPr/>
          <p:nvPr/>
        </p:nvSpPr>
        <p:spPr>
          <a:xfrm>
            <a:off x="5669280" y="1920240"/>
            <a:ext cx="5882335" cy="731520"/>
          </a:xfrm>
          <a:prstGeom prst="roundRect">
            <a:avLst>
              <a:gd name="adj" fmla="val 7500"/>
            </a:avLst>
          </a:prstGeom>
          <a:solidFill>
            <a:srgbClr val="6DCFA5"/>
          </a:solidFill>
          <a:ln/>
        </p:spPr>
      </p:sp>
      <p:sp>
        <p:nvSpPr>
          <p:cNvPr id="9" name="Text 7"/>
          <p:cNvSpPr/>
          <p:nvPr/>
        </p:nvSpPr>
        <p:spPr>
          <a:xfrm>
            <a:off x="5897880" y="1920240"/>
            <a:ext cx="1280160" cy="731520"/>
          </a:xfrm>
          <a:prstGeom prst="rect">
            <a:avLst/>
          </a:prstGeom>
          <a:noFill/>
          <a:ln/>
        </p:spPr>
        <p:txBody>
          <a:bodyPr wrap="square" lIns="0" tIns="0" rIns="0" bIns="0" rtlCol="0" anchor="ctr"/>
          <a:lstStyle/>
          <a:p>
            <a:pPr indent="0" marL="0">
              <a:buNone/>
            </a:pPr>
            <a:r>
              <a:rPr lang="en-US" sz="1350" b="1" dirty="0">
                <a:solidFill>
                  <a:srgbClr val="2B2D5C"/>
                </a:solidFill>
                <a:latin typeface="微軟正黑體" pitchFamily="34" charset="0"/>
                <a:ea typeface="微軟正黑體" pitchFamily="34" charset="-122"/>
                <a:cs typeface="微軟正黑體" pitchFamily="34" charset="-120"/>
              </a:rPr>
              <a:t>狀態</a:t>
            </a:r>
            <a:endParaRPr lang="en-US" sz="1350" dirty="0"/>
          </a:p>
        </p:txBody>
      </p:sp>
      <p:sp>
        <p:nvSpPr>
          <p:cNvPr id="10" name="Text 8"/>
          <p:cNvSpPr/>
          <p:nvPr/>
        </p:nvSpPr>
        <p:spPr>
          <a:xfrm>
            <a:off x="7178040" y="1920240"/>
            <a:ext cx="4144975" cy="731520"/>
          </a:xfrm>
          <a:prstGeom prst="rect">
            <a:avLst/>
          </a:prstGeom>
          <a:noFill/>
          <a:ln/>
        </p:spPr>
        <p:txBody>
          <a:bodyPr wrap="square" lIns="0" tIns="0" rIns="0" bIns="0" rtlCol="0" anchor="ctr"/>
          <a:lstStyle/>
          <a:p>
            <a:pPr indent="0" marL="0">
              <a:lnSpc>
                <a:spcPct val="115000"/>
              </a:lnSpc>
              <a:buNone/>
            </a:pPr>
            <a:r>
              <a:rPr lang="en-US" sz="1300" dirty="0">
                <a:solidFill>
                  <a:srgbClr val="2B2D5C"/>
                </a:solidFill>
                <a:latin typeface="微軟正黑體" pitchFamily="34" charset="0"/>
                <a:ea typeface="微軟正黑體" pitchFamily="34" charset="-122"/>
                <a:cs typeface="微軟正黑體" pitchFamily="34" charset="-120"/>
              </a:rPr>
              <a:t>已實際上線，目前使用中</a:t>
            </a:r>
            <a:endParaRPr lang="en-US" sz="1300" dirty="0"/>
          </a:p>
        </p:txBody>
      </p:sp>
      <p:sp>
        <p:nvSpPr>
          <p:cNvPr id="11" name="Shape 9"/>
          <p:cNvSpPr/>
          <p:nvPr/>
        </p:nvSpPr>
        <p:spPr>
          <a:xfrm>
            <a:off x="5669280" y="2761488"/>
            <a:ext cx="5882335" cy="731520"/>
          </a:xfrm>
          <a:prstGeom prst="roundRect">
            <a:avLst>
              <a:gd name="adj" fmla="val 7500"/>
            </a:avLst>
          </a:prstGeom>
          <a:solidFill>
            <a:srgbClr val="ECEEF8"/>
          </a:solidFill>
          <a:ln/>
        </p:spPr>
      </p:sp>
      <p:sp>
        <p:nvSpPr>
          <p:cNvPr id="12" name="Text 10"/>
          <p:cNvSpPr/>
          <p:nvPr/>
        </p:nvSpPr>
        <p:spPr>
          <a:xfrm>
            <a:off x="5897880" y="2761488"/>
            <a:ext cx="1280160" cy="731520"/>
          </a:xfrm>
          <a:prstGeom prst="rect">
            <a:avLst/>
          </a:prstGeom>
          <a:noFill/>
          <a:ln/>
        </p:spPr>
        <p:txBody>
          <a:bodyPr wrap="square" lIns="0" tIns="0" rIns="0" bIns="0" rtlCol="0" anchor="ctr"/>
          <a:lstStyle/>
          <a:p>
            <a:pPr indent="0" marL="0">
              <a:buNone/>
            </a:pPr>
            <a:r>
              <a:rPr lang="en-US" sz="1350" b="1" dirty="0">
                <a:solidFill>
                  <a:srgbClr val="2B2D5C"/>
                </a:solidFill>
                <a:latin typeface="微軟正黑體" pitchFamily="34" charset="0"/>
                <a:ea typeface="微軟正黑體" pitchFamily="34" charset="-122"/>
                <a:cs typeface="微軟正黑體" pitchFamily="34" charset="-120"/>
              </a:rPr>
              <a:t>使用單位</a:t>
            </a:r>
            <a:endParaRPr lang="en-US" sz="1350" dirty="0"/>
          </a:p>
        </p:txBody>
      </p:sp>
      <p:sp>
        <p:nvSpPr>
          <p:cNvPr id="13" name="Text 11"/>
          <p:cNvSpPr/>
          <p:nvPr/>
        </p:nvSpPr>
        <p:spPr>
          <a:xfrm>
            <a:off x="7178040" y="2761488"/>
            <a:ext cx="4144975" cy="731520"/>
          </a:xfrm>
          <a:prstGeom prst="rect">
            <a:avLst/>
          </a:prstGeom>
          <a:noFill/>
          <a:ln/>
        </p:spPr>
        <p:txBody>
          <a:bodyPr wrap="square" lIns="0" tIns="0" rIns="0" bIns="0" rtlCol="0" anchor="ctr"/>
          <a:lstStyle/>
          <a:p>
            <a:pPr indent="0" marL="0">
              <a:lnSpc>
                <a:spcPct val="115000"/>
              </a:lnSpc>
              <a:buNone/>
            </a:pPr>
            <a:r>
              <a:rPr lang="en-US" sz="1300" dirty="0">
                <a:solidFill>
                  <a:srgbClr val="2B2D5C"/>
                </a:solidFill>
                <a:latin typeface="微軟正黑體" pitchFamily="34" charset="0"/>
                <a:ea typeface="微軟正黑體" pitchFamily="34" charset="-122"/>
                <a:cs typeface="微軟正黑體" pitchFamily="34" charset="-120"/>
              </a:rPr>
              <a:t>所有需執行神秘客訪問電話的專案組，以及神秘客電訪管理者</a:t>
            </a:r>
            <a:endParaRPr lang="en-US" sz="1300" dirty="0"/>
          </a:p>
        </p:txBody>
      </p:sp>
      <p:sp>
        <p:nvSpPr>
          <p:cNvPr id="14" name="Shape 12"/>
          <p:cNvSpPr/>
          <p:nvPr/>
        </p:nvSpPr>
        <p:spPr>
          <a:xfrm>
            <a:off x="5669280" y="3602736"/>
            <a:ext cx="5882335" cy="731520"/>
          </a:xfrm>
          <a:prstGeom prst="roundRect">
            <a:avLst>
              <a:gd name="adj" fmla="val 7500"/>
            </a:avLst>
          </a:prstGeom>
          <a:solidFill>
            <a:srgbClr val="ECEEF8"/>
          </a:solidFill>
          <a:ln/>
        </p:spPr>
      </p:sp>
      <p:sp>
        <p:nvSpPr>
          <p:cNvPr id="15" name="Text 13"/>
          <p:cNvSpPr/>
          <p:nvPr/>
        </p:nvSpPr>
        <p:spPr>
          <a:xfrm>
            <a:off x="5897880" y="3602736"/>
            <a:ext cx="1280160" cy="731520"/>
          </a:xfrm>
          <a:prstGeom prst="rect">
            <a:avLst/>
          </a:prstGeom>
          <a:noFill/>
          <a:ln/>
        </p:spPr>
        <p:txBody>
          <a:bodyPr wrap="square" lIns="0" tIns="0" rIns="0" bIns="0" rtlCol="0" anchor="ctr"/>
          <a:lstStyle/>
          <a:p>
            <a:pPr indent="0" marL="0">
              <a:buNone/>
            </a:pPr>
            <a:r>
              <a:rPr lang="en-US" sz="1350" b="1" dirty="0">
                <a:solidFill>
                  <a:srgbClr val="2B2D5C"/>
                </a:solidFill>
                <a:latin typeface="微軟正黑體" pitchFamily="34" charset="0"/>
                <a:ea typeface="微軟正黑體" pitchFamily="34" charset="-122"/>
                <a:cs typeface="微軟正黑體" pitchFamily="34" charset="-120"/>
              </a:rPr>
              <a:t>開發方式</a:t>
            </a:r>
            <a:endParaRPr lang="en-US" sz="1350" dirty="0"/>
          </a:p>
        </p:txBody>
      </p:sp>
      <p:sp>
        <p:nvSpPr>
          <p:cNvPr id="16" name="Text 14"/>
          <p:cNvSpPr/>
          <p:nvPr/>
        </p:nvSpPr>
        <p:spPr>
          <a:xfrm>
            <a:off x="7178040" y="3602736"/>
            <a:ext cx="4144975" cy="731520"/>
          </a:xfrm>
          <a:prstGeom prst="rect">
            <a:avLst/>
          </a:prstGeom>
          <a:noFill/>
          <a:ln/>
        </p:spPr>
        <p:txBody>
          <a:bodyPr wrap="square" lIns="0" tIns="0" rIns="0" bIns="0" rtlCol="0" anchor="ctr"/>
          <a:lstStyle/>
          <a:p>
            <a:pPr indent="0" marL="0">
              <a:lnSpc>
                <a:spcPct val="115000"/>
              </a:lnSpc>
              <a:buNone/>
            </a:pPr>
            <a:r>
              <a:rPr lang="en-US" sz="1300" dirty="0">
                <a:solidFill>
                  <a:srgbClr val="2B2D5C"/>
                </a:solidFill>
                <a:latin typeface="微軟正黑體" pitchFamily="34" charset="0"/>
                <a:ea typeface="微軟正黑體" pitchFamily="34" charset="-122"/>
                <a:cs typeface="微軟正黑體" pitchFamily="34" charset="-120"/>
              </a:rPr>
              <a:t>全程使用 replit 等 AI 工具開發</a:t>
            </a:r>
            <a:endParaRPr lang="en-US" sz="1300" dirty="0"/>
          </a:p>
        </p:txBody>
      </p:sp>
      <p:sp>
        <p:nvSpPr>
          <p:cNvPr id="17" name="Text 15"/>
          <p:cNvSpPr/>
          <p:nvPr/>
        </p:nvSpPr>
        <p:spPr>
          <a:xfrm>
            <a:off x="5669280" y="4526280"/>
            <a:ext cx="5882335" cy="365760"/>
          </a:xfrm>
          <a:prstGeom prst="rect">
            <a:avLst/>
          </a:prstGeom>
          <a:noFill/>
          <a:ln/>
        </p:spPr>
        <p:txBody>
          <a:bodyPr wrap="square" lIns="0" tIns="0" rIns="0" bIns="0" rtlCol="0" anchor="ctr"/>
          <a:lstStyle/>
          <a:p>
            <a:pPr indent="0" marL="0">
              <a:buNone/>
            </a:pPr>
            <a:r>
              <a:rPr lang="en-US" sz="1200" dirty="0">
                <a:solidFill>
                  <a:srgbClr val="D95F2B"/>
                </a:solidFill>
                <a:latin typeface="微軟正黑體" pitchFamily="34" charset="0"/>
                <a:ea typeface="微軟正黑體" pitchFamily="34" charset="-122"/>
                <a:cs typeface="微軟正黑體" pitchFamily="34" charset="-120"/>
              </a:rPr>
              <a:t>【待補：上線日期、使用單位數、使用人數】</a:t>
            </a:r>
            <a:endParaRPr lang="en-US" sz="1200" dirty="0"/>
          </a:p>
        </p:txBody>
      </p:sp>
      <p:sp>
        <p:nvSpPr>
          <p:cNvPr id="18" name="Text 16"/>
          <p:cNvSpPr/>
          <p:nvPr/>
        </p:nvSpPr>
        <p:spPr>
          <a:xfrm>
            <a:off x="640080" y="4937760"/>
            <a:ext cx="10911535" cy="1051560"/>
          </a:xfrm>
          <a:prstGeom prst="roundRect">
            <a:avLst>
              <a:gd name="adj" fmla="val 6957"/>
            </a:avLst>
          </a:prstGeom>
          <a:solidFill>
            <a:srgbClr val="F7F1CE"/>
          </a:solidFill>
          <a:ln/>
        </p:spPr>
        <p:txBody>
          <a:bodyPr wrap="square" lIns="127000" tIns="228600" rIns="228600" bIns="127000" rtlCol="0" anchor="ctr"/>
          <a:lstStyle/>
          <a:p>
            <a:pPr indent="0" marL="0">
              <a:lnSpc>
                <a:spcPct val="130000"/>
              </a:lnSpc>
              <a:buNone/>
            </a:pPr>
            <a:r>
              <a:rPr lang="en-US" sz="1300" dirty="0">
                <a:solidFill>
                  <a:srgbClr val="2B2D5C"/>
                </a:solidFill>
                <a:latin typeface="微軟正黑體" pitchFamily="34" charset="0"/>
                <a:ea typeface="微軟正黑體" pitchFamily="34" charset="-122"/>
                <a:cs typeface="微軟正黑體" pitchFamily="34" charset="-120"/>
              </a:rPr>
              <a:t>推估依據：過去每月要開所有 Excel 報表、設一次新的 Google 表單、手動算分、再複製貼上給不同對象；現在全部在同一個後台完成，資料不用搬，也不需要每月重改。若主管認為需要，我可以實際量測作業時間，把真實數字補上。</a:t>
            </a:r>
            <a:endParaRPr lang="en-US" sz="1300" dirty="0"/>
          </a:p>
        </p:txBody>
      </p:sp>
      <p:sp>
        <p:nvSpPr>
          <p:cNvPr id="19" name="Text 17"/>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四、工作成果</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三個月工時分佈</a:t>
            </a:r>
            <a:endParaRPr lang="en-US" sz="3200" dirty="0"/>
          </a:p>
        </p:txBody>
      </p:sp>
      <p:graphicFrame>
        <p:nvGraphicFramePr>
          <p:cNvPr id="4" name="Chart 0" descr=""/>
          <p:cNvGraphicFramePr/>
          <p:nvPr/>
        </p:nvGraphicFramePr>
        <p:xfrm>
          <a:off x="411480" y="1600200"/>
          <a:ext cx="502920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806440" y="1783080"/>
            <a:ext cx="5745175" cy="365760"/>
          </a:xfrm>
          <a:prstGeom prst="rect">
            <a:avLst/>
          </a:prstGeom>
          <a:noFill/>
          <a:ln/>
        </p:spPr>
        <p:txBody>
          <a:bodyPr wrap="square" lIns="0" tIns="0" rIns="0" bIns="0" rtlCol="0" anchor="ctr"/>
          <a:lstStyle/>
          <a:p>
            <a:pPr indent="0" marL="0">
              <a:buNone/>
            </a:pPr>
            <a:r>
              <a:rPr lang="en-US" sz="1400" b="1" dirty="0">
                <a:solidFill>
                  <a:srgbClr val="6E7191"/>
                </a:solidFill>
                <a:latin typeface="微軟正黑體" pitchFamily="34" charset="0"/>
                <a:ea typeface="微軟正黑體" pitchFamily="34" charset="-122"/>
                <a:cs typeface="微軟正黑體" pitchFamily="34" charset="-120"/>
              </a:rPr>
              <a:t>＊以上為推估值　【待補：實際百分比】</a:t>
            </a:r>
            <a:endParaRPr lang="en-US" sz="1400" dirty="0"/>
          </a:p>
        </p:txBody>
      </p:sp>
      <p:sp>
        <p:nvSpPr>
          <p:cNvPr id="6" name="Shape 3"/>
          <p:cNvSpPr/>
          <p:nvPr/>
        </p:nvSpPr>
        <p:spPr>
          <a:xfrm>
            <a:off x="5806440" y="2331720"/>
            <a:ext cx="237744" cy="237744"/>
          </a:xfrm>
          <a:prstGeom prst="ellipse">
            <a:avLst/>
          </a:prstGeom>
          <a:solidFill>
            <a:srgbClr val="2B2D5C"/>
          </a:solidFill>
          <a:ln/>
        </p:spPr>
      </p:sp>
      <p:sp>
        <p:nvSpPr>
          <p:cNvPr id="7" name="Text 4"/>
          <p:cNvSpPr/>
          <p:nvPr/>
        </p:nvSpPr>
        <p:spPr>
          <a:xfrm>
            <a:off x="6190488" y="2240280"/>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對外課程教材撰寫　</a:t>
            </a:r>
            <a:pPr indent="0" marL="0">
              <a:buNone/>
            </a:pPr>
            <a:r>
              <a:rPr lang="en-US" sz="1300" dirty="0">
                <a:solidFill>
                  <a:srgbClr val="6E7191"/>
                </a:solidFill>
                <a:latin typeface="微軟正黑體" pitchFamily="34" charset="0"/>
                <a:ea typeface="微軟正黑體" pitchFamily="34" charset="-122"/>
                <a:cs typeface="微軟正黑體" pitchFamily="34" charset="-120"/>
              </a:rPr>
              <a:t>40%</a:t>
            </a:r>
            <a:endParaRPr lang="en-US" sz="1600" dirty="0"/>
          </a:p>
        </p:txBody>
      </p:sp>
      <p:sp>
        <p:nvSpPr>
          <p:cNvPr id="8" name="Text 5"/>
          <p:cNvSpPr/>
          <p:nvPr/>
        </p:nvSpPr>
        <p:spPr>
          <a:xfrm>
            <a:off x="6190488" y="2587752"/>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寫教材要把主題徹底弄懂，花的時間比上課本身多。</a:t>
            </a:r>
            <a:endParaRPr lang="en-US" sz="1200" dirty="0"/>
          </a:p>
        </p:txBody>
      </p:sp>
      <p:sp>
        <p:nvSpPr>
          <p:cNvPr id="9" name="Shape 6"/>
          <p:cNvSpPr/>
          <p:nvPr/>
        </p:nvSpPr>
        <p:spPr>
          <a:xfrm>
            <a:off x="5806440" y="3118104"/>
            <a:ext cx="237744" cy="237744"/>
          </a:xfrm>
          <a:prstGeom prst="ellipse">
            <a:avLst/>
          </a:prstGeom>
          <a:solidFill>
            <a:srgbClr val="17A0A0"/>
          </a:solidFill>
          <a:ln/>
        </p:spPr>
      </p:sp>
      <p:sp>
        <p:nvSpPr>
          <p:cNvPr id="10" name="Text 7"/>
          <p:cNvSpPr/>
          <p:nvPr/>
        </p:nvSpPr>
        <p:spPr>
          <a:xfrm>
            <a:off x="6190488" y="3026664"/>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對外課程授課與備課　</a:t>
            </a:r>
            <a:pPr indent="0" marL="0">
              <a:buNone/>
            </a:pPr>
            <a:r>
              <a:rPr lang="en-US" sz="1300" dirty="0">
                <a:solidFill>
                  <a:srgbClr val="6E7191"/>
                </a:solidFill>
                <a:latin typeface="微軟正黑體" pitchFamily="34" charset="0"/>
                <a:ea typeface="微軟正黑體" pitchFamily="34" charset="-122"/>
                <a:cs typeface="微軟正黑體" pitchFamily="34" charset="-120"/>
              </a:rPr>
              <a:t>30%</a:t>
            </a:r>
            <a:endParaRPr lang="en-US" sz="1600" dirty="0"/>
          </a:p>
        </p:txBody>
      </p:sp>
      <p:sp>
        <p:nvSpPr>
          <p:cNvPr id="11" name="Text 8"/>
          <p:cNvSpPr/>
          <p:nvPr/>
        </p:nvSpPr>
        <p:spPr>
          <a:xfrm>
            <a:off x="6190488" y="3374136"/>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含備課、講義調整與課後回饋整理。</a:t>
            </a:r>
            <a:endParaRPr lang="en-US" sz="1200" dirty="0"/>
          </a:p>
        </p:txBody>
      </p:sp>
      <p:sp>
        <p:nvSpPr>
          <p:cNvPr id="12" name="Shape 9"/>
          <p:cNvSpPr/>
          <p:nvPr/>
        </p:nvSpPr>
        <p:spPr>
          <a:xfrm>
            <a:off x="5806440" y="3904488"/>
            <a:ext cx="237744" cy="237744"/>
          </a:xfrm>
          <a:prstGeom prst="ellipse">
            <a:avLst/>
          </a:prstGeom>
          <a:solidFill>
            <a:srgbClr val="6DCFA5"/>
          </a:solidFill>
          <a:ln/>
        </p:spPr>
      </p:sp>
      <p:sp>
        <p:nvSpPr>
          <p:cNvPr id="13" name="Text 10"/>
          <p:cNvSpPr/>
          <p:nvPr/>
        </p:nvSpPr>
        <p:spPr>
          <a:xfrm>
            <a:off x="6190488" y="3813048"/>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神秘客系統開發　</a:t>
            </a:r>
            <a:pPr indent="0" marL="0">
              <a:buNone/>
            </a:pPr>
            <a:r>
              <a:rPr lang="en-US" sz="1300" dirty="0">
                <a:solidFill>
                  <a:srgbClr val="6E7191"/>
                </a:solidFill>
                <a:latin typeface="微軟正黑體" pitchFamily="34" charset="0"/>
                <a:ea typeface="微軟正黑體" pitchFamily="34" charset="-122"/>
                <a:cs typeface="微軟正黑體" pitchFamily="34" charset="-120"/>
              </a:rPr>
              <a:t>25%</a:t>
            </a:r>
            <a:endParaRPr lang="en-US" sz="1600" dirty="0"/>
          </a:p>
        </p:txBody>
      </p:sp>
      <p:sp>
        <p:nvSpPr>
          <p:cNvPr id="14" name="Text 11"/>
          <p:cNvSpPr/>
          <p:nvPr/>
        </p:nvSpPr>
        <p:spPr>
          <a:xfrm>
            <a:off x="6190488" y="4160520"/>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從需求訪談、開發到上線。</a:t>
            </a:r>
            <a:endParaRPr lang="en-US" sz="1200" dirty="0"/>
          </a:p>
        </p:txBody>
      </p:sp>
      <p:sp>
        <p:nvSpPr>
          <p:cNvPr id="15" name="Shape 12"/>
          <p:cNvSpPr/>
          <p:nvPr/>
        </p:nvSpPr>
        <p:spPr>
          <a:xfrm>
            <a:off x="5806440" y="4690872"/>
            <a:ext cx="237744" cy="237744"/>
          </a:xfrm>
          <a:prstGeom prst="ellipse">
            <a:avLst/>
          </a:prstGeom>
          <a:solidFill>
            <a:srgbClr val="AEB4E4"/>
          </a:solidFill>
          <a:ln/>
        </p:spPr>
      </p:sp>
      <p:sp>
        <p:nvSpPr>
          <p:cNvPr id="16" name="Text 13"/>
          <p:cNvSpPr/>
          <p:nvPr/>
        </p:nvSpPr>
        <p:spPr>
          <a:xfrm>
            <a:off x="6190488" y="4599432"/>
            <a:ext cx="5361127" cy="365760"/>
          </a:xfrm>
          <a:prstGeom prst="rect">
            <a:avLst/>
          </a:prstGeom>
          <a:noFill/>
          <a:ln/>
        </p:spPr>
        <p:txBody>
          <a:bodyPr wrap="square" lIns="0" tIns="0" rIns="0" bIns="0" rtlCol="0" anchor="ctr"/>
          <a:lstStyle/>
          <a:p>
            <a:pPr indent="0" marL="0">
              <a:buNone/>
            </a:pPr>
            <a:r>
              <a:rPr lang="en-US" sz="1600" b="1" dirty="0">
                <a:solidFill>
                  <a:srgbClr val="2B2D5C"/>
                </a:solidFill>
                <a:latin typeface="微軟正黑體" pitchFamily="34" charset="0"/>
                <a:ea typeface="微軟正黑體" pitchFamily="34" charset="-122"/>
                <a:cs typeface="微軟正黑體" pitchFamily="34" charset="-120"/>
              </a:rPr>
              <a:t>其他（會議、行政、學習）　</a:t>
            </a:r>
            <a:pPr indent="0" marL="0">
              <a:buNone/>
            </a:pPr>
            <a:r>
              <a:rPr lang="en-US" sz="1300" dirty="0">
                <a:solidFill>
                  <a:srgbClr val="6E7191"/>
                </a:solidFill>
                <a:latin typeface="微軟正黑體" pitchFamily="34" charset="0"/>
                <a:ea typeface="微軟正黑體" pitchFamily="34" charset="-122"/>
                <a:cs typeface="微軟正黑體" pitchFamily="34" charset="-120"/>
              </a:rPr>
              <a:t>5%</a:t>
            </a:r>
            <a:endParaRPr lang="en-US" sz="1600" dirty="0"/>
          </a:p>
        </p:txBody>
      </p:sp>
      <p:sp>
        <p:nvSpPr>
          <p:cNvPr id="17" name="Text 14"/>
          <p:cNvSpPr/>
          <p:nvPr/>
        </p:nvSpPr>
        <p:spPr>
          <a:xfrm>
            <a:off x="6190488" y="4946904"/>
            <a:ext cx="5361127" cy="329184"/>
          </a:xfrm>
          <a:prstGeom prst="rect">
            <a:avLst/>
          </a:prstGeom>
          <a:noFill/>
          <a:ln/>
        </p:spPr>
        <p:txBody>
          <a:bodyPr wrap="square" lIns="0" tIns="0" rIns="0" bIns="0" rtlCol="0" anchor="t"/>
          <a:lstStyle/>
          <a:p>
            <a:pPr indent="0" marL="0">
              <a:buNone/>
            </a:pPr>
            <a:r>
              <a:rPr lang="en-US" sz="1200" dirty="0">
                <a:solidFill>
                  <a:srgbClr val="6E7191"/>
                </a:solidFill>
                <a:latin typeface="微軟正黑體" pitchFamily="34" charset="0"/>
                <a:ea typeface="微軟正黑體" pitchFamily="34" charset="-122"/>
                <a:cs typeface="微軟正黑體" pitchFamily="34" charset="-120"/>
              </a:rPr>
              <a:t>部門會議、行政作業與自主學習。</a:t>
            </a:r>
            <a:endParaRPr lang="en-US" sz="1200" dirty="0"/>
          </a:p>
        </p:txBody>
      </p:sp>
      <p:sp>
        <p:nvSpPr>
          <p:cNvPr id="18" name="Text 15"/>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五、學習心得</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學習心得</a:t>
            </a:r>
            <a:endParaRPr lang="en-US" sz="3200" dirty="0"/>
          </a:p>
        </p:txBody>
      </p:sp>
      <p:sp>
        <p:nvSpPr>
          <p:cNvPr id="4" name="Shape 2"/>
          <p:cNvSpPr/>
          <p:nvPr/>
        </p:nvSpPr>
        <p:spPr>
          <a:xfrm>
            <a:off x="640080" y="1920240"/>
            <a:ext cx="3393338" cy="3246120"/>
          </a:xfrm>
          <a:prstGeom prst="roundRect">
            <a:avLst>
              <a:gd name="adj" fmla="val 1690"/>
            </a:avLst>
          </a:prstGeom>
          <a:solidFill>
            <a:srgbClr val="D6D9F0"/>
          </a:solidFill>
          <a:ln/>
          <a:effectLst>
            <a:outerShdw sx="100000" sy="100000" kx="0" ky="0" algn="bl" rotWithShape="0" blurRad="101600" dist="25400" dir="5400000">
              <a:srgbClr val="9AA0BF">
                <a:alpha val="22000"/>
              </a:srgbClr>
            </a:outerShdw>
          </a:effectLst>
        </p:spPr>
      </p:sp>
      <p:sp>
        <p:nvSpPr>
          <p:cNvPr id="5" name="Text 3"/>
          <p:cNvSpPr/>
          <p:nvPr/>
        </p:nvSpPr>
        <p:spPr>
          <a:xfrm>
            <a:off x="914400" y="2148840"/>
            <a:ext cx="2844698" cy="411480"/>
          </a:xfrm>
          <a:prstGeom prst="rect">
            <a:avLst/>
          </a:prstGeom>
          <a:noFill/>
          <a:ln/>
        </p:spPr>
        <p:txBody>
          <a:bodyPr wrap="square" lIns="0" tIns="0" rIns="0" bIns="0" rtlCol="0" anchor="ctr"/>
          <a:lstStyle/>
          <a:p>
            <a:pPr algn="ctr" indent="0" marL="0">
              <a:buNone/>
            </a:pPr>
            <a:r>
              <a:rPr lang="en-US" sz="1400" b="1" dirty="0">
                <a:solidFill>
                  <a:srgbClr val="3F4468"/>
                </a:solidFill>
                <a:latin typeface="微軟正黑體" pitchFamily="34" charset="0"/>
                <a:ea typeface="微軟正黑體" pitchFamily="34" charset="-122"/>
                <a:cs typeface="微軟正黑體" pitchFamily="34" charset="-120"/>
              </a:rPr>
              <a:t>收穫最多</a:t>
            </a:r>
            <a:endParaRPr lang="en-US" sz="1400" dirty="0"/>
          </a:p>
        </p:txBody>
      </p:sp>
      <p:sp>
        <p:nvSpPr>
          <p:cNvPr id="6" name="Text 4"/>
          <p:cNvSpPr/>
          <p:nvPr/>
        </p:nvSpPr>
        <p:spPr>
          <a:xfrm>
            <a:off x="896112" y="2651760"/>
            <a:ext cx="2881274" cy="914400"/>
          </a:xfrm>
          <a:prstGeom prst="rect">
            <a:avLst/>
          </a:prstGeom>
          <a:noFill/>
          <a:ln/>
        </p:spPr>
        <p:txBody>
          <a:bodyPr wrap="square" lIns="0" tIns="0" rIns="0" bIns="0" rtlCol="0" anchor="ctr"/>
          <a:lstStyle/>
          <a:p>
            <a:pPr algn="ctr" indent="0" marL="0">
              <a:lnSpc>
                <a:spcPct val="115000"/>
              </a:lnSpc>
              <a:buNone/>
            </a:pPr>
            <a:r>
              <a:rPr lang="en-US" sz="2300" b="1" dirty="0">
                <a:solidFill>
                  <a:srgbClr val="2B2D5C"/>
                </a:solidFill>
                <a:latin typeface="微軟正黑體" pitchFamily="34" charset="0"/>
                <a:ea typeface="微軟正黑體" pitchFamily="34" charset="-122"/>
                <a:cs typeface="微軟正黑體" pitchFamily="34" charset="-120"/>
              </a:rPr>
              <a:t>從使用者身上學需求</a:t>
            </a:r>
            <a:endParaRPr lang="en-US" sz="2300" dirty="0"/>
          </a:p>
        </p:txBody>
      </p:sp>
      <p:sp>
        <p:nvSpPr>
          <p:cNvPr id="7" name="Text 5"/>
          <p:cNvSpPr/>
          <p:nvPr/>
        </p:nvSpPr>
        <p:spPr>
          <a:xfrm>
            <a:off x="932688" y="3657600"/>
            <a:ext cx="2808122" cy="1371600"/>
          </a:xfrm>
          <a:prstGeom prst="rect">
            <a:avLst/>
          </a:prstGeom>
          <a:noFill/>
          <a:ln/>
        </p:spPr>
        <p:txBody>
          <a:bodyPr wrap="square" lIns="0" tIns="0" rIns="0" bIns="0" rtlCol="0" anchor="t"/>
          <a:lstStyle/>
          <a:p>
            <a:pPr algn="ctr" indent="0" marL="0">
              <a:lnSpc>
                <a:spcPct val="135000"/>
              </a:lnSpc>
              <a:buNone/>
            </a:pPr>
            <a:r>
              <a:rPr lang="en-US" sz="1300" dirty="0">
                <a:solidFill>
                  <a:srgbClr val="2B2D5C"/>
                </a:solidFill>
                <a:latin typeface="微軟正黑體" pitchFamily="34" charset="0"/>
                <a:ea typeface="微軟正黑體" pitchFamily="34" charset="-122"/>
                <a:cs typeface="微軟正黑體" pitchFamily="34" charset="-120"/>
              </a:rPr>
              <a:t>不管是寫教材還是做系統，難的都不是技術，是搞懂對方到底要什麼。</a:t>
            </a:r>
            <a:endParaRPr lang="en-US" sz="1300" dirty="0"/>
          </a:p>
        </p:txBody>
      </p:sp>
      <p:sp>
        <p:nvSpPr>
          <p:cNvPr id="8" name="Shape 6"/>
          <p:cNvSpPr/>
          <p:nvPr/>
        </p:nvSpPr>
        <p:spPr>
          <a:xfrm>
            <a:off x="4399178" y="1920240"/>
            <a:ext cx="3393338" cy="3246120"/>
          </a:xfrm>
          <a:prstGeom prst="roundRect">
            <a:avLst>
              <a:gd name="adj" fmla="val 1690"/>
            </a:avLst>
          </a:prstGeom>
          <a:solidFill>
            <a:srgbClr val="6DCFA5"/>
          </a:solidFill>
          <a:ln/>
          <a:effectLst>
            <a:outerShdw sx="100000" sy="100000" kx="0" ky="0" algn="bl" rotWithShape="0" blurRad="101600" dist="25400" dir="5400000">
              <a:srgbClr val="9AA0BF">
                <a:alpha val="22000"/>
              </a:srgbClr>
            </a:outerShdw>
          </a:effectLst>
        </p:spPr>
      </p:sp>
      <p:sp>
        <p:nvSpPr>
          <p:cNvPr id="9" name="Text 7"/>
          <p:cNvSpPr/>
          <p:nvPr/>
        </p:nvSpPr>
        <p:spPr>
          <a:xfrm>
            <a:off x="4673498" y="2148840"/>
            <a:ext cx="2844698" cy="411480"/>
          </a:xfrm>
          <a:prstGeom prst="rect">
            <a:avLst/>
          </a:prstGeom>
          <a:noFill/>
          <a:ln/>
        </p:spPr>
        <p:txBody>
          <a:bodyPr wrap="square" lIns="0" tIns="0" rIns="0" bIns="0" rtlCol="0" anchor="ctr"/>
          <a:lstStyle/>
          <a:p>
            <a:pPr algn="ctr" indent="0" marL="0">
              <a:buNone/>
            </a:pPr>
            <a:r>
              <a:rPr lang="en-US" sz="1400" b="1" dirty="0">
                <a:solidFill>
                  <a:srgbClr val="3F4468"/>
                </a:solidFill>
                <a:latin typeface="微軟正黑體" pitchFamily="34" charset="0"/>
                <a:ea typeface="微軟正黑體" pitchFamily="34" charset="-122"/>
                <a:cs typeface="微軟正黑體" pitchFamily="34" charset="-120"/>
              </a:rPr>
              <a:t>最有成就感</a:t>
            </a:r>
            <a:endParaRPr lang="en-US" sz="1400" dirty="0"/>
          </a:p>
        </p:txBody>
      </p:sp>
      <p:sp>
        <p:nvSpPr>
          <p:cNvPr id="10" name="Text 8"/>
          <p:cNvSpPr/>
          <p:nvPr/>
        </p:nvSpPr>
        <p:spPr>
          <a:xfrm>
            <a:off x="4655210" y="2651760"/>
            <a:ext cx="2881274" cy="914400"/>
          </a:xfrm>
          <a:prstGeom prst="rect">
            <a:avLst/>
          </a:prstGeom>
          <a:noFill/>
          <a:ln/>
        </p:spPr>
        <p:txBody>
          <a:bodyPr wrap="square" lIns="0" tIns="0" rIns="0" bIns="0" rtlCol="0" anchor="ctr"/>
          <a:lstStyle/>
          <a:p>
            <a:pPr algn="ctr" indent="0" marL="0">
              <a:lnSpc>
                <a:spcPct val="115000"/>
              </a:lnSpc>
              <a:buNone/>
            </a:pPr>
            <a:r>
              <a:rPr lang="en-US" sz="2300" b="1" dirty="0">
                <a:solidFill>
                  <a:srgbClr val="2B2D5C"/>
                </a:solidFill>
                <a:latin typeface="微軟正黑體" pitchFamily="34" charset="0"/>
                <a:ea typeface="微軟正黑體" pitchFamily="34" charset="-122"/>
                <a:cs typeface="微軟正黑體" pitchFamily="34" charset="-120"/>
              </a:rPr>
              <a:t>系統真的被用起來</a:t>
            </a:r>
            <a:endParaRPr lang="en-US" sz="2300" dirty="0"/>
          </a:p>
        </p:txBody>
      </p:sp>
      <p:sp>
        <p:nvSpPr>
          <p:cNvPr id="11" name="Text 9"/>
          <p:cNvSpPr/>
          <p:nvPr/>
        </p:nvSpPr>
        <p:spPr>
          <a:xfrm>
            <a:off x="4691786" y="3657600"/>
            <a:ext cx="2808122" cy="1371600"/>
          </a:xfrm>
          <a:prstGeom prst="rect">
            <a:avLst/>
          </a:prstGeom>
          <a:noFill/>
          <a:ln/>
        </p:spPr>
        <p:txBody>
          <a:bodyPr wrap="square" lIns="0" tIns="0" rIns="0" bIns="0" rtlCol="0" anchor="t"/>
          <a:lstStyle/>
          <a:p>
            <a:pPr algn="ctr" indent="0" marL="0">
              <a:lnSpc>
                <a:spcPct val="135000"/>
              </a:lnSpc>
              <a:buNone/>
            </a:pPr>
            <a:r>
              <a:rPr lang="en-US" sz="1300" dirty="0">
                <a:solidFill>
                  <a:srgbClr val="2B2D5C"/>
                </a:solidFill>
                <a:latin typeface="微軟正黑體" pitchFamily="34" charset="0"/>
                <a:ea typeface="微軟正黑體" pitchFamily="34" charset="-122"/>
                <a:cs typeface="微軟正黑體" pitchFamily="34" charset="-120"/>
              </a:rPr>
              <a:t>不是 demo，是每個月都有人真的登入在用。做出能動的東西不難，做出有人用的東西完全不一樣。</a:t>
            </a:r>
            <a:endParaRPr lang="en-US" sz="1300" dirty="0"/>
          </a:p>
        </p:txBody>
      </p:sp>
      <p:sp>
        <p:nvSpPr>
          <p:cNvPr id="12" name="Shape 10"/>
          <p:cNvSpPr/>
          <p:nvPr/>
        </p:nvSpPr>
        <p:spPr>
          <a:xfrm>
            <a:off x="8158277" y="1920240"/>
            <a:ext cx="3393338" cy="3246120"/>
          </a:xfrm>
          <a:prstGeom prst="roundRect">
            <a:avLst>
              <a:gd name="adj" fmla="val 1690"/>
            </a:avLst>
          </a:prstGeom>
          <a:solidFill>
            <a:srgbClr val="F2E2DA"/>
          </a:solidFill>
          <a:ln/>
          <a:effectLst>
            <a:outerShdw sx="100000" sy="100000" kx="0" ky="0" algn="bl" rotWithShape="0" blurRad="101600" dist="25400" dir="5400000">
              <a:srgbClr val="9AA0BF">
                <a:alpha val="22000"/>
              </a:srgbClr>
            </a:outerShdw>
          </a:effectLst>
        </p:spPr>
      </p:sp>
      <p:sp>
        <p:nvSpPr>
          <p:cNvPr id="13" name="Text 11"/>
          <p:cNvSpPr/>
          <p:nvPr/>
        </p:nvSpPr>
        <p:spPr>
          <a:xfrm>
            <a:off x="8432597" y="2148840"/>
            <a:ext cx="2844698" cy="411480"/>
          </a:xfrm>
          <a:prstGeom prst="rect">
            <a:avLst/>
          </a:prstGeom>
          <a:noFill/>
          <a:ln/>
        </p:spPr>
        <p:txBody>
          <a:bodyPr wrap="square" lIns="0" tIns="0" rIns="0" bIns="0" rtlCol="0" anchor="ctr"/>
          <a:lstStyle/>
          <a:p>
            <a:pPr algn="ctr" indent="0" marL="0">
              <a:buNone/>
            </a:pPr>
            <a:r>
              <a:rPr lang="en-US" sz="1400" b="1" dirty="0">
                <a:solidFill>
                  <a:srgbClr val="3F4468"/>
                </a:solidFill>
                <a:latin typeface="微軟正黑體" pitchFamily="34" charset="0"/>
                <a:ea typeface="微軟正黑體" pitchFamily="34" charset="-122"/>
                <a:cs typeface="微軟正黑體" pitchFamily="34" charset="-120"/>
              </a:rPr>
              <a:t>最挑戰</a:t>
            </a:r>
            <a:endParaRPr lang="en-US" sz="1400" dirty="0"/>
          </a:p>
        </p:txBody>
      </p:sp>
      <p:sp>
        <p:nvSpPr>
          <p:cNvPr id="14" name="Text 12"/>
          <p:cNvSpPr/>
          <p:nvPr/>
        </p:nvSpPr>
        <p:spPr>
          <a:xfrm>
            <a:off x="8414309" y="2651760"/>
            <a:ext cx="2881274" cy="914400"/>
          </a:xfrm>
          <a:prstGeom prst="rect">
            <a:avLst/>
          </a:prstGeom>
          <a:noFill/>
          <a:ln/>
        </p:spPr>
        <p:txBody>
          <a:bodyPr wrap="square" lIns="0" tIns="0" rIns="0" bIns="0" rtlCol="0" anchor="ctr"/>
          <a:lstStyle/>
          <a:p>
            <a:pPr algn="ctr" indent="0" marL="0">
              <a:lnSpc>
                <a:spcPct val="115000"/>
              </a:lnSpc>
              <a:buNone/>
            </a:pPr>
            <a:r>
              <a:rPr lang="en-US" sz="2300" b="1" dirty="0">
                <a:solidFill>
                  <a:srgbClr val="2B2D5C"/>
                </a:solidFill>
                <a:latin typeface="微軟正黑體" pitchFamily="34" charset="0"/>
                <a:ea typeface="微軟正黑體" pitchFamily="34" charset="-122"/>
                <a:cs typeface="微軟正黑體" pitchFamily="34" charset="-120"/>
              </a:rPr>
              <a:t>判斷什麼不該做</a:t>
            </a:r>
            <a:endParaRPr lang="en-US" sz="2300" dirty="0"/>
          </a:p>
        </p:txBody>
      </p:sp>
      <p:sp>
        <p:nvSpPr>
          <p:cNvPr id="15" name="Text 13"/>
          <p:cNvSpPr/>
          <p:nvPr/>
        </p:nvSpPr>
        <p:spPr>
          <a:xfrm>
            <a:off x="8450885" y="3657600"/>
            <a:ext cx="2808122" cy="1371600"/>
          </a:xfrm>
          <a:prstGeom prst="rect">
            <a:avLst/>
          </a:prstGeom>
          <a:noFill/>
          <a:ln/>
        </p:spPr>
        <p:txBody>
          <a:bodyPr wrap="square" lIns="0" tIns="0" rIns="0" bIns="0" rtlCol="0" anchor="t"/>
          <a:lstStyle/>
          <a:p>
            <a:pPr algn="ctr" indent="0" marL="0">
              <a:lnSpc>
                <a:spcPct val="135000"/>
              </a:lnSpc>
              <a:buNone/>
            </a:pPr>
            <a:r>
              <a:rPr lang="en-US" sz="1300" dirty="0">
                <a:solidFill>
                  <a:srgbClr val="2B2D5C"/>
                </a:solidFill>
                <a:latin typeface="微軟正黑體" pitchFamily="34" charset="0"/>
                <a:ea typeface="微軟正黑體" pitchFamily="34" charset="-122"/>
                <a:cs typeface="微軟正黑體" pitchFamily="34" charset="-120"/>
              </a:rPr>
              <a:t>用 AI 開發很快，快到想到什麼功能都做得出來，反而要克制——這是使用者需要的，還是我想做的？</a:t>
            </a:r>
            <a:endParaRPr lang="en-US" sz="1300" dirty="0"/>
          </a:p>
        </p:txBody>
      </p:sp>
      <p:sp>
        <p:nvSpPr>
          <p:cNvPr id="16" name="Text 14"/>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048"/>
        </a:solidFill>
      </p:bgPr>
    </p:bg>
    <p:spTree>
      <p:nvGrpSpPr>
        <p:cNvPr id="1" name=""/>
        <p:cNvGrpSpPr/>
        <p:nvPr/>
      </p:nvGrpSpPr>
      <p:grpSpPr>
        <a:xfrm>
          <a:off x="0" y="0"/>
          <a:ext cx="0" cy="0"/>
          <a:chOff x="0" y="0"/>
          <a:chExt cx="0" cy="0"/>
        </a:xfrm>
      </p:grpSpPr>
      <p:sp>
        <p:nvSpPr>
          <p:cNvPr id="2" name="Text 0"/>
          <p:cNvSpPr/>
          <p:nvPr/>
        </p:nvSpPr>
        <p:spPr>
          <a:xfrm>
            <a:off x="640080" y="1051560"/>
            <a:ext cx="4572000" cy="457200"/>
          </a:xfrm>
          <a:prstGeom prst="rect">
            <a:avLst/>
          </a:prstGeom>
          <a:noFill/>
          <a:ln/>
        </p:spPr>
        <p:txBody>
          <a:bodyPr wrap="square" lIns="0" tIns="0" rIns="0" bIns="0" rtlCol="0" anchor="ctr"/>
          <a:lstStyle/>
          <a:p>
            <a:pPr indent="0" marL="0">
              <a:buNone/>
            </a:pPr>
            <a:r>
              <a:rPr lang="en-US" sz="1500" b="1" dirty="0">
                <a:solidFill>
                  <a:srgbClr val="AEB4E4"/>
                </a:solidFill>
                <a:latin typeface="微軟正黑體" pitchFamily="34" charset="0"/>
                <a:ea typeface="微軟正黑體" pitchFamily="34" charset="-122"/>
                <a:cs typeface="微軟正黑體" pitchFamily="34" charset="-120"/>
              </a:rPr>
              <a:t>五、學習心得</a:t>
            </a:r>
            <a:endParaRPr lang="en-US" sz="1500" dirty="0"/>
          </a:p>
        </p:txBody>
      </p:sp>
      <p:sp>
        <p:nvSpPr>
          <p:cNvPr id="3" name="Text 1"/>
          <p:cNvSpPr/>
          <p:nvPr/>
        </p:nvSpPr>
        <p:spPr>
          <a:xfrm>
            <a:off x="640080" y="1600200"/>
            <a:ext cx="10911535" cy="640080"/>
          </a:xfrm>
          <a:prstGeom prst="rect">
            <a:avLst/>
          </a:prstGeom>
          <a:noFill/>
          <a:ln/>
        </p:spPr>
        <p:txBody>
          <a:bodyPr wrap="square" lIns="0" tIns="0" rIns="0" bIns="0" rtlCol="0" anchor="ctr"/>
          <a:lstStyle/>
          <a:p>
            <a:pPr indent="0" marL="0">
              <a:buNone/>
            </a:pPr>
            <a:r>
              <a:rPr lang="en-US" sz="2400" dirty="0">
                <a:solidFill>
                  <a:srgbClr val="D6D9F0"/>
                </a:solidFill>
                <a:latin typeface="微軟正黑體" pitchFamily="34" charset="0"/>
                <a:ea typeface="微軟正黑體" pitchFamily="34" charset="-122"/>
                <a:cs typeface="微軟正黑體" pitchFamily="34" charset="-120"/>
              </a:rPr>
              <a:t>三個月最重要的一課</a:t>
            </a:r>
            <a:endParaRPr lang="en-US" sz="2400" dirty="0"/>
          </a:p>
        </p:txBody>
      </p:sp>
      <p:sp>
        <p:nvSpPr>
          <p:cNvPr id="4" name="Text 2"/>
          <p:cNvSpPr/>
          <p:nvPr/>
        </p:nvSpPr>
        <p:spPr>
          <a:xfrm>
            <a:off x="640080" y="2377440"/>
            <a:ext cx="10911535" cy="1737360"/>
          </a:xfrm>
          <a:prstGeom prst="rect">
            <a:avLst/>
          </a:prstGeom>
          <a:noFill/>
          <a:ln/>
        </p:spPr>
        <p:txBody>
          <a:bodyPr wrap="square" lIns="0" tIns="0" rIns="0" bIns="0" rtlCol="0" anchor="ctr"/>
          <a:lstStyle/>
          <a:p>
            <a:pPr indent="0" marL="0">
              <a:lnSpc>
                <a:spcPct val="125000"/>
              </a:lnSpc>
              <a:buNone/>
            </a:pPr>
            <a:r>
              <a:rPr lang="en-US" sz="4000" b="1" dirty="0">
                <a:solidFill>
                  <a:srgbClr val="FFFFFF"/>
                </a:solidFill>
                <a:latin typeface="微軟正黑體" pitchFamily="34" charset="0"/>
                <a:ea typeface="微軟正黑體" pitchFamily="34" charset="-122"/>
                <a:cs typeface="微軟正黑體" pitchFamily="34" charset="-120"/>
              </a:rPr>
              <a:t>從「做出功能」</a:t>
            </a:r>
            <a:endParaRPr lang="en-US" sz="4000" dirty="0"/>
          </a:p>
          <a:p>
            <a:pPr indent="0" marL="0">
              <a:lnSpc>
                <a:spcPct val="125000"/>
              </a:lnSpc>
              <a:buNone/>
            </a:pPr>
            <a:r>
              <a:rPr lang="en-US" sz="4000" b="1" dirty="0">
                <a:solidFill>
                  <a:srgbClr val="FFFFFF"/>
                </a:solidFill>
                <a:latin typeface="微軟正黑體" pitchFamily="34" charset="0"/>
                <a:ea typeface="微軟正黑體" pitchFamily="34" charset="-122"/>
                <a:cs typeface="微軟正黑體" pitchFamily="34" charset="-120"/>
              </a:rPr>
              <a:t>到「交付一個會被用的系統」</a:t>
            </a:r>
            <a:endParaRPr lang="en-US" sz="4000" dirty="0"/>
          </a:p>
        </p:txBody>
      </p:sp>
      <p:sp>
        <p:nvSpPr>
          <p:cNvPr id="5" name="Shape 3"/>
          <p:cNvSpPr/>
          <p:nvPr/>
        </p:nvSpPr>
        <p:spPr>
          <a:xfrm>
            <a:off x="640080" y="4434840"/>
            <a:ext cx="3423818" cy="1371600"/>
          </a:xfrm>
          <a:prstGeom prst="roundRect">
            <a:avLst>
              <a:gd name="adj" fmla="val 4000"/>
            </a:avLst>
          </a:prstGeom>
          <a:solidFill>
            <a:srgbClr val="2E3266"/>
          </a:solidFill>
          <a:ln/>
        </p:spPr>
      </p:sp>
      <p:sp>
        <p:nvSpPr>
          <p:cNvPr id="6" name="Text 4"/>
          <p:cNvSpPr/>
          <p:nvPr/>
        </p:nvSpPr>
        <p:spPr>
          <a:xfrm>
            <a:off x="896112" y="4434840"/>
            <a:ext cx="2911754" cy="1371600"/>
          </a:xfrm>
          <a:prstGeom prst="rect">
            <a:avLst/>
          </a:prstGeom>
          <a:noFill/>
          <a:ln/>
        </p:spPr>
        <p:txBody>
          <a:bodyPr wrap="square" lIns="0" tIns="0" rIns="0" bIns="0" rtlCol="0" anchor="ctr"/>
          <a:lstStyle/>
          <a:p>
            <a:pPr indent="0" marL="0">
              <a:lnSpc>
                <a:spcPct val="130000"/>
              </a:lnSpc>
              <a:buNone/>
            </a:pPr>
            <a:r>
              <a:rPr lang="en-US" sz="1350" dirty="0">
                <a:solidFill>
                  <a:srgbClr val="D6D9F0"/>
                </a:solidFill>
                <a:latin typeface="微軟正黑體" pitchFamily="34" charset="0"/>
                <a:ea typeface="微軟正黑體" pitchFamily="34" charset="-122"/>
                <a:cs typeface="微軟正黑體" pitchFamily="34" charset="-120"/>
              </a:rPr>
              <a:t>功能做完 ≠ 交付完成</a:t>
            </a:r>
            <a:endParaRPr lang="en-US" sz="1350" dirty="0"/>
          </a:p>
        </p:txBody>
      </p:sp>
      <p:sp>
        <p:nvSpPr>
          <p:cNvPr id="7" name="Shape 5"/>
          <p:cNvSpPr/>
          <p:nvPr/>
        </p:nvSpPr>
        <p:spPr>
          <a:xfrm>
            <a:off x="4383938" y="4434840"/>
            <a:ext cx="3423818" cy="1371600"/>
          </a:xfrm>
          <a:prstGeom prst="roundRect">
            <a:avLst>
              <a:gd name="adj" fmla="val 4000"/>
            </a:avLst>
          </a:prstGeom>
          <a:solidFill>
            <a:srgbClr val="2E3266"/>
          </a:solidFill>
          <a:ln/>
        </p:spPr>
      </p:sp>
      <p:sp>
        <p:nvSpPr>
          <p:cNvPr id="8" name="Text 6"/>
          <p:cNvSpPr/>
          <p:nvPr/>
        </p:nvSpPr>
        <p:spPr>
          <a:xfrm>
            <a:off x="4639970" y="4434840"/>
            <a:ext cx="2911754" cy="1371600"/>
          </a:xfrm>
          <a:prstGeom prst="rect">
            <a:avLst/>
          </a:prstGeom>
          <a:noFill/>
          <a:ln/>
        </p:spPr>
        <p:txBody>
          <a:bodyPr wrap="square" lIns="0" tIns="0" rIns="0" bIns="0" rtlCol="0" anchor="ctr"/>
          <a:lstStyle/>
          <a:p>
            <a:pPr indent="0" marL="0">
              <a:lnSpc>
                <a:spcPct val="130000"/>
              </a:lnSpc>
              <a:buNone/>
            </a:pPr>
            <a:r>
              <a:rPr lang="en-US" sz="1350" dirty="0">
                <a:solidFill>
                  <a:srgbClr val="D6D9F0"/>
                </a:solidFill>
                <a:latin typeface="微軟正黑體" pitchFamily="34" charset="0"/>
                <a:ea typeface="微軟正黑體" pitchFamily="34" charset="-122"/>
                <a:cs typeface="微軟正黑體" pitchFamily="34" charset="-120"/>
              </a:rPr>
              <a:t>要考慮：誰在用、人事異動了怎麼辦、被評分的人不服氣怎麼辦</a:t>
            </a:r>
            <a:endParaRPr lang="en-US" sz="1350" dirty="0"/>
          </a:p>
        </p:txBody>
      </p:sp>
      <p:sp>
        <p:nvSpPr>
          <p:cNvPr id="9" name="Shape 7"/>
          <p:cNvSpPr/>
          <p:nvPr/>
        </p:nvSpPr>
        <p:spPr>
          <a:xfrm>
            <a:off x="8127797" y="4434840"/>
            <a:ext cx="3423818" cy="1371600"/>
          </a:xfrm>
          <a:prstGeom prst="roundRect">
            <a:avLst>
              <a:gd name="adj" fmla="val 4000"/>
            </a:avLst>
          </a:prstGeom>
          <a:solidFill>
            <a:srgbClr val="2E3266"/>
          </a:solidFill>
          <a:ln/>
        </p:spPr>
      </p:sp>
      <p:sp>
        <p:nvSpPr>
          <p:cNvPr id="10" name="Text 8"/>
          <p:cNvSpPr/>
          <p:nvPr/>
        </p:nvSpPr>
        <p:spPr>
          <a:xfrm>
            <a:off x="8383829" y="4434840"/>
            <a:ext cx="2911754" cy="1371600"/>
          </a:xfrm>
          <a:prstGeom prst="rect">
            <a:avLst/>
          </a:prstGeom>
          <a:noFill/>
          <a:ln/>
        </p:spPr>
        <p:txBody>
          <a:bodyPr wrap="square" lIns="0" tIns="0" rIns="0" bIns="0" rtlCol="0" anchor="ctr"/>
          <a:lstStyle/>
          <a:p>
            <a:pPr indent="0" marL="0">
              <a:lnSpc>
                <a:spcPct val="130000"/>
              </a:lnSpc>
              <a:buNone/>
            </a:pPr>
            <a:r>
              <a:rPr lang="en-US" sz="1350" dirty="0">
                <a:solidFill>
                  <a:srgbClr val="D6D9F0"/>
                </a:solidFill>
                <a:latin typeface="微軟正黑體" pitchFamily="34" charset="0"/>
                <a:ea typeface="微軟正黑體" pitchFamily="34" charset="-122"/>
                <a:cs typeface="微軟正黑體" pitchFamily="34" charset="-120"/>
              </a:rPr>
              <a:t>這些都不是技術問題，但不解決，系統就不會有人用</a:t>
            </a:r>
            <a:endParaRPr lang="en-US" sz="1350" dirty="0"/>
          </a:p>
        </p:txBody>
      </p:sp>
      <p:sp>
        <p:nvSpPr>
          <p:cNvPr id="11" name="Text 9"/>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7A80AE"/>
                </a:solidFill>
                <a:latin typeface="微軟正黑體" pitchFamily="34" charset="0"/>
                <a:ea typeface="微軟正黑體" pitchFamily="34" charset="-122"/>
                <a:cs typeface="微軟正黑體"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六、職涯規劃</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職涯規劃</a:t>
            </a:r>
            <a:endParaRPr lang="en-US" sz="3200" dirty="0"/>
          </a:p>
        </p:txBody>
      </p:sp>
      <p:sp>
        <p:nvSpPr>
          <p:cNvPr id="4" name="Shape 2"/>
          <p:cNvSpPr/>
          <p:nvPr/>
        </p:nvSpPr>
        <p:spPr>
          <a:xfrm>
            <a:off x="640080" y="1965960"/>
            <a:ext cx="3393338" cy="3108960"/>
          </a:xfrm>
          <a:prstGeom prst="roundRect">
            <a:avLst>
              <a:gd name="adj" fmla="val 1765"/>
            </a:avLst>
          </a:prstGeom>
          <a:solidFill>
            <a:srgbClr val="D6D9F0"/>
          </a:solidFill>
          <a:ln/>
          <a:effectLst>
            <a:outerShdw sx="100000" sy="100000" kx="0" ky="0" algn="bl" rotWithShape="0" blurRad="101600" dist="25400" dir="5400000">
              <a:srgbClr val="9AA0BF">
                <a:alpha val="22000"/>
              </a:srgbClr>
            </a:outerShdw>
          </a:effectLst>
        </p:spPr>
      </p:sp>
      <p:sp>
        <p:nvSpPr>
          <p:cNvPr id="5" name="Text 3"/>
          <p:cNvSpPr/>
          <p:nvPr/>
        </p:nvSpPr>
        <p:spPr>
          <a:xfrm>
            <a:off x="914400" y="2148840"/>
            <a:ext cx="2844698" cy="566928"/>
          </a:xfrm>
          <a:prstGeom prst="rect">
            <a:avLst/>
          </a:prstGeom>
          <a:noFill/>
          <a:ln/>
        </p:spPr>
        <p:txBody>
          <a:bodyPr wrap="square" lIns="0" tIns="0" rIns="0" bIns="0" rtlCol="0" anchor="ctr"/>
          <a:lstStyle/>
          <a:p>
            <a:pPr indent="0" marL="0">
              <a:buNone/>
            </a:pPr>
            <a:r>
              <a:rPr lang="en-US" sz="2600" b="1" dirty="0">
                <a:solidFill>
                  <a:srgbClr val="2B2D5C"/>
                </a:solidFill>
                <a:latin typeface="微軟正黑體" pitchFamily="34" charset="0"/>
                <a:ea typeface="微軟正黑體" pitchFamily="34" charset="-122"/>
                <a:cs typeface="微軟正黑體" pitchFamily="34" charset="-120"/>
              </a:rPr>
              <a:t>短期</a:t>
            </a:r>
            <a:endParaRPr lang="en-US" sz="2600" dirty="0"/>
          </a:p>
        </p:txBody>
      </p:sp>
      <p:sp>
        <p:nvSpPr>
          <p:cNvPr id="6" name="Text 4"/>
          <p:cNvSpPr/>
          <p:nvPr/>
        </p:nvSpPr>
        <p:spPr>
          <a:xfrm>
            <a:off x="914400" y="2697480"/>
            <a:ext cx="2844698" cy="365760"/>
          </a:xfrm>
          <a:prstGeom prst="rect">
            <a:avLst/>
          </a:prstGeom>
          <a:noFill/>
          <a:ln/>
        </p:spPr>
        <p:txBody>
          <a:bodyPr wrap="square" lIns="0" tIns="0" rIns="0" bIns="0" rtlCol="0" anchor="ctr"/>
          <a:lstStyle/>
          <a:p>
            <a:pPr indent="0" marL="0">
              <a:buNone/>
            </a:pPr>
            <a:r>
              <a:rPr lang="en-US" sz="1400" dirty="0">
                <a:solidFill>
                  <a:srgbClr val="4A4F7A"/>
                </a:solidFill>
                <a:latin typeface="微軟正黑體" pitchFamily="34" charset="0"/>
                <a:ea typeface="微軟正黑體" pitchFamily="34" charset="-122"/>
                <a:cs typeface="微軟正黑體" pitchFamily="34" charset="-120"/>
              </a:rPr>
              <a:t>半年</a:t>
            </a:r>
            <a:endParaRPr lang="en-US" sz="1400" dirty="0"/>
          </a:p>
        </p:txBody>
      </p:sp>
      <p:sp>
        <p:nvSpPr>
          <p:cNvPr id="7" name="Text 5"/>
          <p:cNvSpPr/>
          <p:nvPr/>
        </p:nvSpPr>
        <p:spPr>
          <a:xfrm>
            <a:off x="932688" y="3154680"/>
            <a:ext cx="2808122" cy="1783080"/>
          </a:xfrm>
          <a:prstGeom prst="rect">
            <a:avLst/>
          </a:prstGeom>
          <a:noFill/>
          <a:ln/>
        </p:spPr>
        <p:txBody>
          <a:bodyPr wrap="square" lIns="0" tIns="0" rIns="0" bIns="0" rtlCol="0" anchor="t"/>
          <a:lstStyle/>
          <a:p>
            <a:pPr marL="342900" indent="-342900">
              <a:lnSpc>
                <a:spcPct val="130000"/>
              </a:lnSpc>
              <a:spcAft>
                <a:spcPts val="1000"/>
              </a:spcAft>
              <a:buSzPct val="100000"/>
              <a:buChar char="•"/>
            </a:pPr>
            <a:r>
              <a:rPr lang="en-US" sz="1300" dirty="0">
                <a:solidFill>
                  <a:srgbClr val="2B2D5C"/>
                </a:solidFill>
                <a:latin typeface="微軟正黑體" pitchFamily="34" charset="0"/>
                <a:ea typeface="微軟正黑體" pitchFamily="34" charset="-122"/>
                <a:cs typeface="微軟正黑體" pitchFamily="34" charset="-120"/>
              </a:rPr>
              <a:t>把神秘客系統的實際效益量測出來，並依回饋持續優化</a:t>
            </a:r>
            <a:endParaRPr lang="en-US" sz="1300" dirty="0"/>
          </a:p>
          <a:p>
            <a:pPr marL="342900" indent="-342900">
              <a:lnSpc>
                <a:spcPct val="130000"/>
              </a:lnSpc>
              <a:spcAft>
                <a:spcPts val="1000"/>
              </a:spcAft>
              <a:buSzPct val="100000"/>
              <a:buChar char="•"/>
            </a:pPr>
            <a:r>
              <a:rPr lang="en-US" sz="1300" dirty="0">
                <a:solidFill>
                  <a:srgbClr val="2B2D5C"/>
                </a:solidFill>
                <a:latin typeface="微軟正黑體" pitchFamily="34" charset="0"/>
                <a:ea typeface="微軟正黑體" pitchFamily="34" charset="-122"/>
                <a:cs typeface="微軟正黑體" pitchFamily="34" charset="-120"/>
              </a:rPr>
              <a:t>參與四門課的實際開課，依學員回饋修訂教材</a:t>
            </a:r>
            <a:endParaRPr lang="en-US" sz="1300" dirty="0"/>
          </a:p>
        </p:txBody>
      </p:sp>
      <p:sp>
        <p:nvSpPr>
          <p:cNvPr id="8" name="Shape 6"/>
          <p:cNvSpPr/>
          <p:nvPr/>
        </p:nvSpPr>
        <p:spPr>
          <a:xfrm>
            <a:off x="4399178" y="1965960"/>
            <a:ext cx="3393338" cy="3108960"/>
          </a:xfrm>
          <a:prstGeom prst="roundRect">
            <a:avLst>
              <a:gd name="adj" fmla="val 1765"/>
            </a:avLst>
          </a:prstGeom>
          <a:solidFill>
            <a:srgbClr val="F7F1CE"/>
          </a:solidFill>
          <a:ln/>
          <a:effectLst>
            <a:outerShdw sx="100000" sy="100000" kx="0" ky="0" algn="bl" rotWithShape="0" blurRad="101600" dist="25400" dir="5400000">
              <a:srgbClr val="9AA0BF">
                <a:alpha val="22000"/>
              </a:srgbClr>
            </a:outerShdw>
          </a:effectLst>
        </p:spPr>
      </p:sp>
      <p:sp>
        <p:nvSpPr>
          <p:cNvPr id="9" name="Text 7"/>
          <p:cNvSpPr/>
          <p:nvPr/>
        </p:nvSpPr>
        <p:spPr>
          <a:xfrm>
            <a:off x="4673498" y="2148840"/>
            <a:ext cx="2844698" cy="566928"/>
          </a:xfrm>
          <a:prstGeom prst="rect">
            <a:avLst/>
          </a:prstGeom>
          <a:noFill/>
          <a:ln/>
        </p:spPr>
        <p:txBody>
          <a:bodyPr wrap="square" lIns="0" tIns="0" rIns="0" bIns="0" rtlCol="0" anchor="ctr"/>
          <a:lstStyle/>
          <a:p>
            <a:pPr indent="0" marL="0">
              <a:buNone/>
            </a:pPr>
            <a:r>
              <a:rPr lang="en-US" sz="2600" b="1" dirty="0">
                <a:solidFill>
                  <a:srgbClr val="2B2D5C"/>
                </a:solidFill>
                <a:latin typeface="微軟正黑體" pitchFamily="34" charset="0"/>
                <a:ea typeface="微軟正黑體" pitchFamily="34" charset="-122"/>
                <a:cs typeface="微軟正黑體" pitchFamily="34" charset="-120"/>
              </a:rPr>
              <a:t>中期</a:t>
            </a:r>
            <a:endParaRPr lang="en-US" sz="2600" dirty="0"/>
          </a:p>
        </p:txBody>
      </p:sp>
      <p:sp>
        <p:nvSpPr>
          <p:cNvPr id="10" name="Text 8"/>
          <p:cNvSpPr/>
          <p:nvPr/>
        </p:nvSpPr>
        <p:spPr>
          <a:xfrm>
            <a:off x="4673498" y="2697480"/>
            <a:ext cx="2844698" cy="365760"/>
          </a:xfrm>
          <a:prstGeom prst="rect">
            <a:avLst/>
          </a:prstGeom>
          <a:noFill/>
          <a:ln/>
        </p:spPr>
        <p:txBody>
          <a:bodyPr wrap="square" lIns="0" tIns="0" rIns="0" bIns="0" rtlCol="0" anchor="ctr"/>
          <a:lstStyle/>
          <a:p>
            <a:pPr indent="0" marL="0">
              <a:buNone/>
            </a:pPr>
            <a:r>
              <a:rPr lang="en-US" sz="1400" dirty="0">
                <a:solidFill>
                  <a:srgbClr val="4A4F7A"/>
                </a:solidFill>
                <a:latin typeface="微軟正黑體" pitchFamily="34" charset="0"/>
                <a:ea typeface="微軟正黑體" pitchFamily="34" charset="-122"/>
                <a:cs typeface="微軟正黑體" pitchFamily="34" charset="-120"/>
              </a:rPr>
              <a:t>1 年</a:t>
            </a:r>
            <a:endParaRPr lang="en-US" sz="1400" dirty="0"/>
          </a:p>
        </p:txBody>
      </p:sp>
      <p:sp>
        <p:nvSpPr>
          <p:cNvPr id="11" name="Text 9"/>
          <p:cNvSpPr/>
          <p:nvPr/>
        </p:nvSpPr>
        <p:spPr>
          <a:xfrm>
            <a:off x="4691786" y="3154680"/>
            <a:ext cx="2808122" cy="1783080"/>
          </a:xfrm>
          <a:prstGeom prst="rect">
            <a:avLst/>
          </a:prstGeom>
          <a:noFill/>
          <a:ln/>
        </p:spPr>
        <p:txBody>
          <a:bodyPr wrap="square" lIns="0" tIns="0" rIns="0" bIns="0" rtlCol="0" anchor="t"/>
          <a:lstStyle/>
          <a:p>
            <a:pPr marL="342900" indent="-342900">
              <a:lnSpc>
                <a:spcPct val="130000"/>
              </a:lnSpc>
              <a:spcAft>
                <a:spcPts val="1000"/>
              </a:spcAft>
              <a:buSzPct val="100000"/>
              <a:buChar char="•"/>
            </a:pPr>
            <a:r>
              <a:rPr lang="en-US" sz="1300" dirty="0">
                <a:solidFill>
                  <a:srgbClr val="2B2D5C"/>
                </a:solidFill>
                <a:latin typeface="微軟正黑體" pitchFamily="34" charset="0"/>
                <a:ea typeface="微軟正黑體" pitchFamily="34" charset="-122"/>
                <a:cs typeface="微軟正黑體" pitchFamily="34" charset="-120"/>
              </a:rPr>
              <a:t>具備獨立負責一條產品線的能力，從需求訪談到上線</a:t>
            </a:r>
            <a:endParaRPr lang="en-US" sz="1300" dirty="0"/>
          </a:p>
          <a:p>
            <a:pPr marL="342900" indent="-342900">
              <a:lnSpc>
                <a:spcPct val="130000"/>
              </a:lnSpc>
              <a:spcAft>
                <a:spcPts val="1000"/>
              </a:spcAft>
              <a:buSzPct val="100000"/>
              <a:buChar char="•"/>
            </a:pPr>
            <a:r>
              <a:rPr lang="en-US" sz="1300" dirty="0">
                <a:solidFill>
                  <a:srgbClr val="2B2D5C"/>
                </a:solidFill>
                <a:latin typeface="微軟正黑體" pitchFamily="34" charset="0"/>
                <a:ea typeface="微軟正黑體" pitchFamily="34" charset="-122"/>
                <a:cs typeface="微軟正黑體" pitchFamily="34" charset="-120"/>
              </a:rPr>
              <a:t>累積 AI 應用在不同部門的落地經驗，形成可複製的方法</a:t>
            </a:r>
            <a:endParaRPr lang="en-US" sz="1300" dirty="0"/>
          </a:p>
        </p:txBody>
      </p:sp>
      <p:sp>
        <p:nvSpPr>
          <p:cNvPr id="12" name="Shape 10"/>
          <p:cNvSpPr/>
          <p:nvPr/>
        </p:nvSpPr>
        <p:spPr>
          <a:xfrm>
            <a:off x="8158277" y="1965960"/>
            <a:ext cx="3393338" cy="3108960"/>
          </a:xfrm>
          <a:prstGeom prst="roundRect">
            <a:avLst>
              <a:gd name="adj" fmla="val 1765"/>
            </a:avLst>
          </a:prstGeom>
          <a:solidFill>
            <a:srgbClr val="6DCFA5"/>
          </a:solidFill>
          <a:ln/>
          <a:effectLst>
            <a:outerShdw sx="100000" sy="100000" kx="0" ky="0" algn="bl" rotWithShape="0" blurRad="101600" dist="25400" dir="5400000">
              <a:srgbClr val="9AA0BF">
                <a:alpha val="22000"/>
              </a:srgbClr>
            </a:outerShdw>
          </a:effectLst>
        </p:spPr>
      </p:sp>
      <p:sp>
        <p:nvSpPr>
          <p:cNvPr id="13" name="Text 11"/>
          <p:cNvSpPr/>
          <p:nvPr/>
        </p:nvSpPr>
        <p:spPr>
          <a:xfrm>
            <a:off x="8432597" y="2148840"/>
            <a:ext cx="2844698" cy="566928"/>
          </a:xfrm>
          <a:prstGeom prst="rect">
            <a:avLst/>
          </a:prstGeom>
          <a:noFill/>
          <a:ln/>
        </p:spPr>
        <p:txBody>
          <a:bodyPr wrap="square" lIns="0" tIns="0" rIns="0" bIns="0" rtlCol="0" anchor="ctr"/>
          <a:lstStyle/>
          <a:p>
            <a:pPr indent="0" marL="0">
              <a:buNone/>
            </a:pPr>
            <a:r>
              <a:rPr lang="en-US" sz="2600" b="1" dirty="0">
                <a:solidFill>
                  <a:srgbClr val="2B2D5C"/>
                </a:solidFill>
                <a:latin typeface="微軟正黑體" pitchFamily="34" charset="0"/>
                <a:ea typeface="微軟正黑體" pitchFamily="34" charset="-122"/>
                <a:cs typeface="微軟正黑體" pitchFamily="34" charset="-120"/>
              </a:rPr>
              <a:t>長期</a:t>
            </a:r>
            <a:endParaRPr lang="en-US" sz="2600" dirty="0"/>
          </a:p>
        </p:txBody>
      </p:sp>
      <p:sp>
        <p:nvSpPr>
          <p:cNvPr id="14" name="Text 12"/>
          <p:cNvSpPr/>
          <p:nvPr/>
        </p:nvSpPr>
        <p:spPr>
          <a:xfrm>
            <a:off x="8432597" y="2697480"/>
            <a:ext cx="2844698" cy="365760"/>
          </a:xfrm>
          <a:prstGeom prst="rect">
            <a:avLst/>
          </a:prstGeom>
          <a:noFill/>
          <a:ln/>
        </p:spPr>
        <p:txBody>
          <a:bodyPr wrap="square" lIns="0" tIns="0" rIns="0" bIns="0" rtlCol="0" anchor="ctr"/>
          <a:lstStyle/>
          <a:p>
            <a:pPr indent="0" marL="0">
              <a:buNone/>
            </a:pPr>
            <a:r>
              <a:rPr lang="en-US" sz="1400" dirty="0">
                <a:solidFill>
                  <a:srgbClr val="4A4F7A"/>
                </a:solidFill>
                <a:latin typeface="微軟正黑體" pitchFamily="34" charset="0"/>
                <a:ea typeface="微軟正黑體" pitchFamily="34" charset="-122"/>
                <a:cs typeface="微軟正黑體" pitchFamily="34" charset="-120"/>
              </a:rPr>
              <a:t>3～5 年</a:t>
            </a:r>
            <a:endParaRPr lang="en-US" sz="1400" dirty="0"/>
          </a:p>
        </p:txBody>
      </p:sp>
      <p:sp>
        <p:nvSpPr>
          <p:cNvPr id="15" name="Text 13"/>
          <p:cNvSpPr/>
          <p:nvPr/>
        </p:nvSpPr>
        <p:spPr>
          <a:xfrm>
            <a:off x="8450885" y="3154680"/>
            <a:ext cx="2808122" cy="1783080"/>
          </a:xfrm>
          <a:prstGeom prst="rect">
            <a:avLst/>
          </a:prstGeom>
          <a:noFill/>
          <a:ln/>
        </p:spPr>
        <p:txBody>
          <a:bodyPr wrap="square" lIns="0" tIns="0" rIns="0" bIns="0" rtlCol="0" anchor="t"/>
          <a:lstStyle/>
          <a:p>
            <a:pPr marL="342900" indent="-342900">
              <a:lnSpc>
                <a:spcPct val="130000"/>
              </a:lnSpc>
              <a:spcAft>
                <a:spcPts val="1000"/>
              </a:spcAft>
              <a:buSzPct val="100000"/>
              <a:buChar char="•"/>
            </a:pPr>
            <a:r>
              <a:rPr lang="en-US" sz="1300" dirty="0">
                <a:solidFill>
                  <a:srgbClr val="2B2D5C"/>
                </a:solidFill>
                <a:latin typeface="微軟正黑體" pitchFamily="34" charset="0"/>
                <a:ea typeface="微軟正黑體" pitchFamily="34" charset="-122"/>
                <a:cs typeface="微軟正黑體" pitchFamily="34" charset="-120"/>
              </a:rPr>
              <a:t>成為能同時掌握對外課程產品與對內系統落地的產品負責人</a:t>
            </a:r>
            <a:endParaRPr lang="en-US" sz="1300" dirty="0"/>
          </a:p>
          <a:p>
            <a:pPr marL="342900" indent="-342900">
              <a:lnSpc>
                <a:spcPct val="130000"/>
              </a:lnSpc>
              <a:spcAft>
                <a:spcPts val="1000"/>
              </a:spcAft>
              <a:buSzPct val="100000"/>
              <a:buChar char="•"/>
            </a:pPr>
            <a:r>
              <a:rPr lang="en-US" sz="1300" dirty="0">
                <a:solidFill>
                  <a:srgbClr val="2B2D5C"/>
                </a:solidFill>
                <a:latin typeface="微軟正黑體" pitchFamily="34" charset="0"/>
                <a:ea typeface="微軟正黑體" pitchFamily="34" charset="-122"/>
                <a:cs typeface="微軟正黑體" pitchFamily="34" charset="-120"/>
              </a:rPr>
              <a:t>讓 AI 導入在公司內部成為標準做法，而不是個案</a:t>
            </a:r>
            <a:endParaRPr lang="en-US" sz="1300" dirty="0"/>
          </a:p>
        </p:txBody>
      </p:sp>
      <p:sp>
        <p:nvSpPr>
          <p:cNvPr id="16" name="Text 14"/>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2286000" cy="329184"/>
          </a:xfrm>
          <a:prstGeom prst="roundRect">
            <a:avLst>
              <a:gd name="adj" fmla="val 44444"/>
            </a:avLst>
          </a:prstGeom>
          <a:solidFill>
            <a:srgbClr val="D6D9F0"/>
          </a:solidFill>
          <a:ln/>
        </p:spPr>
        <p:txBody>
          <a:bodyPr wrap="square" lIns="0" tIns="0" rIns="0" bIns="0" rtlCol="0" anchor="ctr"/>
          <a:lstStyle/>
          <a:p>
            <a:pPr algn="ctr" indent="0" marL="0">
              <a:buNone/>
            </a:pPr>
            <a:r>
              <a:rPr lang="en-US" sz="1200" b="1" dirty="0">
                <a:solidFill>
                  <a:srgbClr val="2B2D5C"/>
                </a:solidFill>
                <a:latin typeface="微軟正黑體" pitchFamily="34" charset="0"/>
                <a:ea typeface="微軟正黑體" pitchFamily="34" charset="-122"/>
                <a:cs typeface="微軟正黑體" pitchFamily="34" charset="-120"/>
              </a:rPr>
              <a:t>七、對公司的建議</a:t>
            </a:r>
            <a:endParaRPr lang="en-US" sz="1200" dirty="0"/>
          </a:p>
        </p:txBody>
      </p:sp>
      <p:sp>
        <p:nvSpPr>
          <p:cNvPr id="3" name="Text 1"/>
          <p:cNvSpPr/>
          <p:nvPr/>
        </p:nvSpPr>
        <p:spPr>
          <a:xfrm>
            <a:off x="640080" y="914400"/>
            <a:ext cx="10911535" cy="731520"/>
          </a:xfrm>
          <a:prstGeom prst="rect">
            <a:avLst/>
          </a:prstGeom>
          <a:noFill/>
          <a:ln/>
        </p:spPr>
        <p:txBody>
          <a:bodyPr wrap="square" lIns="0" tIns="0" rIns="0" bIns="0" rtlCol="0" anchor="ctr"/>
          <a:lstStyle/>
          <a:p>
            <a:pPr algn="l" indent="0" marL="0">
              <a:buNone/>
            </a:pPr>
            <a:r>
              <a:rPr lang="en-US" sz="3200" b="1" dirty="0">
                <a:solidFill>
                  <a:srgbClr val="2B2D5C"/>
                </a:solidFill>
                <a:latin typeface="微軟正黑體" pitchFamily="34" charset="0"/>
                <a:ea typeface="微軟正黑體" pitchFamily="34" charset="-122"/>
                <a:cs typeface="微軟正黑體" pitchFamily="34" charset="-120"/>
              </a:rPr>
              <a:t>對公司的建議｜新人入職與知識傳承</a:t>
            </a:r>
            <a:endParaRPr lang="en-US" sz="3200" dirty="0"/>
          </a:p>
        </p:txBody>
      </p:sp>
      <p:sp>
        <p:nvSpPr>
          <p:cNvPr id="4" name="Shape 2"/>
          <p:cNvSpPr/>
          <p:nvPr/>
        </p:nvSpPr>
        <p:spPr>
          <a:xfrm>
            <a:off x="640080" y="1874520"/>
            <a:ext cx="10911535" cy="1207008"/>
          </a:xfrm>
          <a:prstGeom prst="roundRect">
            <a:avLst>
              <a:gd name="adj" fmla="val 4545"/>
            </a:avLst>
          </a:prstGeom>
          <a:solidFill>
            <a:srgbClr val="D6D9F0"/>
          </a:solidFill>
          <a:ln/>
        </p:spPr>
      </p:sp>
      <p:sp>
        <p:nvSpPr>
          <p:cNvPr id="5" name="Shape 3"/>
          <p:cNvSpPr/>
          <p:nvPr/>
        </p:nvSpPr>
        <p:spPr>
          <a:xfrm>
            <a:off x="932688" y="2240280"/>
            <a:ext cx="502920" cy="502920"/>
          </a:xfrm>
          <a:prstGeom prst="ellipse">
            <a:avLst/>
          </a:prstGeom>
          <a:solidFill>
            <a:srgbClr val="2B2D5C"/>
          </a:solidFill>
          <a:ln/>
        </p:spPr>
      </p:sp>
      <p:sp>
        <p:nvSpPr>
          <p:cNvPr id="6" name="Text 4"/>
          <p:cNvSpPr/>
          <p:nvPr/>
        </p:nvSpPr>
        <p:spPr>
          <a:xfrm>
            <a:off x="932688" y="2240280"/>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1</a:t>
            </a:r>
            <a:endParaRPr lang="en-US" sz="1700" dirty="0"/>
          </a:p>
        </p:txBody>
      </p:sp>
      <p:sp>
        <p:nvSpPr>
          <p:cNvPr id="7" name="Text 5"/>
          <p:cNvSpPr/>
          <p:nvPr/>
        </p:nvSpPr>
        <p:spPr>
          <a:xfrm>
            <a:off x="1600200" y="2029968"/>
            <a:ext cx="9631375" cy="411480"/>
          </a:xfrm>
          <a:prstGeom prst="rect">
            <a:avLst/>
          </a:prstGeom>
          <a:noFill/>
          <a:ln/>
        </p:spPr>
        <p:txBody>
          <a:bodyPr wrap="square" lIns="0" tIns="0" rIns="0" bIns="0" rtlCol="0" anchor="ctr"/>
          <a:lstStyle/>
          <a:p>
            <a:pPr indent="0" marL="0">
              <a:buNone/>
            </a:pPr>
            <a:r>
              <a:rPr lang="en-US" sz="1650" b="1" dirty="0">
                <a:solidFill>
                  <a:srgbClr val="2B2D5C"/>
                </a:solidFill>
                <a:latin typeface="微軟正黑體" pitchFamily="34" charset="0"/>
                <a:ea typeface="微軟正黑體" pitchFamily="34" charset="-122"/>
                <a:cs typeface="微軟正黑體" pitchFamily="34" charset="-120"/>
              </a:rPr>
              <a:t>新人報告的目標，建議由主管與新人共同確認</a:t>
            </a:r>
            <a:endParaRPr lang="en-US" sz="1650" dirty="0"/>
          </a:p>
        </p:txBody>
      </p:sp>
      <p:sp>
        <p:nvSpPr>
          <p:cNvPr id="8" name="Text 6"/>
          <p:cNvSpPr/>
          <p:nvPr/>
        </p:nvSpPr>
        <p:spPr>
          <a:xfrm>
            <a:off x="1600200" y="2450592"/>
            <a:ext cx="9631375" cy="5486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目前的十二週目標表是所有新人共用版本，與實際派工內容常有落差。建議到職第一週由主管與新人一起確認個人化目標，中間再對一次。</a:t>
            </a:r>
            <a:endParaRPr lang="en-US" sz="1250" dirty="0"/>
          </a:p>
        </p:txBody>
      </p:sp>
      <p:sp>
        <p:nvSpPr>
          <p:cNvPr id="9" name="Shape 7"/>
          <p:cNvSpPr/>
          <p:nvPr/>
        </p:nvSpPr>
        <p:spPr>
          <a:xfrm>
            <a:off x="640080" y="3246120"/>
            <a:ext cx="10911535" cy="1207008"/>
          </a:xfrm>
          <a:prstGeom prst="roundRect">
            <a:avLst>
              <a:gd name="adj" fmla="val 4545"/>
            </a:avLst>
          </a:prstGeom>
          <a:solidFill>
            <a:srgbClr val="F7F1CE"/>
          </a:solidFill>
          <a:ln/>
        </p:spPr>
      </p:sp>
      <p:sp>
        <p:nvSpPr>
          <p:cNvPr id="10" name="Shape 8"/>
          <p:cNvSpPr/>
          <p:nvPr/>
        </p:nvSpPr>
        <p:spPr>
          <a:xfrm>
            <a:off x="932688" y="3611880"/>
            <a:ext cx="502920" cy="502920"/>
          </a:xfrm>
          <a:prstGeom prst="ellipse">
            <a:avLst/>
          </a:prstGeom>
          <a:solidFill>
            <a:srgbClr val="2B2D5C"/>
          </a:solidFill>
          <a:ln/>
        </p:spPr>
      </p:sp>
      <p:sp>
        <p:nvSpPr>
          <p:cNvPr id="11" name="Text 9"/>
          <p:cNvSpPr/>
          <p:nvPr/>
        </p:nvSpPr>
        <p:spPr>
          <a:xfrm>
            <a:off x="932688" y="3611880"/>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2</a:t>
            </a:r>
            <a:endParaRPr lang="en-US" sz="1700" dirty="0"/>
          </a:p>
        </p:txBody>
      </p:sp>
      <p:sp>
        <p:nvSpPr>
          <p:cNvPr id="12" name="Text 10"/>
          <p:cNvSpPr/>
          <p:nvPr/>
        </p:nvSpPr>
        <p:spPr>
          <a:xfrm>
            <a:off x="1600200" y="3401568"/>
            <a:ext cx="9631375" cy="411480"/>
          </a:xfrm>
          <a:prstGeom prst="rect">
            <a:avLst/>
          </a:prstGeom>
          <a:noFill/>
          <a:ln/>
        </p:spPr>
        <p:txBody>
          <a:bodyPr wrap="square" lIns="0" tIns="0" rIns="0" bIns="0" rtlCol="0" anchor="ctr"/>
          <a:lstStyle/>
          <a:p>
            <a:pPr indent="0" marL="0">
              <a:buNone/>
            </a:pPr>
            <a:r>
              <a:rPr lang="en-US" sz="1650" b="1" dirty="0">
                <a:solidFill>
                  <a:srgbClr val="2B2D5C"/>
                </a:solidFill>
                <a:latin typeface="微軟正黑體" pitchFamily="34" charset="0"/>
                <a:ea typeface="微軟正黑體" pitchFamily="34" charset="-122"/>
                <a:cs typeface="微軟正黑體" pitchFamily="34" charset="-120"/>
              </a:rPr>
              <a:t>把各部門的重複性作業做成一份「待數位化清單」</a:t>
            </a:r>
            <a:endParaRPr lang="en-US" sz="1650" dirty="0"/>
          </a:p>
        </p:txBody>
      </p:sp>
      <p:sp>
        <p:nvSpPr>
          <p:cNvPr id="13" name="Text 11"/>
          <p:cNvSpPr/>
          <p:nvPr/>
        </p:nvSpPr>
        <p:spPr>
          <a:xfrm>
            <a:off x="1600200" y="3822192"/>
            <a:ext cx="9631375" cy="5486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神秘客這套流程原本不在任何待辦清單上，是碰巧發現的。若各部門能列出自己每月重複的作業，創新研發部就能有系統地評估導入順序。</a:t>
            </a:r>
            <a:endParaRPr lang="en-US" sz="1250" dirty="0"/>
          </a:p>
        </p:txBody>
      </p:sp>
      <p:sp>
        <p:nvSpPr>
          <p:cNvPr id="14" name="Shape 12"/>
          <p:cNvSpPr/>
          <p:nvPr/>
        </p:nvSpPr>
        <p:spPr>
          <a:xfrm>
            <a:off x="640080" y="4617720"/>
            <a:ext cx="10911535" cy="1207008"/>
          </a:xfrm>
          <a:prstGeom prst="roundRect">
            <a:avLst>
              <a:gd name="adj" fmla="val 4545"/>
            </a:avLst>
          </a:prstGeom>
          <a:solidFill>
            <a:srgbClr val="ECEEF8"/>
          </a:solidFill>
          <a:ln/>
        </p:spPr>
      </p:sp>
      <p:sp>
        <p:nvSpPr>
          <p:cNvPr id="15" name="Shape 13"/>
          <p:cNvSpPr/>
          <p:nvPr/>
        </p:nvSpPr>
        <p:spPr>
          <a:xfrm>
            <a:off x="932688" y="4983480"/>
            <a:ext cx="502920" cy="502920"/>
          </a:xfrm>
          <a:prstGeom prst="ellipse">
            <a:avLst/>
          </a:prstGeom>
          <a:solidFill>
            <a:srgbClr val="2B2D5C"/>
          </a:solidFill>
          <a:ln/>
        </p:spPr>
      </p:sp>
      <p:sp>
        <p:nvSpPr>
          <p:cNvPr id="16" name="Text 14"/>
          <p:cNvSpPr/>
          <p:nvPr/>
        </p:nvSpPr>
        <p:spPr>
          <a:xfrm>
            <a:off x="932688" y="4983480"/>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微軟正黑體" pitchFamily="34" charset="0"/>
                <a:ea typeface="微軟正黑體" pitchFamily="34" charset="-122"/>
                <a:cs typeface="微軟正黑體" pitchFamily="34" charset="-120"/>
              </a:rPr>
              <a:t>3</a:t>
            </a:r>
            <a:endParaRPr lang="en-US" sz="1700" dirty="0"/>
          </a:p>
        </p:txBody>
      </p:sp>
      <p:sp>
        <p:nvSpPr>
          <p:cNvPr id="17" name="Text 15"/>
          <p:cNvSpPr/>
          <p:nvPr/>
        </p:nvSpPr>
        <p:spPr>
          <a:xfrm>
            <a:off x="1600200" y="4773168"/>
            <a:ext cx="9631375" cy="411480"/>
          </a:xfrm>
          <a:prstGeom prst="rect">
            <a:avLst/>
          </a:prstGeom>
          <a:noFill/>
          <a:ln/>
        </p:spPr>
        <p:txBody>
          <a:bodyPr wrap="square" lIns="0" tIns="0" rIns="0" bIns="0" rtlCol="0" anchor="ctr"/>
          <a:lstStyle/>
          <a:p>
            <a:pPr indent="0" marL="0">
              <a:buNone/>
            </a:pPr>
            <a:r>
              <a:rPr lang="en-US" sz="1650" b="1" dirty="0">
                <a:solidFill>
                  <a:srgbClr val="2B2D5C"/>
                </a:solidFill>
                <a:latin typeface="微軟正黑體" pitchFamily="34" charset="0"/>
                <a:ea typeface="微軟正黑體" pitchFamily="34" charset="-122"/>
                <a:cs typeface="微軟正黑體" pitchFamily="34" charset="-120"/>
              </a:rPr>
              <a:t>內部工具做完後，建立交接與維護機制</a:t>
            </a:r>
            <a:endParaRPr lang="en-US" sz="1650" dirty="0"/>
          </a:p>
        </p:txBody>
      </p:sp>
      <p:sp>
        <p:nvSpPr>
          <p:cNvPr id="18" name="Text 16"/>
          <p:cNvSpPr/>
          <p:nvPr/>
        </p:nvSpPr>
        <p:spPr>
          <a:xfrm>
            <a:off x="1600200" y="5193792"/>
            <a:ext cx="9631375" cy="548640"/>
          </a:xfrm>
          <a:prstGeom prst="rect">
            <a:avLst/>
          </a:prstGeom>
          <a:noFill/>
          <a:ln/>
        </p:spPr>
        <p:txBody>
          <a:bodyPr wrap="square" lIns="0" tIns="0" rIns="0" bIns="0" rtlCol="0" anchor="t"/>
          <a:lstStyle/>
          <a:p>
            <a:pPr indent="0" marL="0">
              <a:lnSpc>
                <a:spcPct val="125000"/>
              </a:lnSpc>
              <a:buNone/>
            </a:pPr>
            <a:r>
              <a:rPr lang="en-US" sz="1250" dirty="0">
                <a:solidFill>
                  <a:srgbClr val="2B2D5C"/>
                </a:solidFill>
                <a:latin typeface="微軟正黑體" pitchFamily="34" charset="0"/>
                <a:ea typeface="微軟正黑體" pitchFamily="34" charset="-122"/>
                <a:cs typeface="微軟正黑體" pitchFamily="34" charset="-120"/>
              </a:rPr>
              <a:t>系統上線只是開始。建議每套內部工具都要有指定的維護窗口與使用說明，避免變成只有開發者才懂的黑箱。</a:t>
            </a:r>
            <a:endParaRPr lang="en-US" sz="1250" dirty="0"/>
          </a:p>
        </p:txBody>
      </p:sp>
      <p:sp>
        <p:nvSpPr>
          <p:cNvPr id="19" name="Text 17"/>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6E7191"/>
                </a:solidFill>
                <a:latin typeface="微軟正黑體" pitchFamily="34" charset="0"/>
                <a:ea typeface="微軟正黑體" pitchFamily="34" charset="-122"/>
                <a:cs typeface="微軟正黑體"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2048"/>
        </a:solidFill>
      </p:bgPr>
    </p:bg>
    <p:spTree>
      <p:nvGrpSpPr>
        <p:cNvPr id="1" name=""/>
        <p:cNvGrpSpPr/>
        <p:nvPr/>
      </p:nvGrpSpPr>
      <p:grpSpPr>
        <a:xfrm>
          <a:off x="0" y="0"/>
          <a:ext cx="0" cy="0"/>
          <a:chOff x="0" y="0"/>
          <a:chExt cx="0" cy="0"/>
        </a:xfrm>
      </p:grpSpPr>
      <p:sp>
        <p:nvSpPr>
          <p:cNvPr id="2" name="Text 0"/>
          <p:cNvSpPr/>
          <p:nvPr/>
        </p:nvSpPr>
        <p:spPr>
          <a:xfrm>
            <a:off x="640080" y="2651760"/>
            <a:ext cx="10911535" cy="1371600"/>
          </a:xfrm>
          <a:prstGeom prst="rect">
            <a:avLst/>
          </a:prstGeom>
          <a:noFill/>
          <a:ln/>
        </p:spPr>
        <p:txBody>
          <a:bodyPr wrap="square" lIns="0" tIns="0" rIns="0" bIns="0" rtlCol="0" anchor="ctr"/>
          <a:lstStyle/>
          <a:p>
            <a:pPr algn="ctr" indent="0" marL="0">
              <a:buNone/>
            </a:pPr>
            <a:r>
              <a:rPr lang="en-US" sz="5400" b="1" dirty="0">
                <a:solidFill>
                  <a:srgbClr val="FFFFFF"/>
                </a:solidFill>
                <a:latin typeface="微軟正黑體" pitchFamily="34" charset="0"/>
                <a:ea typeface="微軟正黑體" pitchFamily="34" charset="-122"/>
                <a:cs typeface="微軟正黑體" pitchFamily="34" charset="-120"/>
              </a:rPr>
              <a:t>謝謝您的聆聽！</a:t>
            </a:r>
            <a:endParaRPr lang="en-US" sz="5400" dirty="0"/>
          </a:p>
        </p:txBody>
      </p:sp>
      <p:sp>
        <p:nvSpPr>
          <p:cNvPr id="3" name="Text 1"/>
          <p:cNvSpPr/>
          <p:nvPr/>
        </p:nvSpPr>
        <p:spPr>
          <a:xfrm>
            <a:off x="640080" y="4114800"/>
            <a:ext cx="10911535" cy="457200"/>
          </a:xfrm>
          <a:prstGeom prst="rect">
            <a:avLst/>
          </a:prstGeom>
          <a:noFill/>
          <a:ln/>
        </p:spPr>
        <p:txBody>
          <a:bodyPr wrap="square" lIns="0" tIns="0" rIns="0" bIns="0" rtlCol="0" anchor="ctr"/>
          <a:lstStyle/>
          <a:p>
            <a:pPr algn="ctr" indent="0" marL="0">
              <a:buNone/>
            </a:pPr>
            <a:r>
              <a:rPr lang="en-US" sz="1600" dirty="0">
                <a:solidFill>
                  <a:srgbClr val="AEB4E4"/>
                </a:solidFill>
                <a:latin typeface="微軟正黑體" pitchFamily="34" charset="0"/>
                <a:ea typeface="微軟正黑體" pitchFamily="34" charset="-122"/>
                <a:cs typeface="微軟正黑體" pitchFamily="34" charset="-120"/>
              </a:rPr>
              <a:t>產品工程師－黃家朗　｜　創新研發部</a:t>
            </a:r>
            <a:endParaRPr lang="en-US" sz="1600" dirty="0"/>
          </a:p>
        </p:txBody>
      </p:sp>
      <p:sp>
        <p:nvSpPr>
          <p:cNvPr id="4" name="Text 2"/>
          <p:cNvSpPr/>
          <p:nvPr/>
        </p:nvSpPr>
        <p:spPr>
          <a:xfrm>
            <a:off x="11185855" y="6291072"/>
            <a:ext cx="548640" cy="329184"/>
          </a:xfrm>
          <a:prstGeom prst="rect">
            <a:avLst/>
          </a:prstGeom>
          <a:noFill/>
          <a:ln/>
        </p:spPr>
        <p:txBody>
          <a:bodyPr wrap="square" lIns="0" tIns="0" rIns="0" bIns="0" rtlCol="0" anchor="ctr"/>
          <a:lstStyle/>
          <a:p>
            <a:pPr algn="r" indent="0" marL="0">
              <a:buNone/>
            </a:pPr>
            <a:r>
              <a:rPr lang="en-US" sz="1100" dirty="0">
                <a:solidFill>
                  <a:srgbClr val="7A80AE"/>
                </a:solidFill>
                <a:latin typeface="微軟正黑體" pitchFamily="34" charset="0"/>
                <a:ea typeface="微軟正黑體" pitchFamily="34" charset="-122"/>
                <a:cs typeface="微軟正黑體" pitchFamily="34" charset="-120"/>
              </a:rPr>
              <a:t>32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新人報告</dc:title>
  <dc:subject>PptxGenJS Presentation</dc:subject>
  <dc:creator>黃家朗</dc:creator>
  <cp:lastModifiedBy>黃家朗</cp:lastModifiedBy>
  <cp:revision>1</cp:revision>
  <dcterms:created xsi:type="dcterms:W3CDTF">2026-08-14T08:26:58Z</dcterms:created>
  <dcterms:modified xsi:type="dcterms:W3CDTF">2026-08-14T08:26:58Z</dcterms:modified>
</cp:coreProperties>
</file>