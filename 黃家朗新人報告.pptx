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6" r:id="rId28"/>
    <p:sldId id="287" r:id="rId29"/>
    <p:sldId id="288" r:id="rId30"/>
    <p:sldId id="289" r:id="rId31"/>
    <p:sldId id="290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24845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各位主管、各位同事早安，我是創新研發部的產品工程師黃家朗。
今天要跟大家報告我到職這四個多月的工作內容與成果。
報告大概三十分鐘，中間如果有問題可以隨時打斷我，最後也會留 Q&amp;A 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今天分七個部分。
前面三段講我是誰、以及這四個多月我實際在做什麼；
第四段是重點，會花最多時間講工作成果，分成對外跟對內兩條線；
最後是心得、職涯規劃，還有幾個給公司的建議。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先簡單介紹我自己。
我是清華大學科技管理學院學士班畢業，主修管理跟經濟雙專長。
進程曦之前在台北數位廣告的產品企劃部擔任產品企劃專員。
我不是一畢業就做 AI 的，是工作幾年之後才轉進 AI 跟教育訓練這個領域。
這個轉職經驗對我現在的工作很有幫助，
因為我很知道一個沒有技術背景的上班族，第一次接觸 AI 工具的時候會卡在哪裡——
這剛好就是我現在在做的事：把 AI 工具教給不懂技術的人。
興趣的部分，我喜歡音樂、攝影、旅行，也會主持 TRPG 跟寫遊戲劇本。
最後一行想特別提一下：我在工作以外參與一個粉絲團體的營運，
在那裡我一樣是用 AI 在解決問題——用 AI 輔助數據分析寫市場洞察報告，
也建了客製化的術語庫來做字幕翻譯校對。
我講這個是想說明，用 AI 解決問題對我來說不是工作要求，是習慣。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這是我的工作歷程，四個節點。
2020 年我在攸你資訊當共同創辦人，負責一個叫 UniLife 的 APP，
從功能設計到使用者旅程都是我做的，帶五個人的團隊，
產品拿過 Appworks 加速器的投資，也入選教育部的 U-start。
2024 年五月我回攸你資訊，職稱變成 AI 提示工程師——
這是我第一次專職做 AI，用 Custom GPTs 幫同事做內部工具。
2024 年十月到台北數位廣告當產品企劃專員，
主要做前沿 AI 工具的調研跟內部培訓，測評過十幾款工具。
今年四月十號到職程曦，到今天大概四個多月。
各位可以看到這條線的方向：做產品、做 AI 工具、做 AI 培訓，
到現在對外做課程、對內做系統，兩件事同時做。
我現在的工作不是轉行，是這條線的延續。
下面這句是我當初應徵程曦時寫在履歷上的：
我想成為連結業務需求與工程開發的 AI 實踐者，
為下一個十年的「辦公室 AI 化」做準備。
這也是我這四個多月一直在做的事。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這是我給自己的五個特質。
我沒有用比例圖，因為我覺得給個性打百分比沒什麼意義，
所以每一個特質我都直接配一件我真的做過的事。
解決力：看到問題我的反應不是回報給主管就結束，是直接把工具做出來。
自學力：那些系統用到的東西有很多我原本不會，我是靠 AI 工具邊做邊學做完的。
到目前為止我摸過的生成式 AI 工具超過十款，現在還在自學 n8n 跟 Claude Skills。
換位思考：等一下講的 PRD 機器人，核心就是先搞懂對方要什麼。
系統思維跟交付到底，後面的成果會自己說明，這裡先不展開。
（如果被問到「這些是不是第一次做」，可以補：
在攸你資訊我就在訪談每位同事的工作流程、畫流程圖，
然後為他們客製指令集——PRD 機器人其實是把這件事自動化。
在台北數位我導入過 Notion 建自動化工作流，
把跨部門溝通耗時降了 35%，那跟神秘客系統是同一種思路。）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公司精神是「愛、新、勤、誠」，
合起來就是那句話：勤勞地用創新的方式，誠懇地愛人。
我不想只是把這四個字唸過去，所以下一頁我整理了這幾個月裡，
我自己覺得有實際對應到這四個字的四件事。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這四個字我不想只是唸過去，所以我找了四件自己真的在做的事。
「新」，我盡量接不同領域的挑戰工作。
這四個多月我做過系統、寫過教材、也上台講過課，這些原本都不是我熟的。
「勤」，我下班後保持每天讀紙本書的習慣。
這個領域變得很快，但我覺得越快的時候，越需要有些東西是慢的。
「愛」，我跟同事組了一個「韭菜吃飯小隊」，會揪興煜一起出去吃午餐。
聽起來是小事，但我覺得愛同事就是從這種小事開始的。
「誠」，我彙報任務進度不灌水。
等一下我會報一個效益數字，我會先說清楚那是推估、不是實測——
這也是同一件事。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這四個多月我分成三個階段，順序可能跟大家想的不太一樣。
第一個月是熟悉期。我加入解題小組，主要在熟悉公司業務跟小組的職責，
一邊參與解題、交流 AI 應用的思路，
也協助了履歷分析、數字人面試官這幾個專案，
同時開始主責神秘客評分系統。
第二到第三個月是開發與產出期，重心在對內。
神秘客評分系統在這段時間完成開發並正式上線，
PRD 機器人也是這時候開始開發、持續迭代。
第四個月到現在是教學與講授期，重心才轉到對外課程。
完成兩門課的教材撰寫、擔任兩門課的講師並完成內部試教，
八月底還要擔任微醺 70% 的講師。
所以我是先做內部系統，後做對外課程。
三段的共同點是：都在做「把 AI 的知識變現，成為別人真的用得到的東西」。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接下來進入重點，工作成果。
先說明一下編排：這一章我是依「性質」分類，不是依時間順序——
先講對外的四門課，再講對內的兩套系統。
實際的時間順序是對內系統做得比較早，剛才那一頁有寫。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對外這條線總共四門課，我在裡面有兩種角色。
第一、二門是我負責寫教材，從課程架構、內容到範例都是我做的。
第三、四門教材是同事寫的，我負責上台講。
這裡我要先把狀態講清楚，避免誤會：
這四門課目前都只完成了內部試教，還沒有對外開課，
教材也還在持續修正，還沒有定稿。
下一頁之後講的內容，都是在這個前提下。
我覺得這個組合對新人來說滿好的——
寫教材讓我必須把一個主題徹底搞懂才寫得出來，
上台試教則讓我馬上知道學員會在哪裡卡住。這兩件事是互相回饋的。
另外補充一下，這不是我第一次做 AI 培訓。
我在台北數位廣告的時候就在策劃 AI 工具選用的內部課程，
做過主流 AGI 工具的對比分析，也教過 Lovable 這類 prompt-driven 的開發工具。
所以四門課的教材我不是從零摸索，是把做過的方法帶過來用。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第一門是「AI 時代的商業企劃思維與簡報製作工具」。
這門課的重點其實不在工具操作，而在思維——
很多人以為 AI 簡報工具就是把字丟進去讓它排版，
但真正的價值是在前面的企劃思考階段就讓 AI 參與。
所以我寫教材的時候，是先把一個企劃案從無到有的流程拆開，
再去看每一段可以怎麼用 AI，而不是反過來從工具的功能表開始教。
規模的部分：預計四小時，教材一百五十三頁，
涵蓋三款創業工具加五款簡報製作工具，總共十款案例。
對象是要開鍋貼店做期末成發的學生，
所以案例我全部貼著這個題目走，讓他們一路做下來就是一份完整的企劃。
右邊這張是實際的教材畫面。
（時間不夠時本頁可略過）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第二門是 AI 圖片生成課，一樣是我寫教材。
這門課最難處理的地方是，圖片生成的結果不穩定，
同樣一句提示詞，這次跟下次出來的東西可能差很多。
所以我在教材裡花了不少篇幅在講「怎麼描述」跟「怎麼修正」，
而不是只給一堆可以複製貼上的提示詞範本——
因為範本會過期，方法不會。
這門課的教材是兩百一十九頁，比第一門更厚，
涵蓋五款 AI 生圖工具，還有四十個以上的 prompt 模板跟範例，預計也是四小時。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第三、四門是我上台講的，目前都完成了內部試教。
這兩門課對我來說有一個額外的意義：
vibe-coding 這門課教的方法，就是我後來開發神秘客系統跟 PRD 機器人實際用的方法。
我等於是先教了別人怎麼用 AI 寫程式，然後自己拿這套方法去做了兩個真的有人在用的系統。
這件事讓我在台上講的時候比較有底氣，
因為我講的不是從教材上讀來的，是我真的做過的。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這幾張是教材的實際畫面，給大家看一下我們課程的呈現方式。
如果主管想看完整版本，我課後可以再單獨提供。
（時間不夠時本頁可略過）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接下來是對內這條線，也是我前三個月的主要工作。
這裡有兩套完整的系統：神秘客評分系統已經上線在用，
PRD 機器人正在跨部門測試。
另外還有一些零星的支援跟小工具，量不大就不單獨開一頁了。
兩套系統我一個一個講。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先說明業務背景，因為不是每個部門都熟悉這件事。
程曦是承接客服外包的公司，所以服務品質必須被檢核。
做法是各個專案組之間每個月隨機互相打電話，
用腳本上的常見問題去問對方，
檢驗接聽的同仁有沒有用符合禮儀、符合標準起手台詞的方式，說出正確的答案。
這種電話我們叫做神秘客訪問電話。
打完之後，各組要寫抽查成果跟分數交給主管，
主管再彙整出報表、還有未達滿分的經緯報告，
然後把分數向下發給各專案組、向上呈報給高級主管。
這整套流程是每個月都要跑一次的。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這套流程原本是這樣跑的。
第一，資料是散的。做同一件事，要開五份甚至更多份的 Excel 表單。
第二，每個月都要重來一次。每到月底就要重開所有報表，
還要重新設定一份 Google 表單發給大家填。
第三，收回來之後要手動算分數，
然後一直複製貼上到要給不同對象的 Excel 裡面——
給專案組一份、給主管一份、給高級主管又一份。
這裡面最花時間的其實不是判斷，是搬資料。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我的解法核心只有一句話：東西都放在同一個後台，用權限決定誰看得到什麼。
這樣做的好處是，資料不需要再搬移了。
過去要複製貼上到三份不同的 Excel，是因為三個對象要看不同的東西；
現在資料只有一份，我只要針對不同對象改變「顯示的內容」就好。
而且這個設定不是每個月都要改，是設定一次就一直適用，
直到當事人轉職或離職才需要動。
開發的部分，我是全程用 replit 這類 AI 工具做的。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權限的部分，我依照會涉及神秘客電訪的人的層級，分成三種等級，
不同的登入帳號會開放不同的功能。
這件事聽起來只是技術設定，但它其實是整套系統能成立的關鍵。
因為過去要拆成好幾份 Excel，本來就是為了讓不同的人看到不同的東西；
如果我只是把五份表單合成一份而沒有權限控制，那反而會出事。
所以是先有權限分層，才有辦法把資料集中。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系統裡總共有八項功能，我分兩頁講。
前四項是主要流程。
第一是設計新問題，把檢核用的題目建進系統。
第二是抽選問題並分配到指定的專案組——這一項直接取代了過去每個月重設 Google 表單的工作。
第三是評分介面，讓評分的人在同一個地方打分數，不用再自己在 Excel 上算。
第四是報表匯出，要給不同對象的報表直接從系統產生，不用再複製貼上。
這四項合起來，就把「每個月都要重來一次」這個痛點解決掉了。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後四項是配套。
第五是檢討報告，過去未達滿分要另外寫的經緯報告，現在直接在系統裡提交。
第六是申覆。這一項是我做完前面之後才發現需要的——
因為分數會影響到專案組，如果被評分的人覺得判定有問題，
應該要有一個正式的管道處理，而不是私下用訊息吵。
第七是帳號跟身分組的建立，還有移轉機制。
公司會有人轉職、有人離職，如果每次人事異動都要工程師進資料庫改，
那這套系統遲早會沒人維護。有了移轉機制，管理者自己就能處理。
第八是通知系統，分成全服公告跟個人通知兩種。
第七、第八這兩項不是酷炫的功能，但它們決定這套系統能不能長期活下去。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這頁是前後對比，我覺得最能說明這套系統的價值。
左邊是舊流程，右邊是現在。
各位可以看到，改變的重點不是把工作做得更快，
而是把「每個月都要重做一次」的工作，變成「設定一次就好」。
尤其最下面那一列，人事異動——
過去有人離職，那些表單就要重新整理一次；
現在管理者自己在後台移轉就結束了。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這套系統目前的狀態是已經上線，實際在使用中。
使用的單位是所有需要打神秘客訪問電話的單位，以及負責管理的管理者。
效益的部分我要誠實說明：
這個「節省近 90%」是我個人的推估，不是實測出來的數字。
我的推估依據是，過去每個月月底要開所有 Excel 報表、
設一次新的 Google 表單、手動算分數、再一直複製貼上給不同對象；
現在這些全部在同一個後台完成，資料不用搬，而且不需要每個月都改。
如果主管覺得需要，我可以後續實際去量測作業時間，把真實數字補上。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接下來是第二套系統，PRD 機器人。
它要解決的問題是：想法很抽象，但開發需要規格。
從「我想做一個什麼」到一份能真正動工的 PRD，中間那一段是最卡的。
過去這件事怎麼做？靠有經驗的人一次次開會追問，
或是新人自己對著一份空白文件硬寫。
前者很花時間，後者品質完全看人。
我的解法是做一個會反問的機器人。
你丟一個抽象的概念進去，它產出一份 PRD 初稿跟技術文件。
其實這件事跟神秘客系統是同一個主題：
把原本「靠人」的流程，變成「靠系統」也做得到。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講一下它怎麼運作，關鍵在「反問」這兩個字。
一般的文件工具是你先把需求寫好，它幫你排版整理；
這個是反過來的——你只要有一個模糊的想法就可以開始。
它會大量反問，你回答、它再問，一路把你沒想到的地方問出來，
問到夠了，再收斂成一份 PRD 初稿跟技術文件。
為什麼這樣有效？
因為我發現使用者常常不是不願意寫，是不知道該寫什麼。
面對一份空白文件很痛苦，但回答問題容易多了。
這個設計其實也回到我前面講的換位思考——
我沒有假設使用者應該要會寫規格，而是設計成他不會也沒關係。
補充一件事：這個「反問」的做法不是我憑空想的。
我在攸你資訊當 AI 提示工程師的時候，
工作就是一個一個去訪談同事的工作流程、畫成流程圖，
再為每個人客製他專用的指令集。
那時候是我用人力在做這件事，一次只能服務一個人。
PRD 機器人等於是把當年那套訪談流程自動化，
讓它可以同時服務很多人，而且不需要我在場。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目前的狀態我也要說清楚：
它已經開發完成，但還在持續更新版本，
現在是公司內部大約十位其他部門的同事一起在測試，
還沒有全面對公司內其他人開放。
我的做法是收到 bug 或改善建議就繼續修。
這是我第一次做「跨部門一起測」的工具，
老實說收回饋比寫功能難很多。
十個人給的建議常常互相衝突，
我要判斷哪些是真的需求、哪些只是個人習慣。
這件事還沒結束，我還在持續修。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講一下心得，分三個部分。
收穫最多的是「從使用者身上學需求」。
不管是寫教材還是做系統，難的都不是技術，是搞懂對方到底要什麼。
神秘客的申覆功能就是例子——它不在任何一份需求文件上，
是我理解流程之後才發現需要的。
到後來我乾脆把這件事本身做成工具，那就是 PRD 機器人。
最有成就感的是東西真的被用起來了。
神秘客每個月都有人登入在用，PRD 機器人有十個跨部門同事在測。
做出一個能動的東西不難，做出一個有人真的在用的東西完全不一樣。
最挑戰的是判斷什麼不該做。
用 AI 開發真的很快，快到你想到什麼功能都做得出來，
所以反而要克制，要一直問自己這個功能是使用者需要的，還是我想做的。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如果要我只講一件這幾個月最重要的收穫，是這個：
從「做出功能」，變成「交付一個會被用的系統」。
我剛到職的時候會覺得，功能寫完就是做完了。
但實際做下來才知道，功能做完只是一半。
你還要想：誰在用、有人離職了怎麼辦、被評分的人不服氣怎麼辦、
十個人的意見不一樣要聽誰的。
這些都不是技術問題，可是不解決，系統做得再好也不會有人用。
我覺得這是我從工程師往產品的方向走，很關鍵的一步。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職涯規劃分短中長期。
短期半年有四件事。
第一，我想持續主動去探索 AI 的新工具跟新做法。
這個領域變得很快，我不想只會我現在會的這些。
第二，把手上這兩套工具從「能用」做到「穩定」——
權限、資料、錯誤處理、維運，這些現在都還不夠硬。
第三，對外課程正式開賣之後，我希望能擔任主力講師，
並且把教材推到定稿。
第四，開始把這兩個專案的經驗沉澱成可複製的方法。
中期一年，我希望能獨立負責一條完整的產品線，
從題目發想、需求訪談，一路到上線跟維運，
並且把那套方法真的用在第三、第四個專案上，驗證它站得住。
長期三到五年，目標是成為能同時掌握對外課程產品跟對內系統落地的產品負責人，
讓 AI 導入在公司裡變成一件標準的事，而不是每次都從零開始的個案。
這個長期目標其實跟我當初應徵時寫的一樣——
我說我想為下一個十年的「辦公室 AI 化」做準備。
四個多月下來我更確定這件事值得做，而且程曦是可以做這件事的地方。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最後是給公司的三個建議，主題是新人入職跟知識傳承。
第一個，新人報告的目標建議由主管跟新人一起確認。
我理解目前的十二週目標表是為了讓新人有依循，
但它是所有新人共用的版本，跟實際派的工作常常會有落差。
我的建議是到職第一週由主管跟新人一起確認個人化的目標，中間再對一次，
這樣新人會更清楚自己被期待什麼。
第二個，建議各部門列一份自己每月重複作業的清單。
神秘客這套流程本來不在任何待辦清單上，老實說是碰巧發現的。
如果有這樣一份清單，我們部門就可以有系統地評估哪些該先做，而不是等人來說。
這個做法我在前公司實際跑過——
我在台北數位廣告導入 Notion 的時候，就是先盤點各部門重複的作業，
再依需求建自動化工作流，最後把跨部門溝通耗時降了大約 35%。
所以這不是我隨口提的想法，是驗證過會有效的做法。
第三個，內部工具做完之後要有交接跟維護機制。
我自己做完這兩套系統之後最擔心的就是這件事——
系統上線只是開始，如果沒有指定的維護窗口跟使用說明，
它遲早會變成只有我看得懂的黑箱。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以上就是我這四個多月的報告，謝謝各位的聆聽。
有任何問題都歡迎提出。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0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57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新人報告</a:t>
            </a:r>
            <a:endParaRPr lang="en-US" sz="62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4754880" cy="566928"/>
          </a:xfrm>
          <a:prstGeom prst="roundRect">
            <a:avLst>
              <a:gd name="adj" fmla="val 16129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產品工程師－黃家朗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創新研發部　｜　到職日 2026.04.10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58978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程曦資訊整合股份有限公司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E4B5D2C3-5FB9-4440-8CB7-8EA21A6C5C14}" type="slidenum"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fld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目錄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764792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640080" y="1764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98448" y="1691640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自我介紹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8448" y="2075688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我是誰、從哪裡來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43784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640080" y="2843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fld id="{3C138B6C-8D64-49BF-B1F7-966F6576BC4A}" type="slidenum"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fld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98448" y="2770632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公司精神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8448" y="3154680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愛、新、勤、誠與我的實踐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922776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640080" y="3922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98448" y="3849624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我的三階段工作主軸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98448" y="4233672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這四個多月實際在做什麼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5001768"/>
            <a:ext cx="475488" cy="475488"/>
          </a:xfrm>
          <a:prstGeom prst="ellipse">
            <a:avLst/>
          </a:prstGeom>
          <a:solidFill>
            <a:srgbClr val="D95F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640080" y="5001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98448" y="4928616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學習與工作成果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98448" y="5312664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對外四門課｜對內兩套系統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24448" y="1764792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6324448" y="1764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82816" y="1691640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學習心得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82816" y="2075688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收穫、成就感與挑戰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24448" y="2843784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6324448" y="2843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982816" y="2770632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職涯規劃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982816" y="3154680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短、中、長期目標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24448" y="3922776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6324448" y="3922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82816" y="3849624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對公司的建議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982816" y="4233672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新人入職與知識傳承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一、自我介紹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自我介紹</a:t>
            </a:r>
            <a:endParaRPr lang="en-US" sz="3200" dirty="0"/>
          </a:p>
        </p:txBody>
      </p:sp>
      <p:pic>
        <p:nvPicPr>
          <p:cNvPr id="4" name="Image 0" descr="/home/user/freshman-report/report/assets/profil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70671" y="1874520"/>
            <a:ext cx="2980944" cy="3977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3576676" cy="1851660"/>
          </a:xfrm>
          <a:prstGeom prst="roundRect">
            <a:avLst>
              <a:gd name="adj" fmla="val 2963"/>
            </a:avLst>
          </a:prstGeom>
          <a:solidFill>
            <a:srgbClr val="D6D9F0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3"/>
          <p:cNvSpPr/>
          <p:nvPr/>
        </p:nvSpPr>
        <p:spPr>
          <a:xfrm>
            <a:off x="932688" y="2093976"/>
            <a:ext cx="2991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學歷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32688" y="2532888"/>
            <a:ext cx="29914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國立清華大學 科技管理學院學士班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管理＋經濟雙專長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2018.09 – 2023.06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82516" y="1874520"/>
            <a:ext cx="3576676" cy="1851660"/>
          </a:xfrm>
          <a:prstGeom prst="roundRect">
            <a:avLst>
              <a:gd name="adj" fmla="val 2963"/>
            </a:avLst>
          </a:prstGeom>
          <a:solidFill>
            <a:srgbClr val="ECEEF8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6"/>
          <p:cNvSpPr/>
          <p:nvPr/>
        </p:nvSpPr>
        <p:spPr>
          <a:xfrm>
            <a:off x="4875124" y="2093976"/>
            <a:ext cx="2991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到職前經歷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875124" y="2532888"/>
            <a:ext cx="29914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台北數位廣告股份有限公司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產品企劃部｜產品企劃專員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2024.10 – 2026.03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4000500"/>
            <a:ext cx="3576676" cy="1851660"/>
          </a:xfrm>
          <a:prstGeom prst="roundRect">
            <a:avLst>
              <a:gd name="adj" fmla="val 2963"/>
            </a:avLst>
          </a:prstGeom>
          <a:solidFill>
            <a:srgbClr val="ECEEF8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Text 9"/>
          <p:cNvSpPr/>
          <p:nvPr/>
        </p:nvSpPr>
        <p:spPr>
          <a:xfrm>
            <a:off x="932688" y="4219956"/>
            <a:ext cx="2991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現職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932688" y="4658868"/>
            <a:ext cx="29914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程曦資訊整合股份有限公司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創新研發部｜產品工程師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2026.04 –</a:t>
            </a:r>
            <a:r>
              <a:rPr lang="zh-TW" alt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今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582516" y="4000500"/>
            <a:ext cx="3576676" cy="1851660"/>
          </a:xfrm>
          <a:prstGeom prst="roundRect">
            <a:avLst>
              <a:gd name="adj" fmla="val 2963"/>
            </a:avLst>
          </a:prstGeom>
          <a:solidFill>
            <a:srgbClr val="F7F1CE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2"/>
          <p:cNvSpPr/>
          <p:nvPr/>
        </p:nvSpPr>
        <p:spPr>
          <a:xfrm>
            <a:off x="4875124" y="4219956"/>
            <a:ext cx="2991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興趣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875124" y="4658868"/>
            <a:ext cx="29914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音樂（龐克搖滾／重金屬）、攝影、旅行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TRPG 主持與劇本創作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工作之外也用 AI 做數據分析與翻譯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D79E2B86-3913-4323-84EE-A6EB34D82340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fld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一、自我介紹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工作歷程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2816352"/>
            <a:ext cx="10271455" cy="41148"/>
          </a:xfrm>
          <a:prstGeom prst="rect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1857718" y="2688336"/>
            <a:ext cx="301752" cy="301752"/>
          </a:xfrm>
          <a:prstGeom prst="ellips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640080" y="2121408"/>
            <a:ext cx="2727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2020.05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27278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攸你資訊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3511296"/>
            <a:ext cx="25450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共同創辦人／PM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950208"/>
            <a:ext cx="25450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APP 產品從 0 到 1</a:t>
            </a:r>
            <a:endParaRPr lang="en-US" sz="11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領導 5 人團隊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85602" y="2688336"/>
            <a:ext cx="301752" cy="301752"/>
          </a:xfrm>
          <a:prstGeom prst="ellips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3367964" y="2121408"/>
            <a:ext cx="2727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2024.05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67964" y="3108960"/>
            <a:ext cx="27278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攸你資訊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59404" y="3511296"/>
            <a:ext cx="25450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PM／AI 提示工程師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59404" y="3950208"/>
            <a:ext cx="25450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 Custom GPTs</a:t>
            </a:r>
            <a:endParaRPr lang="en-US" sz="11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做內部工具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313486" y="2688336"/>
            <a:ext cx="301752" cy="301752"/>
          </a:xfrm>
          <a:prstGeom prst="ellips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6095848" y="2121408"/>
            <a:ext cx="2727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2024.10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095848" y="3108960"/>
            <a:ext cx="27278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台北數位廣告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87288" y="3511296"/>
            <a:ext cx="25450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產品企劃專員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87288" y="3950208"/>
            <a:ext cx="25450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工具調研</a:t>
            </a:r>
            <a:endParaRPr lang="en-US" sz="11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與內部培訓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041369" y="2688336"/>
            <a:ext cx="301752" cy="301752"/>
          </a:xfrm>
          <a:prstGeom prst="ellipse">
            <a:avLst/>
          </a:prstGeom>
          <a:solidFill>
            <a:srgbClr val="D95F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8823731" y="2121408"/>
            <a:ext cx="2727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2026.04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823731" y="3108960"/>
            <a:ext cx="27278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程曦資訊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915171" y="3511296"/>
            <a:ext cx="25450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創新研發部 產品工程師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915171" y="3950208"/>
            <a:ext cx="25450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altLang="zh-TW" sz="1150" b="1" dirty="0"/>
              <a:t>AI</a:t>
            </a:r>
            <a:r>
              <a:rPr lang="zh-TW" altLang="en-US" sz="1150" b="1" dirty="0"/>
              <a:t> 課程教材設計與主講</a:t>
            </a:r>
            <a:endParaRPr lang="en-US" altLang="zh-TW" sz="1150" b="1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zh-TW" altLang="en-US" sz="1150" b="1" dirty="0"/>
              <a:t>內部工作流賦能優化</a:t>
            </a:r>
            <a:endParaRPr lang="en-US" sz="1150" b="1" dirty="0"/>
          </a:p>
        </p:txBody>
      </p:sp>
      <p:sp>
        <p:nvSpPr>
          <p:cNvPr id="25" name="Text 23"/>
          <p:cNvSpPr/>
          <p:nvPr/>
        </p:nvSpPr>
        <p:spPr>
          <a:xfrm>
            <a:off x="640080" y="4937760"/>
            <a:ext cx="10911535" cy="713232"/>
          </a:xfrm>
          <a:prstGeom prst="roundRect">
            <a:avLst>
              <a:gd name="adj" fmla="val 10256"/>
            </a:avLst>
          </a:prstGeom>
          <a:solidFill>
            <a:srgbClr val="F7F1C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轉職動機：成為連結業務需求與工程開發的 AI 實踐者，為下一個十年的「辦公室 AI 化」做準備。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2D803946-AEEF-4E42-AC04-766EF33E99C9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fld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一、自我介紹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個人特質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解決力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606040" y="182880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不只回報問題，直接把工具做出來。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040880" y="1828800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神秘客系統：把五份以上 Excel 整併成單一後台。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670048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914400" y="267004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自學力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606040" y="267004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沒學過的東西，用 AI 工具邊做邊學做完。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0880" y="2670048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以 replit 開發整套神秘客系統。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511296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F7F1C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914400" y="3511296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換位思考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606040" y="351129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先搞懂對方要什麼，再動手。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040880" y="3511296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 機器人：用大量反問把抽象概念逼成規格。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52544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914400" y="4352544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系統思維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06040" y="435254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看見五份 Excel 背後其實是同一件事。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040880" y="4352544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先做權限分層，資料才有辦法集中。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193792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914400" y="5193792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交付到底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606040" y="519379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做到有人真的在用，不是 demo。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040880" y="5193792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神秘客已上線；PRD</a:t>
            </a: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</a:t>
            </a:r>
            <a:r>
              <a:rPr lang="en-US" sz="1250" dirty="0" err="1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機器人測試</a:t>
            </a:r>
            <a:r>
              <a:rPr lang="zh-TW" alt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使用</a:t>
            </a: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EC413F21-0099-4EA3-85CE-60ADE9973E67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fld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二、公司精神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愛、新、勤、誠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F2E2DA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愛自己、愛同事、愛家人</a:t>
            </a:r>
            <a:endParaRPr lang="en-US" sz="12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愛客戶、愛公司、愛競爭對手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50260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3450260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651428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求新、創新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0440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F7F1CE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6260440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6461608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勤勞、勤儉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70619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ECEEF8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9070619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誠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9271787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誠實、忠誠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13892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勤勞地用創新的方式，誠懇地愛人。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76E0996F-1F9A-4CB5-8598-17605B389147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</a:t>
            </a:fld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二、公司精神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我的實踐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950976" y="237744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950976" y="23774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057400" y="225856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zh-TW" altLang="en-US" sz="14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積極接下不同領域的挑戰工作</a:t>
            </a:r>
            <a:endParaRPr lang="en-US" sz="14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187452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F7F1CE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6589624" y="237744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589624" y="23774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696048" y="225856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下班後保持每日閱讀紙本書的習慣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F2E2DA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950976" y="452628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950976" y="4526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057400" y="440740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組成「韭菜吃飯小隊」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  <a:cs typeface="微軟正黑體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陪孤寡興煜外出吃午餐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78728" y="402336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ECEEF8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6589624" y="452628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6589624" y="4526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誠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7696048" y="440740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誠實彙報任務進度不灌水，做好小螺絲釘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2F68E035-5ECF-4B74-86C5-07CA9F0DD3FF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</a:t>
            </a:fld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三、工作主軸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我的三階段工作主軸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212945"/>
              </p:ext>
            </p:extLst>
          </p:nvPr>
        </p:nvGraphicFramePr>
        <p:xfrm>
          <a:off x="640080" y="1920240"/>
          <a:ext cx="10911535" cy="34747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192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8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階段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期間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主軸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具體工作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一、熟悉與投入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 1 個月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熟悉公司業務與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解題小組職責</a:t>
                      </a:r>
                      <a:endParaRPr lang="en-US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AI 教育訓練產品線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參與解題，交流 </a:t>
                      </a:r>
                      <a:r>
                        <a:rPr lang="en-US" altLang="zh-TW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AI 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應用思路</a:t>
                      </a:r>
                      <a:endParaRPr lang="en-US" altLang="zh-TW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  <a:p>
                      <a:pPr marL="0" indent="0">
                        <a:buNone/>
                      </a:pP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協助履歷分析、數字人面試官等專案</a:t>
                      </a:r>
                      <a:endParaRPr lang="en-US" altLang="zh-TW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  <a:p>
                      <a:pPr marL="0" indent="0">
                        <a:buNone/>
                      </a:pP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主責神秘客評分系統專案</a:t>
                      </a:r>
                      <a:endParaRPr lang="en-US" altLang="zh-TW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二、</a:t>
                      </a:r>
                      <a:r>
                        <a:rPr lang="zh-TW" alt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開發與</a:t>
                      </a:r>
                      <a:r>
                        <a:rPr lang="en-US" sz="1250" b="1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產出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 2～3 個月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對內流程數位化，從需求訪談到系統上線</a:t>
                      </a:r>
                      <a:endParaRPr lang="en-US" altLang="zh-TW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神秘客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評分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完成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開發並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正式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上線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使用</a:t>
                      </a:r>
                      <a:endParaRPr lang="en-US" altLang="zh-TW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zh-TW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PRD 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機器人開發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持續迭代</a:t>
                      </a:r>
                      <a:endParaRPr lang="en-US" altLang="zh-TW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三、</a:t>
                      </a:r>
                      <a:r>
                        <a:rPr lang="zh-TW" alt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教學與講授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D95F2B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 4 個月至今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課程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設計、教材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產出與內部試教</a:t>
                      </a:r>
                      <a:endParaRPr lang="en-US" altLang="zh-TW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完成</a:t>
                      </a:r>
                      <a:r>
                        <a:rPr lang="en-US" altLang="zh-TW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 2 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門課教材撰寫；擔任</a:t>
                      </a:r>
                      <a:r>
                        <a:rPr lang="en-US" altLang="zh-TW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 2 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門課講師並完成內部試教</a:t>
                      </a:r>
                      <a:endParaRPr lang="en-US" altLang="zh-TW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50" dirty="0">
                          <a:latin typeface="微軟正黑體" charset="0"/>
                          <a:ea typeface="微軟正黑體" charset="0"/>
                          <a:cs typeface="微軟正黑體" charset="0"/>
                        </a:rPr>
                        <a:t>擔任八月底的微醺 </a:t>
                      </a:r>
                      <a:r>
                        <a:rPr lang="en-US" altLang="zh-TW" sz="1250" dirty="0">
                          <a:latin typeface="微軟正黑體" charset="0"/>
                          <a:ea typeface="微軟正黑體" charset="0"/>
                          <a:cs typeface="微軟正黑體" charset="0"/>
                        </a:rPr>
                        <a:t>70% </a:t>
                      </a:r>
                      <a:r>
                        <a:rPr lang="zh-TW" altLang="en-US" sz="1250" dirty="0">
                          <a:latin typeface="微軟正黑體" charset="0"/>
                          <a:ea typeface="微軟正黑體" charset="0"/>
                          <a:cs typeface="微軟正黑體" charset="0"/>
                        </a:rPr>
                        <a:t>講師</a:t>
                      </a:r>
                      <a:endParaRPr lang="en-US" altLang="zh-TW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532120"/>
            <a:ext cx="10911535" cy="566928"/>
          </a:xfrm>
          <a:prstGeom prst="roundRect">
            <a:avLst>
              <a:gd name="adj" fmla="val 12903"/>
            </a:avLst>
          </a:prstGeom>
          <a:solidFill>
            <a:srgbClr val="F7F1C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三段的共同點：都是在做「把 AI </a:t>
            </a:r>
            <a:r>
              <a:rPr lang="zh-TW" alt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的知識變現，成為</a:t>
            </a:r>
            <a:r>
              <a:rPr lang="en-US" sz="1500" b="1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別人真的用得到的東西</a:t>
            </a: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」。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A564DFB2-1651-46E4-B7C1-146CF0AFBD67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</a:t>
            </a:fld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0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606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學習與工作成果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60F8FB86-FA03-4CE0-8CEE-F32C71361848}" type="slidenum"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</a:t>
            </a:fld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對外線：四門 AI 應用課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3291840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34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課程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我的角色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目前狀態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① AI 時代的商業企劃思維與簡報製作工具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D95F2B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教材撰寫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② AI 圖片生成課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D95F2B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教材撰寫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③ AI 輔助 UI/UX 與原型設計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17A0A0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擔任講師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④ AI 輔助 vibe-coding 程式開發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17A0A0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擔任講師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49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四門課皆已完成內部試教，尚未對外開課；教材依講師風格持續修正中，尚未定稿。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40080" y="58064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寫教材要把主題徹底搞懂才寫得出來；上台試教才知道學員會卡在哪裡——這兩件事互相回饋。　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5B22F318-0D3E-4944-BA15-75530A551E0E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11</a:t>
            </a:fld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教材撰寫①　AI 時代的商業企劃思維與簡報製作工具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我負責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課程架構、教材內容、實作案例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課程主題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 AI 輔助商業企劃的思考流程，並產出簡報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要開設鍋貼店作為期末成發的學生們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0080" y="41605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規模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434839"/>
            <a:ext cx="4045131" cy="1042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預計教學時數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小時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  <a:cs typeface="微軟正黑體" pitchFamily="34" charset="-120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教材頁數共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153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頁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包含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3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款創業工具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+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5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款簡報製作工具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共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10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款不同案例數</a:t>
            </a:r>
            <a:endParaRPr lang="en-US" altLang="zh-TW" sz="1450" dirty="0"/>
          </a:p>
        </p:txBody>
      </p:sp>
      <p:sp>
        <p:nvSpPr>
          <p:cNvPr id="15" name="Text 1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815F116D-CAA6-4771-A6E5-46DED81851D5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</a:t>
            </a:fld>
            <a:endParaRPr lang="en-US" sz="1100" dirty="0"/>
          </a:p>
        </p:txBody>
      </p:sp>
      <p:pic>
        <p:nvPicPr>
          <p:cNvPr id="17" name="圖片 16" descr="The image appears to be a webpage or document layout for a travel itinerary, specifically a 5-night trip in Saga Prefecture, Japan, featuring various locations and activities such as temples, hot springs, and dining experiences.&#10;&#10;AI 產生的內容可能不正確。">
            <a:extLst>
              <a:ext uri="{FF2B5EF4-FFF2-40B4-BE49-F238E27FC236}">
                <a16:creationId xmlns:a16="http://schemas.microsoft.com/office/drawing/2014/main" id="{93A179FF-F9D4-B97E-1E35-063F142AF6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528" y="1645920"/>
            <a:ext cx="7152967" cy="400942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教材撰寫②　AI 圖片生成課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37960" y="196596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我負責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37960" y="224028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課程架構、教材內容、實作案例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537960" y="269748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課程主題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537960" y="297180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圖片生成的原理、提示詞撰寫與實務應用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342900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37960" y="370332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要開設鍋貼店作為期末成發的學生們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537960" y="416052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規模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37960" y="4434839"/>
            <a:ext cx="5013655" cy="98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預計教學時數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小時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  <a:cs typeface="微軟正黑體" pitchFamily="34" charset="-120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教材頁數共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219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頁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包含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5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款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 AI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生圖工具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+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40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個以上的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prompt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模板與範例</a:t>
            </a:r>
            <a:endParaRPr lang="en-US" altLang="zh-TW" sz="1450" dirty="0"/>
          </a:p>
        </p:txBody>
      </p:sp>
      <p:sp>
        <p:nvSpPr>
          <p:cNvPr id="14" name="Text 12"/>
          <p:cNvSpPr/>
          <p:nvPr/>
        </p:nvSpPr>
        <p:spPr>
          <a:xfrm>
            <a:off x="6446520" y="5526895"/>
            <a:ext cx="5013655" cy="1051560"/>
          </a:xfrm>
          <a:prstGeom prst="roundRect">
            <a:avLst>
              <a:gd name="adj" fmla="val 6957"/>
            </a:avLst>
          </a:prstGeom>
          <a:solidFill>
            <a:srgbClr val="D6D9F0"/>
          </a:solidFill>
          <a:ln/>
        </p:spPr>
        <p:txBody>
          <a:bodyPr wrap="square" lIns="127000" tIns="177800" rIns="177800" bIns="12700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圖片生成結果不穩定，所以教材重點放在「怎麼描述」與「怎麼修正」，而不是給一堆可複製的提示詞——範本會過期，方法不會。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ACD2C2AF-8920-4F70-80CE-FCDD62B98433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13</a:t>
            </a:fld>
            <a:endParaRPr lang="en-US" sz="1100" dirty="0"/>
          </a:p>
        </p:txBody>
      </p:sp>
      <p:pic>
        <p:nvPicPr>
          <p:cNvPr id="17" name="圖片 16" descr="A stylish young woman in casual chic outfit, taking a selfie with a coffee in hand, in a modern cafￃﾩ with soft natural lighting and high-resolution, balanced composition.&#10;&#10;AI 產生的內容可能不正確。">
            <a:extLst>
              <a:ext uri="{FF2B5EF4-FFF2-40B4-BE49-F238E27FC236}">
                <a16:creationId xmlns:a16="http://schemas.microsoft.com/office/drawing/2014/main" id="{29F75808-1AEF-073C-4956-D6F32B46D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90802"/>
            <a:ext cx="5386251" cy="302737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擔任講師的兩門課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72888" cy="2788920"/>
          </a:xfrm>
          <a:prstGeom prst="roundRect">
            <a:avLst>
              <a:gd name="adj" fmla="val 1967"/>
            </a:avLst>
          </a:prstGeom>
          <a:solidFill>
            <a:srgbClr val="ECEEF8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914400" y="2057400"/>
            <a:ext cx="4724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　AI 輔助 UI/UX 與原型設計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47242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教材：同事撰寫　／　我負責：授課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已完成內部試教，尚未對外開課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【待補：時數／對象／場次】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3931920"/>
            <a:ext cx="4724248" cy="621792"/>
          </a:xfrm>
          <a:prstGeom prst="roundRect">
            <a:avLst>
              <a:gd name="adj" fmla="val 11765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1051560" y="3931920"/>
            <a:ext cx="4449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【待放圖】③ 教材頁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course-03-slide.png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78728" y="1874520"/>
            <a:ext cx="5272888" cy="2788920"/>
          </a:xfrm>
          <a:prstGeom prst="roundRect">
            <a:avLst>
              <a:gd name="adj" fmla="val 1967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553048" y="2057400"/>
            <a:ext cx="4724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　AI 輔助 vibe-coding 程式開發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53048" y="2788920"/>
            <a:ext cx="47242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教材：同事撰寫　／　我負責：授課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已完成內部試教，尚未對外開課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【待補：時數／對象／場次】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53048" y="3931920"/>
            <a:ext cx="4724248" cy="621792"/>
          </a:xfrm>
          <a:prstGeom prst="roundRect">
            <a:avLst>
              <a:gd name="adj" fmla="val 11765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6690208" y="3931920"/>
            <a:ext cx="4449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【待放圖】④ 教材頁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course-04-slide.png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493776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7F1CE"/>
          </a:solidFill>
          <a:ln/>
        </p:spPr>
        <p:txBody>
          <a:bodyPr wrap="square" lIns="127000" tIns="203200" rIns="203200" bIns="12700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vibe-coding 這門課教的方法，就是我後來開發神秘客系統與 PRD 機器人實際用的方法——先教別人怎麼用 AI 寫程式，然後自己拿這套方法做出兩個真的有人在用的系統。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18C4DF4-CB65-4768-A6C9-EF00782CD775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14</a:t>
            </a:fld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教材與課堂實況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332378" cy="3566160"/>
          </a:xfrm>
          <a:prstGeom prst="roundRect">
            <a:avLst>
              <a:gd name="adj" fmla="val 2195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【待放圖】教材展示 1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course-showcase-01.png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429658" y="1965960"/>
            <a:ext cx="3332378" cy="3566160"/>
          </a:xfrm>
          <a:prstGeom prst="roundRect">
            <a:avLst>
              <a:gd name="adj" fmla="val 2195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566818" y="196596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【待放圖】教材展示 2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course-showcase-02.png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19237" y="1965960"/>
            <a:ext cx="3332378" cy="3566160"/>
          </a:xfrm>
          <a:prstGeom prst="roundRect">
            <a:avLst>
              <a:gd name="adj" fmla="val 2195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8356397" y="196596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【待放圖】教材展示 3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course-showcase-03.png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571500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完整教材可於課後單獨提供。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829F6219-5DB2-485E-972D-768BAE8E0A83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</a:t>
            </a:fld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0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606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內部工具與系統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神秘客評分系統（已上線）　｜　PRD 機器人（跨部門測試中）　｜　其他零星支援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DB34E567-38CE-4340-A0F0-1509CC790061}" type="slidenum"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17</a:t>
            </a:fld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神秘客訪問電話是什麼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ECEEF8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1622260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1622260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互打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68680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各專案組每月隨機撥打電話給其他專案組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 rot="5400000">
            <a:off x="3203372" y="3246120"/>
            <a:ext cx="173736" cy="219456"/>
          </a:xfrm>
          <a:prstGeom prst="triangl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3445688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4427868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4427868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28568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檢核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674288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以腳本上的常見 FAQ，檢驗接聽同仁是否合乎禮儀、使用標準起手台詞、答案正確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 rot="5400000">
            <a:off x="6008980" y="3246120"/>
            <a:ext cx="173736" cy="219456"/>
          </a:xfrm>
          <a:prstGeom prst="triangl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6251296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ECEEF8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7233476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7233476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34176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彙整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6479896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各組寫抽查成果與分數給主管，主管彙整報表與未達滿分的經緯報告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 rot="5400000">
            <a:off x="8814587" y="3246120"/>
            <a:ext cx="173736" cy="219456"/>
          </a:xfrm>
          <a:prstGeom prst="triangl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9056903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10039083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10039083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239783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發布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285503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分數向下發給各專案組、向上呈報高級主管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0080" y="50292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這整套流程每個月都要跑一次。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BF5718A4-3F0D-4F90-A542-49855FA4164D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18</a:t>
            </a:fld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舊流程的痛點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93338" cy="3703320"/>
          </a:xfrm>
          <a:prstGeom prst="roundRect">
            <a:avLst>
              <a:gd name="adj" fmla="val 1617"/>
            </a:avLst>
          </a:prstGeom>
          <a:solidFill>
            <a:srgbClr val="F2E2DA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868680" y="21031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五份以上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68680" y="2542032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的 Excel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914400" y="3063240"/>
            <a:ext cx="28446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同一件事的資料散在五份以上的表單裡，一份工作要開一堆檔案。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4114800"/>
            <a:ext cx="2844698" cy="1280160"/>
          </a:xfrm>
          <a:prstGeom prst="roundRect">
            <a:avLst>
              <a:gd name="adj" fmla="val 5714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1051560" y="4114800"/>
            <a:ext cx="25703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【待放圖】舊流程截圖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legacy-excel-01.png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99178" y="1920240"/>
            <a:ext cx="3393338" cy="3703320"/>
          </a:xfrm>
          <a:prstGeom prst="roundRect">
            <a:avLst>
              <a:gd name="adj" fmla="val 1617"/>
            </a:avLst>
          </a:prstGeom>
          <a:solidFill>
            <a:srgbClr val="F2E2DA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4627778" y="21031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每個月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627778" y="2542032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都要重來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4673498" y="3063240"/>
            <a:ext cx="28446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每到月底就要重開報表、重設一次 Google 表單給人填。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73498" y="4114800"/>
            <a:ext cx="2844698" cy="1280160"/>
          </a:xfrm>
          <a:prstGeom prst="roundRect">
            <a:avLst>
              <a:gd name="adj" fmla="val 5714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4810658" y="4114800"/>
            <a:ext cx="25703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【待放圖】舊流程截圖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legacy-form-01.png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58277" y="1920240"/>
            <a:ext cx="3393338" cy="3703320"/>
          </a:xfrm>
          <a:prstGeom prst="roundRect">
            <a:avLst>
              <a:gd name="adj" fmla="val 1617"/>
            </a:avLst>
          </a:prstGeom>
          <a:solidFill>
            <a:srgbClr val="F2E2DA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8386877" y="21031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手動算分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8386877" y="2542032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反覆貼上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432597" y="3063240"/>
            <a:ext cx="28446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收回來的資料要手動計算分數，再一直複製貼上到給不同對象的 Excel。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432597" y="4114800"/>
            <a:ext cx="2844698" cy="1280160"/>
          </a:xfrm>
          <a:prstGeom prst="roundRect">
            <a:avLst>
              <a:gd name="adj" fmla="val 5714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8569757" y="4114800"/>
            <a:ext cx="25703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【待放圖】舊流程截圖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legacy-excel-02.png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58064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最花時間的不是判斷，是搬資料。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82C2C630-E22E-4D50-AF15-1068B98C59EF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19</a:t>
            </a:fld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我的解法：單一後台 × 三層權限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760720" cy="1024128"/>
          </a:xfrm>
          <a:prstGeom prst="roundRect">
            <a:avLst>
              <a:gd name="adj" fmla="val 5357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896112" y="2240280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96112" y="2240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209397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整併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2468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把散在五份以上 Excel 的流程，整併進同一個網站、同一個後台。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136392"/>
            <a:ext cx="5760720" cy="1024128"/>
          </a:xfrm>
          <a:prstGeom prst="roundRect">
            <a:avLst>
              <a:gd name="adj" fmla="val 5357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896112" y="3410712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896112" y="34107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6440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不搬資料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08760" y="363931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資料不需要再搬移，只針對不同對象切換顯示內容。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306824"/>
            <a:ext cx="5760720" cy="1024128"/>
          </a:xfrm>
          <a:prstGeom prst="roundRect">
            <a:avLst>
              <a:gd name="adj" fmla="val 5357"/>
            </a:avLst>
          </a:prstGeom>
          <a:solidFill>
            <a:srgbClr val="F7F1C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896112" y="4581144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896112" y="4581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4348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設定一次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480974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設定一次就長期適用，不必每月重做，直到當事人轉職或離職。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57784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開發方式：全程使用 replit 等 AI 工具開發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812280" y="1965960"/>
            <a:ext cx="4739335" cy="4114800"/>
          </a:xfrm>
          <a:prstGeom prst="roundRect">
            <a:avLst>
              <a:gd name="adj" fmla="val 1778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6949440" y="1965960"/>
            <a:ext cx="446501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【待放圖】系統首頁／登入頁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mystery-01-login.png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1255A0BD-3B19-49F4-9BAE-268248567924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</a:t>
            </a:fld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權限設計：三種角色，三種畫面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依涉入神秘客電訪的人員層級分為三種權限等級，不同帳號開放不同功能。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911535" cy="2633472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850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層級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大致角色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開放範圍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第一層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執行電訪與被檢核的專案組同仁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執行與提交相關功能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第二層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管理神秘客電訪的管理者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出題、派發、評分、報表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第三層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需要看結果的高級主管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彙總報表與結果檢視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4956048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4"/>
          <p:cNvSpPr/>
          <p:nvPr/>
        </p:nvSpPr>
        <p:spPr>
          <a:xfrm>
            <a:off x="777240" y="4956048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【待放圖】權限分層畫面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mystery-02-permission.png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126480" y="4956048"/>
            <a:ext cx="5425135" cy="1143000"/>
          </a:xfrm>
          <a:prstGeom prst="roundRect">
            <a:avLst>
              <a:gd name="adj" fmla="val 6400"/>
            </a:avLst>
          </a:prstGeom>
          <a:solidFill>
            <a:srgbClr val="F7F1CE"/>
          </a:solidFill>
          <a:ln/>
        </p:spPr>
        <p:txBody>
          <a:bodyPr wrap="square" lIns="127000" tIns="203200" rIns="203200" bIns="12700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先有權限分層，才有辦法把資料集中——過去要拆成好幾份 Excel，本來就是為了讓不同的人看到不同的東西。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CF4FD678-200D-4C67-A1B0-B8BC8BDCF35A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21</a:t>
            </a:fld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八大功能 ①–④：出題 → 派發 → 評分 → 報表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859536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5953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08176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設計新問題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建立檢核用的題目。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77824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1014984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【待放圖】設計新問題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mystery-03-question.png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36544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ECEEF8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3656000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36560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204640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抽選並分配專案組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74288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取代每月重設一次 Google 表單的工作。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74288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3811448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【待放圖】抽選並分配專案組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mystery-04-assign.png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3008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6452464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645246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001104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分數評鑑介面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70752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取代手動計算與貼上分數。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70752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6607912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【待放圖】分數評鑑介面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mystery-05-scoring.png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29471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ECEEF8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6" name="Shape 24"/>
          <p:cNvSpPr/>
          <p:nvPr/>
        </p:nvSpPr>
        <p:spPr>
          <a:xfrm>
            <a:off x="9248927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5"/>
          <p:cNvSpPr/>
          <p:nvPr/>
        </p:nvSpPr>
        <p:spPr>
          <a:xfrm>
            <a:off x="9248927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797567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報表匯出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267215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各對象所需的報表直接產生，不用再複製貼上。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267215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9404375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【待放圖】報表匯出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mystery-06-report.png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5623560"/>
            <a:ext cx="10911535" cy="658368"/>
          </a:xfrm>
          <a:prstGeom prst="roundRect">
            <a:avLst>
              <a:gd name="adj" fmla="val 11111"/>
            </a:avLst>
          </a:prstGeom>
          <a:solidFill>
            <a:srgbClr val="F7F1C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這四項合起來，解決了「每個月都要重來一次」這個痛點。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095FF22C-204F-41BA-98FC-D241F14AEEE0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22</a:t>
            </a:fld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八大功能 ⑤–⑧：檢討 → 申覆 → 帳號管理 → 通知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859536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5953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08176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提交檢討報告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未達滿分的經緯報告直接在系統內提交。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77824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1014984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【待放圖】提交檢討報告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mystery-07-review.png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36544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ECEEF8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3656000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36560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204640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提交申覆系統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74288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對評分結果有疑義可線上申覆，不必私下爭執。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74288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3811448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【待放圖】提交申覆系統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mystery-08-appeal.png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3008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6452464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645246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001104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帳號與身分組管理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70752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含移轉機制。人事異動時管理者自己就能處理，不必找工程師。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70752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6607912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【待放圖】帳號與身分組管理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mystery-09-account.png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29471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ECEEF8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6" name="Shape 24"/>
          <p:cNvSpPr/>
          <p:nvPr/>
        </p:nvSpPr>
        <p:spPr>
          <a:xfrm>
            <a:off x="9248927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5"/>
          <p:cNvSpPr/>
          <p:nvPr/>
        </p:nvSpPr>
        <p:spPr>
          <a:xfrm>
            <a:off x="9248927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797567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通知系統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267215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分全服公告與個人通知，該知道的人在系統裡就會知道。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267215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9404375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【待放圖】通知系統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mystery-10-notify.png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5623560"/>
            <a:ext cx="10911535" cy="658368"/>
          </a:xfrm>
          <a:prstGeom prst="roundRect">
            <a:avLst>
              <a:gd name="adj" fmla="val 11111"/>
            </a:avLst>
          </a:prstGeom>
          <a:solidFill>
            <a:srgbClr val="F7F1C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申覆功能不在任何需求文件上——是理解流程之後才發現需要的；⑦⑧ 則是讓系統長期活下去的關鍵。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67D8EE17-4D8C-4FF1-9605-88236FB36835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23</a:t>
            </a:fld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前後對比</a:t>
            </a:r>
            <a:endParaRPr lang="en-US" sz="3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3712464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7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舊流程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神秘客系統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資料位置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分散在 5 份以上 Excel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集中在單一後台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每月作業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重開報表、重設 Google 表單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設定一次長期適用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分數計算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手動計算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系統評鑑介面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給不同對象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複製貼上到不同 Excel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依權限切換顯示內容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檢討與申覆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另外處理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系統內提交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人事異動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需重新整理表單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帳號／身分組移轉機制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71500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改變的重點不是把工作做得更快，而是把「每個月都要重做一次」變成「設定一次就好」。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AD119FAC-2C55-4B44-ADDF-2CDF0B21D6DC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24</a:t>
            </a:fld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成效與現況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4663440" cy="2423160"/>
          </a:xfrm>
          <a:prstGeom prst="roundRect">
            <a:avLst>
              <a:gd name="adj" fmla="val 2264"/>
            </a:avLst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約 90%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推估節省的作業時間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＊本數字為個人推估，尚未經實測驗證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0" y="1920240"/>
            <a:ext cx="5882335" cy="731520"/>
          </a:xfrm>
          <a:prstGeom prst="roundRect">
            <a:avLst>
              <a:gd name="adj" fmla="val 7500"/>
            </a:avLst>
          </a:prstGeom>
          <a:solidFill>
            <a:srgbClr val="6DCFA5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5897880" y="19202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狀態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178040" y="1920240"/>
            <a:ext cx="4144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已實際上線，目前使用中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0" y="2761488"/>
            <a:ext cx="5882335" cy="731520"/>
          </a:xfrm>
          <a:prstGeom prst="roundRect">
            <a:avLst>
              <a:gd name="adj" fmla="val 7500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5897880" y="276148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使用單位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178040" y="2761488"/>
            <a:ext cx="4144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所有需執行神秘客訪問電話的專案組，以及神秘客電訪管理者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0" y="3602736"/>
            <a:ext cx="5882335" cy="731520"/>
          </a:xfrm>
          <a:prstGeom prst="roundRect">
            <a:avLst>
              <a:gd name="adj" fmla="val 7500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5897880" y="3602736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開發方式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3602736"/>
            <a:ext cx="4144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全程使用 replit 等 AI 工具開發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0" y="45262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【待補：上線日期、使用單位數、使用人數】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93776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F7F1CE"/>
          </a:solidFill>
          <a:ln/>
        </p:spPr>
        <p:txBody>
          <a:bodyPr wrap="square" lIns="127000" tIns="228600" rIns="228600" bIns="12700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推估依據：過去每月要開所有 Excel 報表、設一次新的 Google 表單、手動算分、再複製貼上給不同對象；現在全部在同一個後台完成，資料不用搬，也不需要每月重改。若主管認為需要，我可以實際量測作業時間，把真實數字補上。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7044B28B-6094-42A6-A291-FE00DB569A0D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25</a:t>
            </a:fld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 機器人：解決什麼問題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想法很抽象，但開發需要規格。從「我想做一個 X」到一份能動工的 PRD，中間那段最卡。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5250028" cy="1600200"/>
          </a:xfrm>
          <a:prstGeom prst="roundRect">
            <a:avLst>
              <a:gd name="adj" fmla="val 3429"/>
            </a:avLst>
          </a:prstGeom>
          <a:solidFill>
            <a:srgbClr val="F2E2D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4701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過去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94436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靠有經驗的人一次次開會追問，或是自己對著空白文件硬寫——品質看人，也很花時間。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1588" y="2377440"/>
            <a:ext cx="5250028" cy="1600200"/>
          </a:xfrm>
          <a:prstGeom prst="roundRect">
            <a:avLst>
              <a:gd name="adj" fmla="val 3429"/>
            </a:avLst>
          </a:prstGeom>
          <a:solidFill>
            <a:srgbClr val="6DCFA5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6575908" y="2542032"/>
            <a:ext cx="4701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75908" y="294436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一個會反問的機器人，把抽象的概念一路問到能寫成規格為止。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251960"/>
            <a:ext cx="3657600" cy="1371600"/>
          </a:xfrm>
          <a:prstGeom prst="roundRect">
            <a:avLst>
              <a:gd name="adj" fmla="val 4000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914400" y="440740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輸入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47548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一個抽象的概念或想法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 rot="5400000">
            <a:off x="4526280" y="4818888"/>
            <a:ext cx="219456" cy="274320"/>
          </a:xfrm>
          <a:prstGeom prst="triangl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4983480" y="4251960"/>
            <a:ext cx="6568135" cy="1371600"/>
          </a:xfrm>
          <a:prstGeom prst="roundRect">
            <a:avLst>
              <a:gd name="adj" fmla="val 4000"/>
            </a:avLst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5257800" y="4407408"/>
            <a:ext cx="60194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輸出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57800" y="4754880"/>
            <a:ext cx="6019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一份 PRD 初稿與技術文件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這件事跟神秘客系統其實是同一個主題：把「靠人」的流程，變成「靠系統」也做得到。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4EE25ADF-70F3-446E-BEC4-EB247636E28C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26</a:t>
            </a:fld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怎麼運作：用大量反問，把抽象逼成具體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760720" cy="1152144"/>
          </a:xfrm>
          <a:prstGeom prst="roundRect">
            <a:avLst>
              <a:gd name="adj" fmla="val 4762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896112" y="2258568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96112" y="2258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204825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不等你講清楚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242316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一般工具是你把需求寫好，它幫你排版；這個是反過來——你只要有個模糊的想法就可以開始。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218688"/>
            <a:ext cx="5760720" cy="1152144"/>
          </a:xfrm>
          <a:prstGeom prst="roundRect">
            <a:avLst>
              <a:gd name="adj" fmla="val 4762"/>
            </a:avLst>
          </a:prstGeom>
          <a:solidFill>
            <a:srgbClr val="F7F1C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896112" y="3557016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896112" y="3557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346704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大量反問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08760" y="372160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反問 → 你補完 → 再反問，一路把沒想到的地方問出來。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517136"/>
            <a:ext cx="5760720" cy="1152144"/>
          </a:xfrm>
          <a:prstGeom prst="roundRect">
            <a:avLst>
              <a:gd name="adj" fmla="val 4762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896112" y="4855464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896112" y="48554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6451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收斂成文件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5020056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問到夠了，直接產出 PRD 初稿與技術文件。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852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為什麼有效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194560" y="5852160"/>
            <a:ext cx="9357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使用者常常不是不願意寫，是不知道該寫什麼——回答問題永遠比面對空白頁容易。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12280" y="1920240"/>
            <a:ext cx="4739335" cy="3803904"/>
          </a:xfrm>
          <a:prstGeom prst="roundRect">
            <a:avLst>
              <a:gd name="adj" fmla="val 1923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6949440" y="1920240"/>
            <a:ext cx="4465015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【待放圖】反問過程的對話畫面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prd-02-dialogue.png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8332B467-11C8-474E-B5EA-1F04D0E2EB82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27</a:t>
            </a:fld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 機器人：現況與測試回饋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4663440" cy="2286000"/>
          </a:xfrm>
          <a:prstGeom prst="roundRect">
            <a:avLst>
              <a:gd name="adj" fmla="val 2400"/>
            </a:avLst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約 10 位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400" y="31546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其他部門的同事共同測試中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566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＊尚未全面對公司內其他人開放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0" y="1920240"/>
            <a:ext cx="5882335" cy="694944"/>
          </a:xfrm>
          <a:prstGeom prst="roundRect">
            <a:avLst>
              <a:gd name="adj" fmla="val 7895"/>
            </a:avLst>
          </a:prstGeom>
          <a:solidFill>
            <a:srgbClr val="6DCFA5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5897880" y="1920240"/>
            <a:ext cx="1371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狀態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269480" y="1920240"/>
            <a:ext cx="405353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已完成開發，仍在持續更新版本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0" y="2724912"/>
            <a:ext cx="5882335" cy="694944"/>
          </a:xfrm>
          <a:prstGeom prst="roundRect">
            <a:avLst>
              <a:gd name="adj" fmla="val 7895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5897880" y="2724912"/>
            <a:ext cx="1371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測試範圍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269480" y="2724912"/>
            <a:ext cx="405353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公司內部跨部門同事共同試用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0" y="3529584"/>
            <a:ext cx="5882335" cy="694944"/>
          </a:xfrm>
          <a:prstGeom prst="roundRect">
            <a:avLst>
              <a:gd name="adj" fmla="val 7895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5897880" y="3529584"/>
            <a:ext cx="1371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我的做法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269480" y="3529584"/>
            <a:ext cx="405353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收到 bug 或改善建議就持續修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0" y="4370832"/>
            <a:ext cx="5882335" cy="1234440"/>
          </a:xfrm>
          <a:prstGeom prst="roundRect">
            <a:avLst>
              <a:gd name="adj" fmla="val 5926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5806440" y="4370832"/>
            <a:ext cx="56080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【待放圖】產出的 PRD 初稿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prd-03-output.png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370832"/>
            <a:ext cx="4663440" cy="1234440"/>
          </a:xfrm>
          <a:prstGeom prst="roundRect">
            <a:avLst>
              <a:gd name="adj" fmla="val 5926"/>
            </a:avLst>
          </a:prstGeom>
          <a:solidFill>
            <a:srgbClr val="F7F1CE"/>
          </a:solidFill>
          <a:ln/>
        </p:spPr>
        <p:txBody>
          <a:bodyPr wrap="square" lIns="127000" tIns="177800" rIns="177800" bIns="12700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這是我第一次做「跨部門一起測」的工具。收回饋比寫功能難——十個人給的建議常常互相衝突，要判斷哪些是真的需求、哪些只是個人習慣。這件事還沒結束，我還在持續修。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3B0D5698-C4E8-4B64-86D9-83252B848460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28</a:t>
            </a:fld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五、學習心得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學習心得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93338" cy="3246120"/>
          </a:xfrm>
          <a:prstGeom prst="roundRect">
            <a:avLst>
              <a:gd name="adj" fmla="val 1690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2844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F446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收穫最多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651760"/>
            <a:ext cx="28812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從使用者身上學需求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932688" y="3657600"/>
            <a:ext cx="280812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難的從來不是技術，是搞懂對方到底要什麼。到後來我乾脆把這件事做成工具——PRD 機器人就是在幫別人做需求釐清。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99178" y="1920240"/>
            <a:ext cx="3393338" cy="3246120"/>
          </a:xfrm>
          <a:prstGeom prst="roundRect">
            <a:avLst>
              <a:gd name="adj" fmla="val 1690"/>
            </a:avLst>
          </a:prstGeom>
          <a:solidFill>
            <a:srgbClr val="6DCFA5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4673498" y="2148840"/>
            <a:ext cx="2844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F446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最有成就感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55210" y="2651760"/>
            <a:ext cx="28812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東西真的被用起來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691786" y="3657600"/>
            <a:ext cx="280812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神秘客系統每個月都有人真的登入在用，PRD 機器人有十個跨部門同事在測。做出能動的東西不難，做出有人用的東西完全不一樣。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8277" y="1920240"/>
            <a:ext cx="3393338" cy="3246120"/>
          </a:xfrm>
          <a:prstGeom prst="roundRect">
            <a:avLst>
              <a:gd name="adj" fmla="val 1690"/>
            </a:avLst>
          </a:prstGeom>
          <a:solidFill>
            <a:srgbClr val="F2E2DA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8432597" y="2148840"/>
            <a:ext cx="2844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F446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最挑戰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414309" y="2651760"/>
            <a:ext cx="28812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判斷什麼不該做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450885" y="3657600"/>
            <a:ext cx="280812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 AI 開發很快，快到想到什麼功能都做得出來，反而要克制——這是使用者需要的，還是我想做的？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5E83A526-7869-4483-8E7E-1D0737F4A462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31</a:t>
            </a:fld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0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五、學習心得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這四個多月最重要的一課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從「做出功能」</a:t>
            </a:r>
            <a:endParaRPr lang="en-US" sz="4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到「交付一個會被用的系統」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4434840"/>
            <a:ext cx="3423818" cy="1371600"/>
          </a:xfrm>
          <a:prstGeom prst="roundRect">
            <a:avLst>
              <a:gd name="adj" fmla="val 4000"/>
            </a:avLst>
          </a:prstGeom>
          <a:solidFill>
            <a:srgbClr val="2E32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96112" y="4434840"/>
            <a:ext cx="291175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功能做完 ≠ 交付完成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83938" y="4434840"/>
            <a:ext cx="3423818" cy="1371600"/>
          </a:xfrm>
          <a:prstGeom prst="roundRect">
            <a:avLst>
              <a:gd name="adj" fmla="val 4000"/>
            </a:avLst>
          </a:prstGeom>
          <a:solidFill>
            <a:srgbClr val="2E32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4639970" y="4434840"/>
            <a:ext cx="291175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要考慮：誰在用、人事異動了怎麼辦、被評分的人不服氣怎麼辦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127797" y="4434840"/>
            <a:ext cx="3423818" cy="1371600"/>
          </a:xfrm>
          <a:prstGeom prst="roundRect">
            <a:avLst>
              <a:gd name="adj" fmla="val 4000"/>
            </a:avLst>
          </a:prstGeom>
          <a:solidFill>
            <a:srgbClr val="2E32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8383829" y="4434840"/>
            <a:ext cx="291175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這些都不是技術問題，但不解決，系統就不會有人用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455EDCD-3FFA-4EBA-9CF1-DC559D3C95FC}" type="slidenum"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32</a:t>
            </a:fld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六、職涯規劃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職涯規劃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393338" cy="3931920"/>
          </a:xfrm>
          <a:prstGeom prst="roundRect">
            <a:avLst>
              <a:gd name="adj" fmla="val 1617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2844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短期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半年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32688" y="3154680"/>
            <a:ext cx="280812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主動探索 AI 新工具與新潮流，維持技術敏感度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把兩套工具從「能用」做到「穩定」：權限、資料、錯誤處理與維運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對外課程正式開賣後擔任主力講師，並推動教材定稿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開始把兩個專案的經驗，沉澱成可複製的開發與導入方法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99178" y="1965960"/>
            <a:ext cx="3393338" cy="3931920"/>
          </a:xfrm>
          <a:prstGeom prst="roundRect">
            <a:avLst>
              <a:gd name="adj" fmla="val 1617"/>
            </a:avLst>
          </a:prstGeom>
          <a:solidFill>
            <a:srgbClr val="F7F1CE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4673498" y="2148840"/>
            <a:ext cx="2844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中期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673498" y="269748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 年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91786" y="3154680"/>
            <a:ext cx="280812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獨立負責一條完整產品線——從題目發想、需求訪談，到上線與維運</a:t>
            </a:r>
            <a:endParaRPr lang="en-US" sz="13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把可複製的方法真正用在第三、第四個專案上，驗證它站得住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8277" y="1965960"/>
            <a:ext cx="3393338" cy="3931920"/>
          </a:xfrm>
          <a:prstGeom prst="roundRect">
            <a:avLst>
              <a:gd name="adj" fmla="val 1617"/>
            </a:avLst>
          </a:prstGeom>
          <a:solidFill>
            <a:srgbClr val="6DCFA5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8432597" y="2148840"/>
            <a:ext cx="2844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長期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432597" y="269748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3～5 年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50885" y="3154680"/>
            <a:ext cx="280812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成為能同時掌握「對外課程產品」與「對內系統落地」的產品負責人</a:t>
            </a:r>
            <a:endParaRPr lang="en-US" sz="13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讓 AI 導入在公司內成為標準做法，而不是每次都從零開始的個案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4087065F-A055-4169-AE39-760A411C1D2D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33</a:t>
            </a:fld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七、對公司的建議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對公司的建議｜新人入職與知識傳承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1207008"/>
          </a:xfrm>
          <a:prstGeom prst="roundRect">
            <a:avLst>
              <a:gd name="adj" fmla="val 4545"/>
            </a:avLst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932688" y="2240280"/>
            <a:ext cx="502920" cy="50292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932688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00200" y="2029968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新人報告的目標，建議由主管與新人共同確認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600200" y="245059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目前的十二週目標表是所有新人共用版本，與實際派工內容常有落差。建議到職第一週由主管與新人一起確認個人化目標，中間再對一次。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10911535" cy="1207008"/>
          </a:xfrm>
          <a:prstGeom prst="roundRect">
            <a:avLst>
              <a:gd name="adj" fmla="val 4545"/>
            </a:avLst>
          </a:prstGeom>
          <a:solidFill>
            <a:srgbClr val="F7F1C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932688" y="3611880"/>
            <a:ext cx="502920" cy="50292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932688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600200" y="3401568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把各部門的重複性作業做成一份「待數位化清單」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82219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神秘客這套流程原本不在任何待辦清單上，是碰巧發現的。若各部門能列出自己每月重複的作業，創新研發部就能有系統地評估導入順序。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911535" cy="1207008"/>
          </a:xfrm>
          <a:prstGeom prst="roundRect">
            <a:avLst>
              <a:gd name="adj" fmla="val 4545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932688" y="4983480"/>
            <a:ext cx="502920" cy="50292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932688" y="4983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600200" y="4773168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內部工具做完後，建立交接與維護機制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600200" y="519379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系統上線只是開始。建議每套內部工具都要有指定的維護窗口與使用說明，避免變成只有開發者才懂的黑箱。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2D7D9D4A-0E7F-41EE-95B6-A81FCA92A8A9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34</a:t>
            </a:fld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20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65176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謝謝您的聆聽！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產品工程師－黃家朗　｜　創新研發部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037D4614-6026-4CE2-97BB-E6E25E397338}" type="slidenum"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35</a:t>
            </a:fld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3071</Words>
  <Application>Microsoft Office PowerPoint</Application>
  <PresentationFormat>寬螢幕</PresentationFormat>
  <Paragraphs>533</Paragraphs>
  <Slides>31</Slides>
  <Notes>31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31</vt:i4>
      </vt:variant>
    </vt:vector>
  </HeadingPairs>
  <TitlesOfParts>
    <vt:vector size="34" baseType="lpstr">
      <vt:lpstr>Arial</vt:lpstr>
      <vt:lpstr>微軟正黑體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新人報告</dc:title>
  <dc:subject>PptxGenJS Presentation</dc:subject>
  <dc:creator>黃家朗</dc:creator>
  <cp:lastModifiedBy>Kiri.Huang 黃家朗</cp:lastModifiedBy>
  <cp:revision>9</cp:revision>
  <dcterms:created xsi:type="dcterms:W3CDTF">2026-08-19T03:01:25Z</dcterms:created>
  <dcterms:modified xsi:type="dcterms:W3CDTF">2026-08-19T09:57:20Z</dcterms:modified>
</cp:coreProperties>
</file>