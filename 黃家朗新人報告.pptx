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2D5C"/>
              </a:solidFill>
              <a:effectLst/>
            </c:spPr>
          </c:dPt>
          <c:dPt>
            <c:idx val="1"/>
            <c:bubble3D val="0"/>
            <c:spPr>
              <a:solidFill>
                <a:srgbClr val="17A0A0"/>
              </a:solidFill>
              <a:effectLst/>
            </c:spPr>
          </c:dPt>
          <c:dPt>
            <c:idx val="2"/>
            <c:bubble3D val="0"/>
            <c:spPr>
              <a:solidFill>
                <a:srgbClr val="6DCFA5"/>
              </a:solidFill>
              <a:effectLst/>
            </c:spPr>
          </c:dPt>
          <c:dPt>
            <c:idx val="3"/>
            <c:bubble3D val="0"/>
            <c:spPr>
              <a:solidFill>
                <a:srgbClr val="35697F"/>
              </a:solidFill>
              <a:effectLst/>
            </c:spPr>
          </c:dPt>
          <c:dPt>
            <c:idx val="4"/>
            <c:bubble3D val="0"/>
            <c:spPr>
              <a:solidFill>
                <a:srgbClr val="AEB4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微軟正黑體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微軟正黑體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微軟正黑體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微軟正黑體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微軟正黑體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對外課程教材撰寫</c:v>
                </c:pt>
                <c:pt idx="1">
                  <c:v>對外課程授課與備課</c:v>
                </c:pt>
                <c:pt idx="2">
                  <c:v>神秘客系統開發</c:v>
                </c:pt>
                <c:pt idx="3">
                  <c:v>PRD 機器人開發</c:v>
                </c:pt>
                <c:pt idx="4">
                  <c:v>其他（會議、行政、學習）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30</c:v>
                </c:pt>
                <c:pt idx="2">
                  <c:v>18</c:v>
                </c:pt>
                <c:pt idx="3">
                  <c:v>10</c:v>
                </c:pt>
                <c:pt idx="4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各位主管、各位同事早安，我是創新研發部的產品工程師黃家朗。
今天要跟大家報告我到職這四個多月的工作內容與成果。
報告大概三十分鐘，中間如果有問題可以隨時打斷我，最後也會留 Q&amp;A 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今天分七個部分。
前面三段講我是誰、以及這四個多月我實際在做什麼；
第四段是重點，會花最多時間講工作成果，分成對外跟對內兩條線；
最後是心得、職涯規劃，還有幾個給公司的建議。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先簡單介紹我自己。我是【待補：學校科系】畢業，
進程曦之前有一段工作經驗，在【待補：前職】。
我不是一畢業就做 AI 的，是工作一段時間之後才轉進 AI 跟教育訓練這個領域。
這個轉職經驗對我現在的工作滿有幫助的，
因為我很知道一個沒有技術背景的上班族，第一次接觸 AI 工具的時候會卡在哪裡——
這剛好就是我現在在做的事：把 AI 工具教給不懂技術的人。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這是我的工作歷程。
【待補：這裡補一句前職在做什麼】。
今年四月十號到職程曦，進創新研發部擔任產品工程師，到今天大概四個多月。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這是我給自己的五個特質。
我沒有用比例圖，因為我覺得給個性打百分比沒什麼意義，
所以每一個特質我都直接配一件我真的做過的事。
解決力：看到問題我的反應不是回報給主管就結束，是直接把工具做出來。
自學力：那些系統用到的東西有很多我原本不會，我是靠 AI 工具邊做邊學做完的。
換位思考：等一下講的 PRD 機器人，核心就是先搞懂對方要什麼。
系統思維跟交付到底，後面的成果會自己說明，這裡先不展開。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公司精神是「愛、新、勤、誠」，
合起來就是那句話：勤勞地用創新的方式，誠懇地愛人。
我不想只是把這四個字唸過去，所以下一頁我整理了這幾個月裡，
我自己覺得有實際對應到這四個字的四件事。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「新」的部分，神秘客系統我是全程用 replit 這類 AI 工具開發的，
這在部門裡算是比較新的做法。
「勤」的部分，我認為真正的勤勞不是每個月都認真重做一次，
而是想辦法讓它只需要做一次——這也是那套系統的核心。
「愛」的部分，我想講 PRD 機器人。
它不是替人把文件寫掉，是用反問幫人把自己的想法講清楚。
我覺得這個差別滿重要的，替人做跟幫人想是兩件事。
最後「誠」，等一下我會報一個效益數字，
我要先說那是我自己的推估，不是實測出來的，我會誠實標註清楚。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這四個多月我把它分成三個階段。
第一個月是熟悉期，主要是搞懂公司在做什麼、我們部門的產品線長什麼樣子，
同時就開始投入對外課程的教材製作。
第二到第三個月是產出期，教材開始有成品，我也開始上台試教。
第四個月到現在是落地期，重心轉到對內，
神秘客系統從需求訪談一路做到上線，PRD 機器人也在這段時間開發完成、
進入跨部門測試。
這三段有一個共同點：都是在做「把 AI 變成別人真的用得到的東西」。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用比重來看，我的工作大概是對外七、對內三。
對外這條線佔大部分，就是我們部門的教育訓練產品線，四門 AI 應用課。
對內雖然只佔三成，但有兩套完整的系統：
神秘客訪問電話系統已經上線在用，PRD 機器人正在跨部門測試，
另外還有一些零星的支援跟小工具。
一句話總結：對外是把 AI 變成可以賣的課，對內是把 AI 變成可以用的系統。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接下來進入重點，工作成果。先講對外的四門課。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對外這條線總共四門課，我在裡面有兩種角色。
第一、二門是我負責寫教材，從課程架構、內容到範例都是我做的。
第三、四門教材是同事寫的，我負責上台講。
這裡我要先把狀態講清楚，避免誤會：
這四門課目前都只完成了內部試教，還沒有對外開課，
教材也還在持續修正，還沒有定稿。
下一頁之後講的內容，都是在這個前提下。
我覺得這個組合對新人來說滿好的——
寫教材讓我必須把一個主題徹底搞懂才寫得出來，
上台試教則讓我馬上知道學員會在哪裡卡住。這兩件事是互相回饋的。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第一門是「AI 時代的商業企劃思維與簡報製作工具」。
這門課的重點其實不在工具操作，而在思維——
很多人以為 AI 簡報工具就是把字丟進去讓它排版，
但真正的價值是在前面的企劃思考階段就讓 AI 參與。
所以我在寫教材的時候，是先把一個企劃案從無到有的流程拆開，
再去看每一段可以怎麼用 AI，而不是反過來從工具功能表開始教。
（時間不夠時本頁可略過）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第二門是 AI 圖片生成課，一樣是我寫教材。
這門課最難處理的地方是，圖片生成的結果不穩定，
同樣一句提示詞，這次跟下次出來的東西可能差很多。
所以我在教材裡花了不少篇幅在講「怎麼描述」跟「怎麼修正」，
而不是只給一堆可以複製貼上的提示詞範本——
因為範本會過期，方法不會。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第三、四門是我上台講的，目前都完成了內部試教。
這兩門課對我來說有一個額外的意義：
vibe-coding 這門課教的方法，就是我後來開發神秘客系統跟 PRD 機器人實際用的方法。
我等於是先教了別人怎麼用 AI 寫程式，然後自己拿這套方法去做了兩個真的有人在用的系統。
這件事讓我在台上講的時候比較有底氣，
因為我講的不是從教材上讀來的，是我真的做過的。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這幾張是教材的實際畫面，給大家看一下我們課程的呈現方式。
如果主管想看完整版本，我課後可以再單獨提供。
（時間不夠時本頁可略過）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對外這條線目前的狀態，我分成三塊講。
已完成的是：四門課都完成了內部試教，教材主體也都有了。
進行中的是教材修正，這也是我想多說一句的地方。
同一份教材，不同的講師講起來是不一樣的。
有人擅長帶實作、有人擅長講原理，側重點不同，教材就要跟著調整。
與其先把教材定稿再讓講師自己想辦法，
我們的做法是讓教材去配合講師。
所以「還在修」不是進度落後，是這門課本來就要經過的過程。
尚未開始的是對外開課跟招生，這部分還要等公司安排。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接下來是對內這條線。
這裡有兩套完整的系統，還有一些零星的支援，我一個一個講。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先說明業務背景，因為不是每個部門都熟悉這件事。
程曦是承接客服外包的公司，所以服務品質必須被檢核。
做法是各個專案組之間每個月隨機互相打電話，
用腳本上的常見問題去問對方，
檢驗接聽的同仁有沒有用符合禮儀、符合標準起手台詞的方式，說出正確的答案。
這種電話我們叫做神秘客訪問電話。
打完之後，各組要寫抽查成果跟分數交給主管，
主管再彙整出報表、還有未達滿分的經緯報告，
然後把分數向下發給各專案組、向上呈報給高級主管。
這整套流程是每個月都要跑一次的。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這套流程原本是這樣跑的。
第一，資料是散的。做同一件事，要開五份甚至更多份的 Excel 表單。
第二，每個月都要重來一次。每到月底就要重開所有報表，
還要重新設定一份 Google 表單發給大家填。
第三，收回來之後要手動算分數，
然後一直複製貼上到要給不同對象的 Excel 裡面——
給專案組一份、給主管一份、給高級主管又一份。
這裡面最花時間的其實不是判斷，是搬資料。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我的解法核心只有一句話：東西都放在同一個後台，用權限決定誰看得到什麼。
這樣做的好處是，資料不需要再搬移了。
過去要複製貼上到三份不同的 Excel，是因為三個對象要看不同的東西；
現在資料只有一份，我只要針對不同對象改變「顯示的內容」就好。
而且這個設定不是每個月都要改，是設定一次就一直適用，
直到當事人轉職或離職才需要動。
開發的部分，我是全程用 replit 這類 AI 工具做的。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權限的部分，我依照會涉及神秘客電訪的人的層級，分成三種等級，
不同的登入帳號會開放不同的功能。
這件事聽起來只是技術設定，但它其實是整套系統能成立的關鍵。
因為過去要拆成好幾份 Excel，本來就是為了讓不同的人看到不同的東西；
如果我只是把五份表單合成一份而沒有權限控制，那反而會出事。
所以是先有權限分層，才有辦法把資料集中。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系統裡總共有八項功能，我分兩頁講。
前四項是主要流程。
第一是設計新問題，把檢核用的題目建進系統。
第二是抽選問題並分配到指定的專案組——這一項直接取代了過去每個月重設 Google 表單的工作。
第三是評分介面，讓評分的人在同一個地方打分數，不用再自己在 Excel 上算。
第四是報表匯出，要給不同對象的報表直接從系統產生，不用再複製貼上。
這四項合起來，就把「每個月都要重來一次」這個痛點解決掉了。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後四項是配套。
第五是檢討報告，過去未達滿分要另外寫的經緯報告，現在直接在系統裡提交。
第六是申覆。這一項是我做完前面之後才發現需要的——
因為分數會影響到專案組，如果被評分的人覺得判定有問題，
應該要有一個正式的管道處理，而不是私下用訊息吵。
第七是帳號跟身分組的建立，還有移轉機制。
公司會有人轉職、有人離職，如果每次人事異動都要工程師進資料庫改，
那這套系統遲早會沒人維護。有了移轉機制，管理者自己就能處理。
第八是通知系統，分成全服公告跟個人通知兩種。
第七、第八這兩項不是酷炫的功能，但它們決定這套系統能不能長期活下去。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這頁是前後對比，我覺得最能說明這套系統的價值。
左邊是舊流程，右邊是現在。
各位可以看到，改變的重點不是把工作做得更快，
而是把「每個月都要重做一次」的工作，變成「設定一次就好」。
尤其最下面那一列，人事異動——
過去有人離職，那些表單就要重新整理一次；
現在管理者自己在後台移轉就結束了。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這套系統目前的狀態是已經上線，實際在使用中。
使用的單位是所有需要打神秘客訪問電話的單位，以及負責管理的管理者。
效益的部分我要誠實說明：
這個「節省近 90%」是我個人的推估，不是實測出來的數字。
我的推估依據是，過去每個月月底要開所有 Excel 報表、
設一次新的 Google 表單、手動算分數、再一直複製貼上給不同對象；
現在這些全部在同一個後台完成，資料不用搬，而且不需要每個月都改。
如果主管覺得需要，我可以後續實際去量測作業時間，把真實數字補上。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接下來是第二套系統，PRD 機器人。
它要解決的問題是：想法很抽象，但開發需要規格。
從「我想做一個什麼」到一份能真正動工的 PRD，中間那一段是最卡的。
過去這件事怎麼做？靠有經驗的人一次次開會追問，
或是新人自己對著一份空白文件硬寫。
前者很花時間，後者品質完全看人。
我的解法是做一個會反問的機器人。
你丟一個抽象的概念進去，它產出一份 PRD 初稿跟技術文件。
其實這件事跟神秘客系統是同一個主題：
把原本「靠人」的流程，變成「靠系統」也做得到。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講一下它怎麼運作，關鍵在「反問」這兩個字。
一般的文件工具是你先把需求寫好，它幫你排版整理；
這個是反過來的——你只要有一個模糊的想法就可以開始。
它會大量反問，你回答、它再問，一路把你沒想到的地方問出來，
問到夠了，再收斂成一份 PRD 初稿跟技術文件。
為什麼這樣有效？
因為我發現使用者常常不是不願意寫，是不知道該寫什麼。
面對一份空白文件很痛苦，但回答問題容易多了。
這個設計其實也回到我前面講的換位思考——
我沒有假設使用者應該要會寫規格，而是設計成他不會也沒關係。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目前的狀態我也要說清楚：
它已經開發完成，但還在持續更新版本，
現在是公司內部大約十位其他部門的同事一起在測試，
還沒有全面對公司內其他人開放。
我的做法是收到 bug 或改善建議就繼續修。
這是我第一次做「跨部門一起測」的工具，
老實說收回饋比寫功能難很多。
十個人給的建議常常互相衝突，
我要判斷哪些是真的需求、哪些只是個人習慣。
這件事還沒結束，我還在持續修。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除了這兩套系統，這段期間也處理了一些零星的支援跟小工具需求。
這些單獨看都不大，但加起來也佔掉一些時間，所以還是列一下。
（時間不夠時本頁可略過）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這是我四個月的工時分佈，先說明這是推估值。
對外課程加起來大概七成，其中教材撰寫佔比最高，
因為寫教材要把一個主題徹底弄懂，花的時間比上課本身多很多。
對內兩套系統加起來不到三成，
神秘客大概兩成、PRD 機器人一成。
這個比例跟前面講的對外七、對內三是一致的。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講一下心得，分三個部分。
收穫最多的是「從使用者身上學需求」。
不管是寫教材還是做系統，難的都不是技術，是搞懂對方到底要什麼。
神秘客的申覆功能就是例子——它不在任何一份需求文件上，
是我理解流程之後才發現需要的。
到後來我乾脆把這件事本身做成工具，那就是 PRD 機器人。
最有成就感的是東西真的被用起來了。
神秘客每個月都有人登入在用，PRD 機器人有十個跨部門同事在測。
做出一個能動的東西不難，做出一個有人真的在用的東西完全不一樣。
最挑戰的是判斷什麼不該做。
用 AI 開發真的很快，快到你想到什麼功能都做得出來，
所以反而要克制，要一直問自己這個功能是使用者需要的，還是我想做的。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如果要我只講一件這幾個月最重要的收穫，是這個：
從「做出功能」，變成「交付一個會被用的系統」。
我剛到職的時候會覺得，功能寫完就是做完了。
但實際做下來才知道，功能做完只是一半。
你還要想：誰在用、有人離職了怎麼辦、被評分的人不服氣怎麼辦、
十個人的意見不一樣要聽誰的。
這些都不是技術問題，可是不解決，系統做得再好也不會有人用。
我覺得這是我從工程師往產品的方向走，很關鍵的一步。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職涯規劃分短中長期。
短期半年有四件事。
第一，我想持續主動去探索 AI 的新工具跟新做法。
這個領域變得很快，我不想只會我現在會的這些。
第二，把手上這兩套工具從「能用」做到「穩定」——
權限、資料、錯誤處理、維運，這些現在都還不夠硬。
第三，對外課程正式開賣之後，我希望能擔任主力講師，
並且把教材推到定稿。
第四，開始把這兩個專案的經驗沉澱成可複製的方法。
中期一年，我希望能獨立負責一條完整的產品線，
從題目發想、需求訪談，一路到上線跟維運，
並且把那套方法真的用在第三、第四個專案上，驗證它站得住。
長期三到五年，目標是成為能同時掌握對外課程產品跟對內系統落地的產品負責人，
讓 AI 導入在公司裡變成一件標準的事，而不是每次都從零開始的個案。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最後是給公司的三個建議，主題是新人入職跟知識傳承。
第一個，新人報告的目標建議由主管跟新人一起確認。
我理解目前的十二週目標表是為了讓新人有依循，
但它是所有新人共用的版本，跟實際派的工作常常會有落差。
我的建議是到職第一週由主管跟新人一起確認個人化的目標，中間再對一次，
這樣新人會更清楚自己被期待什麼。
第二個，建議各部門列一份自己每月重複作業的清單。
神秘客這套流程本來不在任何待辦清單上，老實說是碰巧發現的。
如果有這樣一份清單，我們部門就可以有系統地評估哪些該先做，而不是等人來說。
第三個，內部工具做完之後要有交接跟維護機制。
我自己做完這兩套系統之後最擔心的就是這件事——
系統上線只是開始，如果沒有指定的維護窗口跟使用說明，
它遲早會變成只有我看得懂的黑箱。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以上就是我這四個多月的報告，謝謝各位的聆聽。
有任何問題都歡迎提出。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57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新人報告</a:t>
            </a:r>
            <a:endParaRPr lang="en-US" sz="62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產品工程師－黃家朗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創新研發部　｜　到職日 2026.04.10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0A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程曦資訊整合股份有限公司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0A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64792"/>
            <a:ext cx="475488" cy="475488"/>
          </a:xfrm>
          <a:prstGeom prst="ellipse">
            <a:avLst/>
          </a:prstGeom>
          <a:solidFill>
            <a:srgbClr val="D6D9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98448" y="1691640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自我介紹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8448" y="2075688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我是誰、從哪裡來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475488" cy="475488"/>
          </a:xfrm>
          <a:prstGeom prst="ellipse">
            <a:avLst/>
          </a:prstGeom>
          <a:solidFill>
            <a:srgbClr val="D6D9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8448" y="2770632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公司精神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3154680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愛、新、勤、誠與我的實踐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22776"/>
            <a:ext cx="475488" cy="475488"/>
          </a:xfrm>
          <a:prstGeom prst="ellipse">
            <a:avLst/>
          </a:prstGeom>
          <a:solidFill>
            <a:srgbClr val="D6D9F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3849624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我的三階段工作主軸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8448" y="4233672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這四個多月實際在做什麼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001768"/>
            <a:ext cx="475488" cy="475488"/>
          </a:xfrm>
          <a:prstGeom prst="ellipse">
            <a:avLst/>
          </a:prstGeom>
          <a:solidFill>
            <a:srgbClr val="D95F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4928616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學習與工作成果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8448" y="5312664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對外四門課｜對內兩套系統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1764792"/>
            <a:ext cx="475488" cy="475488"/>
          </a:xfrm>
          <a:prstGeom prst="ellipse">
            <a:avLst/>
          </a:prstGeom>
          <a:solidFill>
            <a:srgbClr val="D6D9F0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82816" y="1691640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學習心得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82816" y="2075688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收穫、成就感與挑戰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24448" y="2843784"/>
            <a:ext cx="475488" cy="475488"/>
          </a:xfrm>
          <a:prstGeom prst="ellipse">
            <a:avLst/>
          </a:prstGeom>
          <a:solidFill>
            <a:srgbClr val="D6D9F0"/>
          </a:solidFill>
          <a:ln/>
        </p:spPr>
      </p:sp>
      <p:sp>
        <p:nvSpPr>
          <p:cNvPr id="24" name="Text 22"/>
          <p:cNvSpPr/>
          <p:nvPr/>
        </p:nvSpPr>
        <p:spPr>
          <a:xfrm>
            <a:off x="6324448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2816" y="2770632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職涯規劃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82816" y="3154680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短、中、長期目標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24448" y="3922776"/>
            <a:ext cx="475488" cy="475488"/>
          </a:xfrm>
          <a:prstGeom prst="ellipse">
            <a:avLst/>
          </a:prstGeom>
          <a:solidFill>
            <a:srgbClr val="D6D9F0"/>
          </a:solidFill>
          <a:ln/>
        </p:spPr>
      </p:sp>
      <p:sp>
        <p:nvSpPr>
          <p:cNvPr id="28" name="Text 26"/>
          <p:cNvSpPr/>
          <p:nvPr/>
        </p:nvSpPr>
        <p:spPr>
          <a:xfrm>
            <a:off x="6324448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2816" y="3849624"/>
            <a:ext cx="454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對公司的建議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82816" y="4233672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新人入職與知識傳承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一、自我介紹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自我介紹</a:t>
            </a:r>
            <a:endParaRPr lang="en-US" sz="3200" dirty="0"/>
          </a:p>
        </p:txBody>
      </p:sp>
      <p:pic>
        <p:nvPicPr>
          <p:cNvPr id="4" name="Image 0" descr="/home/user/freshman-report/report/assets/profi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0671" y="1874520"/>
            <a:ext cx="2980944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576676" cy="1851660"/>
          </a:xfrm>
          <a:prstGeom prst="roundRect">
            <a:avLst>
              <a:gd name="adj" fmla="val 2963"/>
            </a:avLst>
          </a:prstGeom>
          <a:solidFill>
            <a:srgbClr val="D6D9F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2688" y="2093976"/>
            <a:ext cx="2991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學歷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688" y="2532888"/>
            <a:ext cx="29914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【待補：學校／科系／畢業年】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82516" y="1874520"/>
            <a:ext cx="3576676" cy="1851660"/>
          </a:xfrm>
          <a:prstGeom prst="roundRect">
            <a:avLst>
              <a:gd name="adj" fmla="val 2963"/>
            </a:avLst>
          </a:prstGeom>
          <a:solidFill>
            <a:srgbClr val="ECEEF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75124" y="2093976"/>
            <a:ext cx="2991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到職前經歷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75124" y="2532888"/>
            <a:ext cx="29914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【待補：公司／職稱】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4000500"/>
            <a:ext cx="3576676" cy="1851660"/>
          </a:xfrm>
          <a:prstGeom prst="roundRect">
            <a:avLst>
              <a:gd name="adj" fmla="val 2963"/>
            </a:avLst>
          </a:prstGeom>
          <a:solidFill>
            <a:srgbClr val="ECEEF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2688" y="4219956"/>
            <a:ext cx="2991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現職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32688" y="4658868"/>
            <a:ext cx="29914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程曦資訊整合股份有限公司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創新研發部｜產品工程師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82516" y="4000500"/>
            <a:ext cx="3576676" cy="1851660"/>
          </a:xfrm>
          <a:prstGeom prst="roundRect">
            <a:avLst>
              <a:gd name="adj" fmla="val 2963"/>
            </a:avLst>
          </a:prstGeom>
          <a:solidFill>
            <a:srgbClr val="F7F1C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75124" y="4219956"/>
            <a:ext cx="2991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興趣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875124" y="4658868"/>
            <a:ext cx="29914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【待補：興趣】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一、自我介紹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工作歷程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10362895" cy="41148"/>
          </a:xfrm>
          <a:prstGeom prst="rect">
            <a:avLst/>
          </a:prstGeom>
          <a:solidFill>
            <a:srgbClr val="D6D9F0"/>
          </a:solidFill>
          <a:ln/>
        </p:spPr>
      </p:sp>
      <p:sp>
        <p:nvSpPr>
          <p:cNvPr id="5" name="Shape 3"/>
          <p:cNvSpPr/>
          <p:nvPr/>
        </p:nvSpPr>
        <p:spPr>
          <a:xfrm>
            <a:off x="2779776" y="2926080"/>
            <a:ext cx="310896" cy="310896"/>
          </a:xfrm>
          <a:prstGeom prst="ellipse">
            <a:avLst/>
          </a:prstGeom>
          <a:solidFill>
            <a:srgbClr val="AEB4E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【待補：年月】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【待補：前職公司】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【待補：職稱】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31936" y="2926080"/>
            <a:ext cx="310896" cy="310896"/>
          </a:xfrm>
          <a:prstGeom prst="ellipse">
            <a:avLst/>
          </a:prstGeom>
          <a:solidFill>
            <a:srgbClr val="D95F2B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2026.04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5204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程曦資訊整合股份有限公司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創新研發部｜產品工程師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7F1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轉職動機：從【待補：前職領域】轉進 AI／教育訓練領域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一、自我介紹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個人特質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D6D9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解決力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不只回報問題，直接把工具做出來。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0" y="1828800"/>
            <a:ext cx="4236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神秘客系統：把五份以上 Excel 整併成單一後台。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ECEE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700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自學力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6040" y="26700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沒學過的東西，用 AI 工具邊做邊學做完。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0" y="2670048"/>
            <a:ext cx="4236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 replit 開發整套神秘客系統。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F7F1C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1129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換位思考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351129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先搞懂對方要什麼，再動手。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0" y="3511296"/>
            <a:ext cx="4236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 機器人：用大量反問把抽象概念逼成規格。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ECEEF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52544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系統思維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看見五份 Excel 背後其實是同一件事。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4352544"/>
            <a:ext cx="4236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先做權限分層，資料才有辦法集中。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D6D9F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9379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交付到底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06040" y="51937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做到有人真的在用，不是 demo。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40880" y="5193792"/>
            <a:ext cx="4236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神秘客已上線；PRD 機器人 10 位跨部門同事測試中。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每一個特質後面都有對應的實際例子，後面會逐一講到。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二、公司精神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愛、新、勤、誠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80996" cy="2926080"/>
          </a:xfrm>
          <a:prstGeom prst="roundRect">
            <a:avLst>
              <a:gd name="adj" fmla="val 2211"/>
            </a:avLst>
          </a:prstGeom>
          <a:solidFill>
            <a:srgbClr val="F2E2DA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480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愛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41248" y="3383280"/>
            <a:ext cx="20786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愛自己、愛同事、愛家人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愛客戶、愛公司、愛競爭對手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0260" y="1874520"/>
            <a:ext cx="2480996" cy="2926080"/>
          </a:xfrm>
          <a:prstGeom prst="roundRect">
            <a:avLst>
              <a:gd name="adj" fmla="val 2211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0260" y="2148840"/>
            <a:ext cx="2480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51428" y="3383280"/>
            <a:ext cx="20786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求新、創新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0440" y="1874520"/>
            <a:ext cx="2480996" cy="2926080"/>
          </a:xfrm>
          <a:prstGeom prst="roundRect">
            <a:avLst>
              <a:gd name="adj" fmla="val 2211"/>
            </a:avLst>
          </a:prstGeom>
          <a:solidFill>
            <a:srgbClr val="F7F1CE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0440" y="2148840"/>
            <a:ext cx="2480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勤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61608" y="3383280"/>
            <a:ext cx="20786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勤勞、勤儉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0619" y="1874520"/>
            <a:ext cx="2480996" cy="2926080"/>
          </a:xfrm>
          <a:prstGeom prst="roundRect">
            <a:avLst>
              <a:gd name="adj" fmla="val 2211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0619" y="2148840"/>
            <a:ext cx="2480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誠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271787" y="3383280"/>
            <a:ext cx="20786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誠實、忠誠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13892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勤勞地用創新的方式，誠懇地愛人。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二、公司精神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我的實踐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1920240"/>
          </a:xfrm>
          <a:prstGeom prst="roundRect">
            <a:avLst>
              <a:gd name="adj" fmla="val 2857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377440"/>
            <a:ext cx="868680" cy="86868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057400" y="2258568"/>
            <a:ext cx="3535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全程用 replit 等 AI 工具開發神秘客系統——用新方法解決舊問題。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272888" cy="1920240"/>
          </a:xfrm>
          <a:prstGeom prst="roundRect">
            <a:avLst>
              <a:gd name="adj" fmla="val 2857"/>
            </a:avLst>
          </a:prstGeom>
          <a:solidFill>
            <a:srgbClr val="F7F1CE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9624" y="2377440"/>
            <a:ext cx="868680" cy="86868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0" name="Text 8"/>
          <p:cNvSpPr/>
          <p:nvPr/>
        </p:nvSpPr>
        <p:spPr>
          <a:xfrm>
            <a:off x="6589624" y="2377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勤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696048" y="2258568"/>
            <a:ext cx="3535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把每月要重做一次的流程，改成設定一次就長期適用。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72888" cy="1920240"/>
          </a:xfrm>
          <a:prstGeom prst="roundRect">
            <a:avLst>
              <a:gd name="adj" fmla="val 2857"/>
            </a:avLst>
          </a:prstGeom>
          <a:solidFill>
            <a:srgbClr val="F2E2DA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0976" y="4526280"/>
            <a:ext cx="868680" cy="86868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愛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057400" y="4407408"/>
            <a:ext cx="3535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 機器人不是替人寫，是用反問幫人把自己的想法講清楚。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78728" y="4023360"/>
            <a:ext cx="5272888" cy="1920240"/>
          </a:xfrm>
          <a:prstGeom prst="roundRect">
            <a:avLst>
              <a:gd name="adj" fmla="val 2857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9624" y="4526280"/>
            <a:ext cx="868680" cy="86868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9624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誠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696048" y="4407408"/>
            <a:ext cx="3535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效益數字標示為「推估」，沒有實測就不寫成實測。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三、工作主軸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我的三階段工作主軸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3200400"/>
                <a:gridCol w="4419295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階段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期間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主軸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具體工作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一、熟悉與投入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 1 個月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熟悉公司業務與 AI 教育訓練產品線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認識部門定位與產品線；投入對外課程教材製作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二、產出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 2～3 個月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對外課程教材產出與內部試教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完成 2 門課教材撰寫；擔任 2 門課講師並完成內部試教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三、落地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5F2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 4 個月至今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對內流程數位化，從需求訪談到系統上線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神秘客系統開發並上線；PRD 機器人開發並進入跨部門測試</a:t>
                      </a:r>
                      <a:endParaRPr lang="en-US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321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7F1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三段的共同點：都是在做「把 AI 變成別人真的用得到的東西」。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三、工作主軸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工作定位：對外 7 ： 對內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3246120"/>
          </a:xfrm>
          <a:prstGeom prst="roundRect">
            <a:avLst>
              <a:gd name="adj" fmla="val 1690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對外｜教育訓練產品線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四門 AI 應用課程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教材撰寫 2 門、擔任講師 2 門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目標：成為可對外銷售的課程商品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272888" cy="3246120"/>
          </a:xfrm>
          <a:prstGeom prst="roundRect">
            <a:avLst>
              <a:gd name="adj" fmla="val 1690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2057400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598768" y="292608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對內｜內部流程數位化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98768" y="342900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神秘客訪問電話系統（已上線）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 機器人（跨部門測試中）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其他零星支援與小工具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2B2D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對外，把 AI 變成可以賣的課；對內，把 AI 變成可以用的系統。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學習與工作成果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對外｜四門 AI 應用課程　　　對內｜神秘客訪問電話系統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0A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對外線：四門 AI 應用課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011680"/>
                <a:gridCol w="341345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課程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我的角色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目前狀態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① AI 時代的商業企劃思維與簡報製作工具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5F2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教材撰寫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已內部試教｜教材修正中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② AI 圖片生成課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5F2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教材撰寫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已內部試教｜教材修正中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③ AI 輔助 UI/UX 與原型設計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A0A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擔任講師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已內部試教｜教材修正中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④ AI 輔助 vibe-coding 程式開發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A0A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擔任講師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已內部試教｜教材修正中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四門課皆已完成內部試教，尚未對外開課；教材依講師風格持續修正中，尚未定稿。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寫教材要把主題徹底搞懂才寫得出來；上台試教才知道學員會卡在哪裡——這兩件事互相回饋。　【待補：各課時數與面向對象】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教材撰寫①　AI 時代的商業企劃思維與簡報製作工具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我負責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課程架構、教材內容、實作案例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課程主題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AI 輔助商業企劃的思考流程，並產出簡報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對象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【待補：面向對象】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【待補：時數／教材頁數／案例數】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7F1CE"/>
          </a:solidFill>
          <a:ln/>
        </p:spPr>
        <p:txBody>
          <a:bodyPr wrap="square" lIns="127000" tIns="177800" rIns="177800" bIns="12700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重點不在工具操作，而在思維：先拆解企劃從無到有的流程，再看每一段可以怎麼用 AI，而不是從工具功能表開始教。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29400" y="1965960"/>
            <a:ext cx="4922215" cy="4114800"/>
          </a:xfrm>
          <a:prstGeom prst="roundRect">
            <a:avLst>
              <a:gd name="adj" fmla="val 1778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766560" y="1965960"/>
            <a:ext cx="464789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【待放圖】課程①教材頁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course-01-slide.png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教材撰寫②　AI 圖片生成課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【待放圖】課程②教材頁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course-02-slide.png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7960" y="1965960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我負責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37960" y="2240280"/>
            <a:ext cx="5013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課程架構、教材內容、實作案例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37960" y="2697480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課程主題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971800"/>
            <a:ext cx="5013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圖片生成的原理、提示詞撰寫與實務應用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3429000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703320"/>
            <a:ext cx="5013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【待補：面向對象】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7960" y="4160520"/>
            <a:ext cx="5013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規模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4434840"/>
            <a:ext cx="5013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【待補：時數／教材頁數／案例數】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5029200"/>
            <a:ext cx="5013655" cy="1051560"/>
          </a:xfrm>
          <a:prstGeom prst="roundRect">
            <a:avLst>
              <a:gd name="adj" fmla="val 6957"/>
            </a:avLst>
          </a:prstGeom>
          <a:solidFill>
            <a:srgbClr val="D6D9F0"/>
          </a:solidFill>
          <a:ln/>
        </p:spPr>
        <p:txBody>
          <a:bodyPr wrap="square" lIns="127000" tIns="177800" rIns="177800" bIns="12700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圖片生成結果不穩定，所以教材重點放在「怎麼描述」與「怎麼修正」，而不是給一堆可複製的提示詞——範本會過期，方法不會。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擔任講師的兩門課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2788920"/>
          </a:xfrm>
          <a:prstGeom prst="roundRect">
            <a:avLst>
              <a:gd name="adj" fmla="val 1967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　AI 輔助 UI/UX 與原型設計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72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教材：同事撰寫　／　我負責：授課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已完成內部試教，尚未對外開課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【待補：時數／對象／場次】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931920"/>
            <a:ext cx="4724248" cy="621792"/>
          </a:xfrm>
          <a:prstGeom prst="roundRect">
            <a:avLst>
              <a:gd name="adj" fmla="val 11765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51560" y="393192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【待放圖】③ 教材頁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course-03-slide.png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272888" cy="2788920"/>
          </a:xfrm>
          <a:prstGeom prst="roundRect">
            <a:avLst>
              <a:gd name="adj" fmla="val 1967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3048" y="2057400"/>
            <a:ext cx="472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　AI 輔助 vibe-coding 程式開發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3048" y="2788920"/>
            <a:ext cx="472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教材：同事撰寫　／　我負責：授課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已完成內部試教，尚未對外開課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【待補：時數／對象／場次】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53048" y="3931920"/>
            <a:ext cx="4724248" cy="621792"/>
          </a:xfrm>
          <a:prstGeom prst="roundRect">
            <a:avLst>
              <a:gd name="adj" fmla="val 11765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690208" y="3931920"/>
            <a:ext cx="4449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【待放圖】④ 教材頁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course-04-slide.png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7F1CE"/>
          </a:solidFill>
          <a:ln/>
        </p:spPr>
        <p:txBody>
          <a:bodyPr wrap="square" lIns="127000" tIns="203200" rIns="203200" bIns="12700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vibe-coding 這門課教的方法，就是我後來開發神秘客系統與 PRD 機器人實際用的方法——先教別人怎麼用 AI 寫程式，然後自己拿這套方法做出兩個真的有人在用的系統。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教材與課堂實況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2378" cy="3566160"/>
          </a:xfrm>
          <a:prstGeom prst="roundRect">
            <a:avLst>
              <a:gd name="adj" fmla="val 2195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【待放圖】教材展示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course-showcase-01.png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29658" y="1965960"/>
            <a:ext cx="3332378" cy="3566160"/>
          </a:xfrm>
          <a:prstGeom prst="roundRect">
            <a:avLst>
              <a:gd name="adj" fmla="val 2195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66818" y="196596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【待放圖】教材展示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course-showcase-02.png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19237" y="1965960"/>
            <a:ext cx="3332378" cy="3566160"/>
          </a:xfrm>
          <a:prstGeom prst="roundRect">
            <a:avLst>
              <a:gd name="adj" fmla="val 2195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356397" y="196596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【待放圖】教材展示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course-showcase-03.png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完整教材可於課後單獨提供。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對外線現況與後續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6DCFA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185416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已完成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624328"/>
            <a:ext cx="280812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四門課皆完成內部試教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教材主體已具備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9178" y="196596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F7F1C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1786" y="2185416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進行中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91786" y="2624328"/>
            <a:ext cx="280812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教材依講師的風格與側重點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持續修正，尚未定稿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8277" y="1965960"/>
            <a:ext cx="3393338" cy="1920240"/>
          </a:xfrm>
          <a:prstGeom prst="roundRect">
            <a:avLst>
              <a:gd name="adj" fmla="val 2857"/>
            </a:avLst>
          </a:prstGeom>
          <a:solidFill>
            <a:srgbClr val="D6D9F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0885" y="2185416"/>
            <a:ext cx="28081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尚未開始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50885" y="2624328"/>
            <a:ext cx="280812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對外開課與招生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【待補：預計開賣時間】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CEEF8"/>
          </a:solidFill>
          <a:ln/>
        </p:spPr>
        <p:txBody>
          <a:bodyPr wrap="square" lIns="152400" tIns="228600" rIns="228600" bIns="1524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為什麼還沒定稿：同一份教材，不同講師講起來不一樣。有人擅長帶實作、有人擅長講原理，側重點不同，教材就要跟著調整。與其先定稿再讓講師自己想辦法，不如讓教材配合講師——所以「還在修」不是進度落後，是這門課的必經過程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10911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內部工具與系統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神秘客訪問電話系統（已上線）　｜　PRD 機器人（跨部門測試中）　｜　其他零星支援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0A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神秘客訪問電話是什麼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94712" cy="2743200"/>
          </a:xfrm>
          <a:prstGeom prst="roundRect">
            <a:avLst>
              <a:gd name="adj" fmla="val 2199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2260" y="2286000"/>
            <a:ext cx="530352" cy="530352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6" name="Text 4"/>
          <p:cNvSpPr/>
          <p:nvPr/>
        </p:nvSpPr>
        <p:spPr>
          <a:xfrm>
            <a:off x="1622260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互打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037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各專案組每月隨機撥打電話給其他專案組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5400000">
            <a:off x="3203372" y="3246120"/>
            <a:ext cx="173736" cy="219456"/>
          </a:xfrm>
          <a:prstGeom prst="triangle">
            <a:avLst/>
          </a:prstGeom>
          <a:solidFill>
            <a:srgbClr val="AEB4E4"/>
          </a:solidFill>
          <a:ln/>
        </p:spPr>
      </p:sp>
      <p:sp>
        <p:nvSpPr>
          <p:cNvPr id="10" name="Shape 8"/>
          <p:cNvSpPr/>
          <p:nvPr/>
        </p:nvSpPr>
        <p:spPr>
          <a:xfrm>
            <a:off x="3445688" y="2011680"/>
            <a:ext cx="2494712" cy="2743200"/>
          </a:xfrm>
          <a:prstGeom prst="roundRect">
            <a:avLst>
              <a:gd name="adj" fmla="val 2199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7868" y="2286000"/>
            <a:ext cx="530352" cy="530352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2" name="Text 10"/>
          <p:cNvSpPr/>
          <p:nvPr/>
        </p:nvSpPr>
        <p:spPr>
          <a:xfrm>
            <a:off x="4427868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28568" y="2971800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檢核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74288" y="3520440"/>
            <a:ext cx="2037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以腳本上的常見 FAQ，檢驗接聽同仁是否合乎禮儀、使用標準起手台詞、答案正確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08980" y="3246120"/>
            <a:ext cx="173736" cy="219456"/>
          </a:xfrm>
          <a:prstGeom prst="triangle">
            <a:avLst/>
          </a:prstGeom>
          <a:solidFill>
            <a:srgbClr val="AEB4E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1296" y="2011680"/>
            <a:ext cx="2494712" cy="2743200"/>
          </a:xfrm>
          <a:prstGeom prst="roundRect">
            <a:avLst>
              <a:gd name="adj" fmla="val 2199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33476" y="2286000"/>
            <a:ext cx="530352" cy="530352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8" name="Text 16"/>
          <p:cNvSpPr/>
          <p:nvPr/>
        </p:nvSpPr>
        <p:spPr>
          <a:xfrm>
            <a:off x="7233476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34176" y="2971800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79896" y="3520440"/>
            <a:ext cx="2037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各組寫抽查成果與分數給主管，主管彙整報表與未達滿分的經緯報告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rot="5400000">
            <a:off x="8814587" y="3246120"/>
            <a:ext cx="173736" cy="219456"/>
          </a:xfrm>
          <a:prstGeom prst="triangle">
            <a:avLst/>
          </a:prstGeom>
          <a:solidFill>
            <a:srgbClr val="AEB4E4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6903" y="2011680"/>
            <a:ext cx="2494712" cy="2743200"/>
          </a:xfrm>
          <a:prstGeom prst="roundRect">
            <a:avLst>
              <a:gd name="adj" fmla="val 2199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39083" y="2286000"/>
            <a:ext cx="530352" cy="530352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9083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9783" y="2971800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發布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285503" y="3520440"/>
            <a:ext cx="2037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分數向下發給各專案組、向上呈報高級主管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這整套流程每個月都要跑一次。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舊流程的痛點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93338" cy="3703320"/>
          </a:xfrm>
          <a:prstGeom prst="roundRect">
            <a:avLst>
              <a:gd name="adj" fmla="val 1617"/>
            </a:avLst>
          </a:prstGeom>
          <a:solidFill>
            <a:srgbClr val="F2E2DA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五份以上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的 Excel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同一件事的資料散在五份以上的表單裡，一份工作要開一堆檔案。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2844698" cy="1280160"/>
          </a:xfrm>
          <a:prstGeom prst="roundRect">
            <a:avLst>
              <a:gd name="adj" fmla="val 5714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51560" y="4114800"/>
            <a:ext cx="2570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【待放圖】舊流程截圖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legacy-excel-01.png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99178" y="1920240"/>
            <a:ext cx="3393338" cy="3703320"/>
          </a:xfrm>
          <a:prstGeom prst="roundRect">
            <a:avLst>
              <a:gd name="adj" fmla="val 1617"/>
            </a:avLst>
          </a:prstGeom>
          <a:solidFill>
            <a:srgbClr val="F2E2DA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7778" y="21031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每個月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627778" y="25420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都要重來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73498" y="3063240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每到月底就要重開報表、重設一次 Google 表單給人填。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498" y="4114800"/>
            <a:ext cx="2844698" cy="1280160"/>
          </a:xfrm>
          <a:prstGeom prst="roundRect">
            <a:avLst>
              <a:gd name="adj" fmla="val 5714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10658" y="4114800"/>
            <a:ext cx="2570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【待放圖】舊流程截圖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legacy-form-01.png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8277" y="1920240"/>
            <a:ext cx="3393338" cy="3703320"/>
          </a:xfrm>
          <a:prstGeom prst="roundRect">
            <a:avLst>
              <a:gd name="adj" fmla="val 1617"/>
            </a:avLst>
          </a:prstGeom>
          <a:solidFill>
            <a:srgbClr val="F2E2DA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86877" y="21031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手動算分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86877" y="254203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反覆貼上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432597" y="3063240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收回來的資料要手動計算分數，再一直複製貼上到給不同對象的 Excel。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32597" y="4114800"/>
            <a:ext cx="2844698" cy="1280160"/>
          </a:xfrm>
          <a:prstGeom prst="roundRect">
            <a:avLst>
              <a:gd name="adj" fmla="val 5714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569757" y="4114800"/>
            <a:ext cx="25703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【待放圖】舊流程截圖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legacy-excel-02.png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最花時間的不是判斷，是搬資料。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我的解法：單一後台 × 三層權限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760720" cy="1024128"/>
          </a:xfrm>
          <a:prstGeom prst="roundRect">
            <a:avLst>
              <a:gd name="adj" fmla="val 5357"/>
            </a:avLst>
          </a:prstGeom>
          <a:solidFill>
            <a:srgbClr val="ECEEF8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40280"/>
            <a:ext cx="475488" cy="475488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9397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把散在五份以上 Excel 的流程，整併進同一個網站、同一個後台。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5760720" cy="1024128"/>
          </a:xfrm>
          <a:prstGeom prst="roundRect">
            <a:avLst>
              <a:gd name="adj" fmla="val 5357"/>
            </a:avLst>
          </a:prstGeom>
          <a:solidFill>
            <a:srgbClr val="ECEEF8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410712"/>
            <a:ext cx="475488" cy="475488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644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不搬資料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6393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資料不需要再搬移，只針對不同對象切換顯示內容。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06824"/>
            <a:ext cx="5760720" cy="1024128"/>
          </a:xfrm>
          <a:prstGeom prst="roundRect">
            <a:avLst>
              <a:gd name="adj" fmla="val 5357"/>
            </a:avLst>
          </a:prstGeom>
          <a:solidFill>
            <a:srgbClr val="F7F1CE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4581144"/>
            <a:ext cx="475488" cy="475488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581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4348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設定一次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097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設定一次就長期適用，不必每月重做，直到當事人轉職或離職。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開發方式：全程使用 replit 等 AI 工具開發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12280" y="1965960"/>
            <a:ext cx="4739335" cy="4114800"/>
          </a:xfrm>
          <a:prstGeom prst="roundRect">
            <a:avLst>
              <a:gd name="adj" fmla="val 1778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949440" y="1965960"/>
            <a:ext cx="44650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【待放圖】系統首頁／登入頁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mystery-01-login.png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權限設計：三種角色，三種畫面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依涉入神秘客電訪的人員層級分為三種權限等級，不同帳號開放不同功能。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1153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4785055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大致角色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第一層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執行電訪與被檢核的專案組同仁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執行與提交相關功能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第二層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管理神秘客電訪的管理者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出題、派發、評分、報表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第三層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需要看結果的高級主管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彙總報表與結果檢視</a:t>
                      </a:r>
                      <a:endParaRPr lang="en-US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956048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777240" y="495604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【待放圖】權限分層畫面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mystery-02-permission.png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6480" y="4956048"/>
            <a:ext cx="5425135" cy="1143000"/>
          </a:xfrm>
          <a:prstGeom prst="roundRect">
            <a:avLst>
              <a:gd name="adj" fmla="val 6400"/>
            </a:avLst>
          </a:prstGeom>
          <a:solidFill>
            <a:srgbClr val="F7F1CE"/>
          </a:solidFill>
          <a:ln/>
        </p:spPr>
        <p:txBody>
          <a:bodyPr wrap="square" lIns="127000" tIns="203200" rIns="203200" bIns="1270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先有權限分層，才有辦法把資料集中——過去要拆成好幾份 Excel，本來就是為了讓不同的人看到不同的東西。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八大功能 ①–④：出題 → 派發 → 評分 → 報表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08176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設計新問題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建立檢核用的題目。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77824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14984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【待放圖】設計新問題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mystery-03-question.png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36544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6000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6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4640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抽選並分配專案組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4288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取代每月重設一次 Google 表單的工作。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74288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811448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【待放圖】抽選並分配專案組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mystery-04-assign.png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2464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524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01104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分數評鑑介面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0752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取代手動計算與貼上分數。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70752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607912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【待放圖】分數評鑑介面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mystery-05-scoring.png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9471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48927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27" name="Text 25"/>
          <p:cNvSpPr/>
          <p:nvPr/>
        </p:nvSpPr>
        <p:spPr>
          <a:xfrm>
            <a:off x="9248927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97567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報表匯出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67215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各對象所需的報表直接產生，不用再複製貼上。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67215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404375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【待放圖】報表匯出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mystery-06-report.png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62356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7F1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這四項合起來，解決了「每個月都要重來一次」這個痛點。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八大功能 ⑤–⑧：檢討 → 申覆 → 帳號管理 → 通知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08176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提交檢討報告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未達滿分的經緯報告直接在系統內提交。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77824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14984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【待放圖】提交檢討報告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mystery-07-review.png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36544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6000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6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4640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提交申覆系統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4288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對評分結果有疑義可線上申覆，不必私下爭執。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74288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811448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【待放圖】提交申覆系統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mystery-08-appeal.png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2464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524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01104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帳號與身分組管理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0752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含移轉機制。人事異動時管理者自己就能處理，不必找工程師。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70752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607912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【待放圖】帳號與身分組管理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mystery-09-account.png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9471" y="1920240"/>
            <a:ext cx="2522144" cy="3566160"/>
          </a:xfrm>
          <a:prstGeom prst="roundRect">
            <a:avLst>
              <a:gd name="adj" fmla="val 2175"/>
            </a:avLst>
          </a:prstGeom>
          <a:solidFill>
            <a:srgbClr val="ECEEF8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48927" y="2103120"/>
            <a:ext cx="457200" cy="45720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27" name="Text 25"/>
          <p:cNvSpPr/>
          <p:nvPr/>
        </p:nvSpPr>
        <p:spPr>
          <a:xfrm>
            <a:off x="9248927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97567" y="2066544"/>
            <a:ext cx="156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通知系統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67215" y="2697480"/>
            <a:ext cx="2046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分全服公告與個人通知，該知道的人在系統裡就會知道。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67215" y="3657600"/>
            <a:ext cx="2046656" cy="1600200"/>
          </a:xfrm>
          <a:prstGeom prst="roundRect">
            <a:avLst>
              <a:gd name="adj" fmla="val 4571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404375" y="3657600"/>
            <a:ext cx="17723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【待放圖】通知系統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mystery-10-notify.png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562356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7F1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申覆功能不在任何需求文件上——是理解流程之後才發現需要的；⑦⑧ 則是讓系統長期活下去的關鍵。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前後對比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27855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舊流程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神秘客系統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資料位置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分散在 5 份以上 Excel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集中在單一後台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每月作業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重開報表、重設 Google 表單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設定一次長期適用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分數計算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手動計算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系統評鑑介面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給不同對象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複製貼上到不同 Excel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依權限切換顯示內容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檢討與申覆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另外處理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系統內提交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人事異動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需重新整理表單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D5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帳號／身分組移轉機制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150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改變的重點不是把工作做得更快，而是把「每個月都要重做一次」變成「設定一次就好」。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成效與現況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663440" cy="2423160"/>
          </a:xfrm>
          <a:prstGeom prst="roundRect">
            <a:avLst>
              <a:gd name="adj" fmla="val 2264"/>
            </a:avLst>
          </a:prstGeom>
          <a:solidFill>
            <a:srgbClr val="2B2D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 90%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D9F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推估節省的作業時間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＊本數字為個人推估，尚未經實測驗證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920240"/>
            <a:ext cx="5882335" cy="731520"/>
          </a:xfrm>
          <a:prstGeom prst="roundRect">
            <a:avLst>
              <a:gd name="adj" fmla="val 7500"/>
            </a:avLst>
          </a:prstGeom>
          <a:solidFill>
            <a:srgbClr val="6DCFA5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1920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狀態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78040" y="1920240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已實際上線，目前使用中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2761488"/>
            <a:ext cx="5882335" cy="731520"/>
          </a:xfrm>
          <a:prstGeom prst="roundRect">
            <a:avLst>
              <a:gd name="adj" fmla="val 7500"/>
            </a:avLst>
          </a:prstGeom>
          <a:solidFill>
            <a:srgbClr val="ECEE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27614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使用單位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78040" y="2761488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所有需執行神秘客訪問電話的專案組，以及神秘客電訪管理者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3602736"/>
            <a:ext cx="5882335" cy="731520"/>
          </a:xfrm>
          <a:prstGeom prst="roundRect">
            <a:avLst>
              <a:gd name="adj" fmla="val 7500"/>
            </a:avLst>
          </a:prstGeom>
          <a:solidFill>
            <a:srgbClr val="ECEEF8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360273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開發方式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78040" y="3602736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全程使用 replit 等 AI 工具開發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45262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【待補：上線日期、使用單位數、使用人數】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7F1CE"/>
          </a:solidFill>
          <a:ln/>
        </p:spPr>
        <p:txBody>
          <a:bodyPr wrap="square" lIns="127000" tIns="228600" rIns="228600" bIns="1270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推估依據：過去每月要開所有 Excel 報表、設一次新的 Google 表單、手動算分、再複製貼上給不同對象；現在全部在同一個後台完成，資料不用搬，也不需要每月重改。若主管認為需要，我可以實際量測作業時間，把真實數字補上。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 機器人：解決什麼問題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想法很抽象，但開發需要規格。從「我想做一個 X」到一份能動工的 PRD，中間那段最卡。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50028" cy="1600200"/>
          </a:xfrm>
          <a:prstGeom prst="roundRect">
            <a:avLst>
              <a:gd name="adj" fmla="val 3429"/>
            </a:avLst>
          </a:prstGeom>
          <a:solidFill>
            <a:srgbClr val="F2E2D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42032"/>
            <a:ext cx="4701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過去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44368"/>
            <a:ext cx="47013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靠有經驗的人一次次開會追問，或是自己對著空白文件硬寫——品質看人，也很花時間。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1588" y="2377440"/>
            <a:ext cx="5250028" cy="1600200"/>
          </a:xfrm>
          <a:prstGeom prst="roundRect">
            <a:avLst>
              <a:gd name="adj" fmla="val 3429"/>
            </a:avLst>
          </a:prstGeom>
          <a:solidFill>
            <a:srgbClr val="6DCFA5"/>
          </a:solidFill>
          <a:ln/>
        </p:spPr>
      </p:sp>
      <p:sp>
        <p:nvSpPr>
          <p:cNvPr id="9" name="Text 7"/>
          <p:cNvSpPr/>
          <p:nvPr/>
        </p:nvSpPr>
        <p:spPr>
          <a:xfrm>
            <a:off x="6575908" y="2542032"/>
            <a:ext cx="4701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5908" y="2944368"/>
            <a:ext cx="47013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一個會反問的機器人，把抽象的概念一路問到能寫成規格為止。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CEEF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一個抽象的概念或想法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526280" y="4818888"/>
            <a:ext cx="219456" cy="274320"/>
          </a:xfrm>
          <a:prstGeom prst="triangle">
            <a:avLst/>
          </a:prstGeom>
          <a:solidFill>
            <a:srgbClr val="AEB4E4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4251960"/>
            <a:ext cx="6568135" cy="1371600"/>
          </a:xfrm>
          <a:prstGeom prst="roundRect">
            <a:avLst>
              <a:gd name="adj" fmla="val 4000"/>
            </a:avLst>
          </a:prstGeom>
          <a:solidFill>
            <a:srgbClr val="D6D9F0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4407408"/>
            <a:ext cx="6019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輸出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4754880"/>
            <a:ext cx="6019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一份 PRD 初稿與技術文件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這件事跟神秘客系統其實是同一個主題：把「靠人」的流程，變成「靠系統」也做得到。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怎麼運作：用大量反問，把抽象逼成具體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760720" cy="1152144"/>
          </a:xfrm>
          <a:prstGeom prst="roundRect">
            <a:avLst>
              <a:gd name="adj" fmla="val 4762"/>
            </a:avLst>
          </a:prstGeom>
          <a:solidFill>
            <a:srgbClr val="ECEEF8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58568"/>
            <a:ext cx="475488" cy="475488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482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不等你講清楚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一般工具是你把需求寫好，它幫你排版；這個是反過來——你只要有個模糊的想法就可以開始。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5760720" cy="1152144"/>
          </a:xfrm>
          <a:prstGeom prst="roundRect">
            <a:avLst>
              <a:gd name="adj" fmla="val 4762"/>
            </a:avLst>
          </a:prstGeom>
          <a:solidFill>
            <a:srgbClr val="F7F1C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557016"/>
            <a:ext cx="475488" cy="475488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557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3467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大量反問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72160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反問 → 你補完 → 再反問，一路把沒想到的地方問出來。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17136"/>
            <a:ext cx="5760720" cy="1152144"/>
          </a:xfrm>
          <a:prstGeom prst="roundRect">
            <a:avLst>
              <a:gd name="adj" fmla="val 4762"/>
            </a:avLst>
          </a:prstGeom>
          <a:solidFill>
            <a:srgbClr val="ECEE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4855464"/>
            <a:ext cx="475488" cy="475488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55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645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收斂成文件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502005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問到夠了，直接產出 PRD 初稿與技術文件。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為什麼有效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5852160"/>
            <a:ext cx="9357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使用者常常不是不願意寫，是不知道該寫什麼——回答問題永遠比面對空白頁容易。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1920240"/>
            <a:ext cx="4739335" cy="3803904"/>
          </a:xfrm>
          <a:prstGeom prst="roundRect">
            <a:avLst>
              <a:gd name="adj" fmla="val 1923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949440" y="1920240"/>
            <a:ext cx="4465015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【待放圖】反問過程的對話畫面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prd-02-dialogue.png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 機器人：現況與測試回饋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663440" cy="2286000"/>
          </a:xfrm>
          <a:prstGeom prst="roundRect">
            <a:avLst>
              <a:gd name="adj" fmla="val 2400"/>
            </a:avLst>
          </a:prstGeom>
          <a:solidFill>
            <a:srgbClr val="2B2D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 10 位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D9F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其他部門的同事共同測試中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＊尚未全面對公司內其他人開放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920240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6DCFA5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192024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狀態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69480" y="1920240"/>
            <a:ext cx="4053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已完成開發，仍在持續更新版本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2724912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ECEE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272491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測試範圍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2724912"/>
            <a:ext cx="4053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公司內部跨部門同事共同試用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3529584"/>
            <a:ext cx="5882335" cy="694944"/>
          </a:xfrm>
          <a:prstGeom prst="roundRect">
            <a:avLst>
              <a:gd name="adj" fmla="val 7895"/>
            </a:avLst>
          </a:prstGeom>
          <a:solidFill>
            <a:srgbClr val="ECEEF8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352958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我的做法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69480" y="3529584"/>
            <a:ext cx="40535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收到 bug 或改善建議就持續修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4370832"/>
            <a:ext cx="5882335" cy="1234440"/>
          </a:xfrm>
          <a:prstGeom prst="roundRect">
            <a:avLst>
              <a:gd name="adj" fmla="val 5926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806440" y="4370832"/>
            <a:ext cx="5608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【待放圖】產出的 PRD 初稿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prd-03-output.png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70832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7F1CE"/>
          </a:solidFill>
          <a:ln/>
        </p:spPr>
        <p:txBody>
          <a:bodyPr wrap="square" lIns="127000" tIns="177800" rIns="177800" bIns="1270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這是我第一次做「跨部門一起測」的工具。收回饋比寫功能難——十個人給的建議常常互相衝突，要判斷哪些是真的需求、哪些只是個人習慣。這件事還沒結束，我還在持續修。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四、工作成果｜對內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其他對內支援與小工具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除了上面兩套系統，這段期間也處理了一些零星的支援與小工具需求。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93338" cy="1554480"/>
          </a:xfrm>
          <a:prstGeom prst="roundRect">
            <a:avLst>
              <a:gd name="adj" fmla="val 3529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【待補：支援項目 1】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做了什麼／給誰用／目前狀態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99178" y="2331720"/>
            <a:ext cx="3393338" cy="1554480"/>
          </a:xfrm>
          <a:prstGeom prst="roundRect">
            <a:avLst>
              <a:gd name="adj" fmla="val 3529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82058" y="233172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【待補：支援項目 2】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做了什麼／給誰用／目前狀態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8277" y="2331720"/>
            <a:ext cx="3393338" cy="1554480"/>
          </a:xfrm>
          <a:prstGeom prst="roundRect">
            <a:avLst>
              <a:gd name="adj" fmla="val 3529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341157" y="233172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【待補：支援項目 3】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做了什麼／給誰用／目前狀態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3393338" cy="1554480"/>
          </a:xfrm>
          <a:prstGeom prst="roundRect">
            <a:avLst>
              <a:gd name="adj" fmla="val 3529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411480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【待補：支援項目 4】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做了什麼／給誰用／目前狀態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9178" y="4114800"/>
            <a:ext cx="3393338" cy="1554480"/>
          </a:xfrm>
          <a:prstGeom prst="roundRect">
            <a:avLst>
              <a:gd name="adj" fmla="val 3529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582058" y="411480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【待補：支援項目 5】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做了什麼／給誰用／目前狀態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8277" y="4114800"/>
            <a:ext cx="3393338" cy="1554480"/>
          </a:xfrm>
          <a:prstGeom prst="roundRect">
            <a:avLst>
              <a:gd name="adj" fmla="val 3529"/>
            </a:avLst>
          </a:prstGeom>
          <a:solidFill>
            <a:srgbClr val="E4E6F0"/>
          </a:solidFill>
          <a:ln w="12700">
            <a:solidFill>
              <a:srgbClr val="AEB4E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341157" y="411480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【待補：支援項目 6】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做了什麼／給誰用／目前狀態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5F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＊本頁待填；若無合適內容可整頁刪除。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四、工作成果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四個月工時分佈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600200"/>
          <a:ext cx="5029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1783080"/>
            <a:ext cx="5745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＊以上為推估值　【待補：實際百分比】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06440" y="2331720"/>
            <a:ext cx="237744" cy="237744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7" name="Text 4"/>
          <p:cNvSpPr/>
          <p:nvPr/>
        </p:nvSpPr>
        <p:spPr>
          <a:xfrm>
            <a:off x="6190488" y="2240280"/>
            <a:ext cx="5361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對外課程教材撰寫　</a:t>
            </a:r>
            <a:pPr indent="0" marL="0">
              <a:buNone/>
            </a:pPr>
            <a:r>
              <a:rPr lang="en-US" sz="13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38%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0488" y="2587752"/>
            <a:ext cx="5361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寫教材要把主題徹底弄懂，花的時間比上課本身多。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3063240"/>
            <a:ext cx="237744" cy="237744"/>
          </a:xfrm>
          <a:prstGeom prst="ellipse">
            <a:avLst/>
          </a:prstGeom>
          <a:solidFill>
            <a:srgbClr val="17A0A0"/>
          </a:solidFill>
          <a:ln/>
        </p:spPr>
      </p:sp>
      <p:sp>
        <p:nvSpPr>
          <p:cNvPr id="10" name="Text 7"/>
          <p:cNvSpPr/>
          <p:nvPr/>
        </p:nvSpPr>
        <p:spPr>
          <a:xfrm>
            <a:off x="6190488" y="2971800"/>
            <a:ext cx="5361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對外課程授課與備課　</a:t>
            </a:r>
            <a:pPr indent="0" marL="0">
              <a:buNone/>
            </a:pPr>
            <a:r>
              <a:rPr lang="en-US" sz="13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90488" y="3319272"/>
            <a:ext cx="5361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含備課、講義調整與試教後的回饋整理。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3794760"/>
            <a:ext cx="237744" cy="237744"/>
          </a:xfrm>
          <a:prstGeom prst="ellipse">
            <a:avLst/>
          </a:prstGeom>
          <a:solidFill>
            <a:srgbClr val="6DCFA5"/>
          </a:solidFill>
          <a:ln/>
        </p:spPr>
      </p:sp>
      <p:sp>
        <p:nvSpPr>
          <p:cNvPr id="13" name="Text 10"/>
          <p:cNvSpPr/>
          <p:nvPr/>
        </p:nvSpPr>
        <p:spPr>
          <a:xfrm>
            <a:off x="6190488" y="3703320"/>
            <a:ext cx="5361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神秘客系統開發　</a:t>
            </a:r>
            <a:pPr indent="0" marL="0">
              <a:buNone/>
            </a:pPr>
            <a:r>
              <a:rPr lang="en-US" sz="13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90488" y="4050792"/>
            <a:ext cx="5361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從需求訪談、開發到上線。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06440" y="4526280"/>
            <a:ext cx="237744" cy="237744"/>
          </a:xfrm>
          <a:prstGeom prst="ellipse">
            <a:avLst/>
          </a:prstGeom>
          <a:solidFill>
            <a:srgbClr val="35697F"/>
          </a:solidFill>
          <a:ln/>
        </p:spPr>
      </p:sp>
      <p:sp>
        <p:nvSpPr>
          <p:cNvPr id="16" name="Text 13"/>
          <p:cNvSpPr/>
          <p:nvPr/>
        </p:nvSpPr>
        <p:spPr>
          <a:xfrm>
            <a:off x="6190488" y="4434840"/>
            <a:ext cx="5361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PRD 機器人開發　</a:t>
            </a:r>
            <a:pPr indent="0" marL="0">
              <a:buNone/>
            </a:pPr>
            <a:r>
              <a:rPr lang="en-US" sz="13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90488" y="4782312"/>
            <a:ext cx="5361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從開發到跨部門測試與持續修正。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06440" y="5257800"/>
            <a:ext cx="237744" cy="237744"/>
          </a:xfrm>
          <a:prstGeom prst="ellipse">
            <a:avLst/>
          </a:prstGeom>
          <a:solidFill>
            <a:srgbClr val="AEB4E4"/>
          </a:solidFill>
          <a:ln/>
        </p:spPr>
      </p:sp>
      <p:sp>
        <p:nvSpPr>
          <p:cNvPr id="19" name="Text 16"/>
          <p:cNvSpPr/>
          <p:nvPr/>
        </p:nvSpPr>
        <p:spPr>
          <a:xfrm>
            <a:off x="6190488" y="5166360"/>
            <a:ext cx="53611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其他（會議、行政、學習）　</a:t>
            </a:r>
            <a:pPr indent="0" marL="0">
              <a:buNone/>
            </a:pPr>
            <a:r>
              <a:rPr lang="en-US" sz="13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90488" y="5513832"/>
            <a:ext cx="5361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部門會議、行政作業與自主學習。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五、學習心得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學習心得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93338" cy="3246120"/>
          </a:xfrm>
          <a:prstGeom prst="roundRect">
            <a:avLst>
              <a:gd name="adj" fmla="val 1690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4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收穫最多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2881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從使用者身上學需求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32688" y="3657600"/>
            <a:ext cx="28081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難的從來不是技術，是搞懂對方到底要什麼。到後來我乾脆把這件事做成工具——PRD 機器人就是在幫別人做需求釐清。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1920240"/>
            <a:ext cx="3393338" cy="3246120"/>
          </a:xfrm>
          <a:prstGeom prst="roundRect">
            <a:avLst>
              <a:gd name="adj" fmla="val 1690"/>
            </a:avLst>
          </a:prstGeom>
          <a:solidFill>
            <a:srgbClr val="6DCFA5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3498" y="2148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4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最有成就感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55210" y="2651760"/>
            <a:ext cx="2881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東西真的被用起來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691786" y="3657600"/>
            <a:ext cx="28081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神秘客系統每個月都有人真的登入在用，PRD 機器人有十個跨部門同事在測。做出能動的東西不難，做出有人用的東西完全不一樣。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1920240"/>
            <a:ext cx="3393338" cy="3246120"/>
          </a:xfrm>
          <a:prstGeom prst="roundRect">
            <a:avLst>
              <a:gd name="adj" fmla="val 1690"/>
            </a:avLst>
          </a:prstGeom>
          <a:solidFill>
            <a:srgbClr val="F2E2DA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2597" y="214884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46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最挑戰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4309" y="2651760"/>
            <a:ext cx="28812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判斷什麼不該做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450885" y="3657600"/>
            <a:ext cx="28081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AI 開發很快，快到想到什麼功能都做得出來，反而要克制——這是使用者需要的，還是我想做的？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五、學習心得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D9F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三個月最重要的一課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從「做出功能」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到「交付一個會被用的系統」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2E326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4434840"/>
            <a:ext cx="29117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9F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功能做完 ≠ 交付完成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3938" y="443484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2E3266"/>
          </a:solidFill>
          <a:ln/>
        </p:spPr>
      </p:sp>
      <p:sp>
        <p:nvSpPr>
          <p:cNvPr id="8" name="Text 6"/>
          <p:cNvSpPr/>
          <p:nvPr/>
        </p:nvSpPr>
        <p:spPr>
          <a:xfrm>
            <a:off x="4639970" y="4434840"/>
            <a:ext cx="29117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9F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要考慮：誰在用、人事異動了怎麼辦、被評分的人不服氣怎麼辦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27797" y="443484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2E3266"/>
          </a:solidFill>
          <a:ln/>
        </p:spPr>
      </p:sp>
      <p:sp>
        <p:nvSpPr>
          <p:cNvPr id="10" name="Text 8"/>
          <p:cNvSpPr/>
          <p:nvPr/>
        </p:nvSpPr>
        <p:spPr>
          <a:xfrm>
            <a:off x="8383829" y="4434840"/>
            <a:ext cx="29117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9F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這些都不是技術問題，但不解決，系統就不會有人用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0A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六、職涯規劃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職涯規劃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93338" cy="3931920"/>
          </a:xfrm>
          <a:prstGeom prst="roundRect">
            <a:avLst>
              <a:gd name="adj" fmla="val 1617"/>
            </a:avLst>
          </a:prstGeom>
          <a:solidFill>
            <a:srgbClr val="D6D9F0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短期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半年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3154680"/>
            <a:ext cx="280812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主動探索 AI 新工具與新潮流，維持技術敏感度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把兩套工具從「能用」做到「穩定」：權限、資料、錯誤處理與維運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對外課程正式開賣後擔任主力講師，並推動教材定稿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開始把兩個專案的經驗，沉澱成可複製的開發與導入方法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9178" y="1965960"/>
            <a:ext cx="3393338" cy="3931920"/>
          </a:xfrm>
          <a:prstGeom prst="roundRect">
            <a:avLst>
              <a:gd name="adj" fmla="val 1617"/>
            </a:avLst>
          </a:prstGeom>
          <a:solidFill>
            <a:srgbClr val="F7F1CE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3498" y="2148840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73498" y="26974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1786" y="3154680"/>
            <a:ext cx="280812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獨立負責一條完整產品線——從題目發想、需求訪談，到上線與維運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把可複製的方法真正用在第三、第四個專案上，驗證它站得住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1965960"/>
            <a:ext cx="3393338" cy="3931920"/>
          </a:xfrm>
          <a:prstGeom prst="roundRect">
            <a:avLst>
              <a:gd name="adj" fmla="val 1617"/>
            </a:avLst>
          </a:prstGeom>
          <a:solidFill>
            <a:srgbClr val="6DCFA5"/>
          </a:solidFill>
          <a:ln/>
          <a:effectLst>
            <a:outerShdw sx="100000" sy="100000" kx="0" ky="0" algn="bl" rotWithShape="0" blurRad="101600" dist="25400" dir="5400000">
              <a:srgbClr val="9AA0BF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2597" y="2148840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32597" y="26974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3～5 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0885" y="3154680"/>
            <a:ext cx="280812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成為能同時掌握「對外課程產品」與「對內系統落地」的產品負責人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讓 AI 導入在公司內成為標準做法，而不是每次都從零開始的個案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2286000" cy="329184"/>
          </a:xfrm>
          <a:prstGeom prst="roundRect">
            <a:avLst>
              <a:gd name="adj" fmla="val 44444"/>
            </a:avLst>
          </a:prstGeom>
          <a:solidFill>
            <a:srgbClr val="D6D9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七、對公司的建議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對公司的建議｜新人入職與知識傳承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207008"/>
          </a:xfrm>
          <a:prstGeom prst="roundRect">
            <a:avLst>
              <a:gd name="adj" fmla="val 4545"/>
            </a:avLst>
          </a:prstGeom>
          <a:solidFill>
            <a:srgbClr val="D6D9F0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240280"/>
            <a:ext cx="502920" cy="50292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新人報告的目標，建議由主管與新人共同確認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4505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目前的十二週目標表是所有新人共用版本，與實際派工內容常有落差。建議到職第一週由主管與新人一起確認個人化目標，中間再對一次。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911535" cy="1207008"/>
          </a:xfrm>
          <a:prstGeom prst="roundRect">
            <a:avLst>
              <a:gd name="adj" fmla="val 4545"/>
            </a:avLst>
          </a:prstGeom>
          <a:solidFill>
            <a:srgbClr val="F7F1CE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3611880"/>
            <a:ext cx="502920" cy="50292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401568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把各部門的重複性作業做成一份「待數位化清單」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00200" y="38221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神秘客這套流程原本不在任何待辦清單上，是碰巧發現的。若各部門能列出自己每月重複的作業，創新研發部就能有系統地評估導入順序。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911535" cy="1207008"/>
          </a:xfrm>
          <a:prstGeom prst="roundRect">
            <a:avLst>
              <a:gd name="adj" fmla="val 4545"/>
            </a:avLst>
          </a:prstGeom>
          <a:solidFill>
            <a:srgbClr val="ECEE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4983480"/>
            <a:ext cx="502920" cy="502920"/>
          </a:xfrm>
          <a:prstGeom prst="ellipse">
            <a:avLst/>
          </a:prstGeom>
          <a:solidFill>
            <a:srgbClr val="2B2D5C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4773168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內部工具做完後，建立交接與維護機制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51937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D5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系統上線只是開始。建議每套內部工具都要有指定的維護窗口與使用說明，避免變成只有開發者才懂的黑箱。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1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謝謝您的聆聽！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B4E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產品工程師－黃家朗　｜　創新研發部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85855" y="62910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0A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新人報告</dc:title>
  <dc:subject>PptxGenJS Presentation</dc:subject>
  <dc:creator>黃家朗</dc:creator>
  <cp:lastModifiedBy>黃家朗</cp:lastModifiedBy>
  <cp:revision>1</cp:revision>
  <dcterms:created xsi:type="dcterms:W3CDTF">2026-08-18T18:24:17Z</dcterms:created>
  <dcterms:modified xsi:type="dcterms:W3CDTF">2026-08-18T18:24:17Z</dcterms:modified>
</cp:coreProperties>
</file>